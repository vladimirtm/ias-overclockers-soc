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356" r:id="rId2"/>
    <p:sldId id="365" r:id="rId3"/>
    <p:sldId id="357" r:id="rId4"/>
    <p:sldId id="358" r:id="rId5"/>
    <p:sldId id="359" r:id="rId6"/>
    <p:sldId id="360" r:id="rId7"/>
    <p:sldId id="361" r:id="rId8"/>
  </p:sldIdLst>
  <p:sldSz cx="12192000" cy="6858000"/>
  <p:notesSz cx="6858000" cy="9144000"/>
  <p:defaultTextStyle>
    <a:defPPr>
      <a:defRPr lang="en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6"/>
    <p:restoredTop sz="77497"/>
  </p:normalViewPr>
  <p:slideViewPr>
    <p:cSldViewPr snapToGrid="0">
      <p:cViewPr varScale="1">
        <p:scale>
          <a:sx n="87" d="100"/>
          <a:sy n="87" d="100"/>
        </p:scale>
        <p:origin x="20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6D6148-EE37-5445-8717-1F551A8319A7}" type="datetimeFigureOut">
              <a:rPr lang="en-RO" smtClean="0"/>
              <a:t>22.03.2026</a:t>
            </a:fld>
            <a:endParaRPr lang="en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FC4ED-A1DA-204F-AA18-FCE9BDACA852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16149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sz="1200" b="1" dirty="0"/>
              <a:t>[PREZENTATOR 1 — ~20 sec]</a:t>
            </a:r>
          </a:p>
          <a:p>
            <a:endParaRPr lang="ro-RO" sz="1200" dirty="0"/>
          </a:p>
          <a:p>
            <a:r>
              <a:rPr lang="ro-RO" sz="1200" dirty="0"/>
              <a:t>"Bună ziua! Suntem echipa IAS-Overclockers și astăzi vă prezentăm proiectul nostru de la Ingineria Calculatoarelor: un procesor complet pe 16 biți, implementat de la zero în Verilog."</a:t>
            </a:r>
          </a:p>
          <a:p>
            <a:endParaRPr lang="ro-RO" sz="1200" dirty="0"/>
          </a:p>
          <a:p>
            <a:r>
              <a:rPr lang="ro-RO" sz="1200" dirty="0"/>
              <a:t>→ Prezentați-vă rapid — numele vostru și rolul în proiect.</a:t>
            </a:r>
          </a:p>
          <a:p>
            <a:r>
              <a:rPr lang="ro-RO" sz="1200" dirty="0"/>
              <a:t>→ Nu intrați în detalii tehnice — slide-ul următor explică imediat ce e special la proiect.</a:t>
            </a:r>
          </a:p>
          <a:p>
            <a:r>
              <a:rPr lang="ro-RO" sz="1200" dirty="0"/>
              <a:t>→ Tonul: entuziast, direct, la obiect. Maxim 20 de secunde.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sz="1200" b="1" dirty="0"/>
              <a:t>[PREZENTATOR 2 — ~50 sec]</a:t>
            </a:r>
          </a:p>
          <a:p>
            <a:endParaRPr lang="ro-RO" sz="1200" dirty="0"/>
          </a:p>
          <a:p>
            <a:r>
              <a:rPr lang="ro-RO" sz="1200" dirty="0"/>
              <a:t>"Înainte să intrăm în arhitectură — de ce merită atenție proiectul ăsta?"</a:t>
            </a:r>
          </a:p>
          <a:p>
            <a:endParaRPr lang="ro-RO" sz="1200" dirty="0"/>
          </a:p>
          <a:p>
            <a:r>
              <a:rPr lang="ro-RO" sz="1200" dirty="0"/>
              <a:t>Argumentul 1 — nu e un exercițiu teoretic:</a:t>
            </a:r>
          </a:p>
          <a:p>
            <a:r>
              <a:rPr lang="ro-RO" sz="1200" dirty="0"/>
              <a:t>→ La final poți scrie cod assembly, îl compilezi cu Python și rulezi pe procesorul tău Verilog.</a:t>
            </a:r>
          </a:p>
          <a:p>
            <a:r>
              <a:rPr lang="ro-RO" sz="1200" dirty="0"/>
              <a:t>→ FSM din curs → cu.v cu 98 stări. ALU din laborator → alu.v pe 16 biți. Întreruperi din teorie → interrupt_controller.v funcțional.</a:t>
            </a:r>
          </a:p>
          <a:p>
            <a:r>
              <a:rPr lang="ro-RO" sz="1200" dirty="0"/>
              <a:t>→ Fiecare concept are o implementare concretă pe care o poți inspecta linie cu linie.</a:t>
            </a:r>
          </a:p>
          <a:p>
            <a:endParaRPr lang="ro-RO" sz="1200" dirty="0"/>
          </a:p>
          <a:p>
            <a:r>
              <a:rPr lang="ro-RO" sz="1200" dirty="0"/>
              <a:t>Argumentul 2 — hardware specializat bate software general, demonstrat cu cifre:</a:t>
            </a:r>
          </a:p>
          <a:p>
            <a:r>
              <a:rPr lang="ro-RO" sz="1200" dirty="0"/>
              <a:t>→ O rundă SHA-256 în software necesită 200+ instrucțiuni secvențiale.</a:t>
            </a:r>
          </a:p>
          <a:p>
            <a:r>
              <a:rPr lang="ro-RO" sz="1200" dirty="0"/>
              <a:t>→ Instrucțiunea MINE face același lucru în 1 instrucțiune, cu nucleul hardware lucrând în paralel.</a:t>
            </a:r>
          </a:p>
          <a:p>
            <a:r>
              <a:rPr lang="ro-RO" sz="1200" dirty="0"/>
              <a:t>→ Același principiu stă la baza GPU, NPU și DMA din orice procesor modern.</a:t>
            </a:r>
          </a:p>
          <a:p>
            <a:endParaRPr lang="ro-RO" sz="1200" dirty="0"/>
          </a:p>
          <a:p>
            <a:r>
              <a:rPr lang="ro-RO" sz="1200" dirty="0"/>
              <a:t>Argumentul 3 — validat riguros:</a:t>
            </a:r>
          </a:p>
          <a:p>
            <a:r>
              <a:rPr lang="ro-RO" sz="1200" dirty="0"/>
              <a:t>→ 23 testbench-uri, 480+ cazuri de test. Nu am presupus că merge — am verificat fiecare modul independent.</a:t>
            </a:r>
          </a:p>
          <a:p>
            <a:endParaRPr lang="ro-RO" sz="1200" dirty="0"/>
          </a:p>
          <a:p>
            <a:r>
              <a:rPr lang="ro-RO" sz="1200" dirty="0"/>
              <a:t>→ Predați cuvântul prezentatorului 1 pentru arhitectură.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sz="1200" b="1" dirty="0"/>
              <a:t>[PREZENTATOR 2 — ~50 sec]</a:t>
            </a:r>
          </a:p>
          <a:p>
            <a:endParaRPr lang="ro-RO" sz="1200" dirty="0"/>
          </a:p>
          <a:p>
            <a:r>
              <a:rPr lang="ro-RO" sz="1200" dirty="0"/>
              <a:t>"Înainte să intrăm în arhitectură — de ce merită atenție proiectul ăsta?"</a:t>
            </a:r>
          </a:p>
          <a:p>
            <a:endParaRPr lang="ro-RO" sz="1200" dirty="0"/>
          </a:p>
          <a:p>
            <a:r>
              <a:rPr lang="ro-RO" sz="1200" dirty="0"/>
              <a:t>Argumentul 1 — nu e un exercițiu teoretic:</a:t>
            </a:r>
          </a:p>
          <a:p>
            <a:r>
              <a:rPr lang="ro-RO" sz="1200" dirty="0"/>
              <a:t>→ La final poți scrie cod assembly, îl compilezi cu Python și rulezi pe procesorul tău Verilog.</a:t>
            </a:r>
          </a:p>
          <a:p>
            <a:r>
              <a:rPr lang="ro-RO" sz="1200" dirty="0"/>
              <a:t>→ FSM din curs → cu.v cu 98 stări. ALU din laborator → alu.v pe 16 biți. Întreruperi din teorie → interrupt_controller.v funcțional.</a:t>
            </a:r>
          </a:p>
          <a:p>
            <a:r>
              <a:rPr lang="ro-RO" sz="1200" dirty="0"/>
              <a:t>→ Fiecare concept are o implementare concretă pe care o poți inspecta linie cu linie.</a:t>
            </a:r>
          </a:p>
          <a:p>
            <a:endParaRPr lang="ro-RO" sz="1200" dirty="0"/>
          </a:p>
          <a:p>
            <a:r>
              <a:rPr lang="ro-RO" sz="1200" dirty="0"/>
              <a:t>Argumentul 2 — hardware specializat bate software general, demonstrat cu cifre:</a:t>
            </a:r>
          </a:p>
          <a:p>
            <a:r>
              <a:rPr lang="ro-RO" sz="1200" dirty="0"/>
              <a:t>→ O rundă SHA-256 în software necesită 200+ instrucțiuni secvențiale.</a:t>
            </a:r>
          </a:p>
          <a:p>
            <a:r>
              <a:rPr lang="ro-RO" sz="1200" dirty="0"/>
              <a:t>→ Instrucțiunea MINE face același lucru în 1 instrucțiune, cu nucleul hardware lucrând în paralel.</a:t>
            </a:r>
          </a:p>
          <a:p>
            <a:r>
              <a:rPr lang="ro-RO" sz="1200" dirty="0"/>
              <a:t>→ Același principiu stă la baza GPU, NPU și DMA din orice procesor modern.</a:t>
            </a:r>
          </a:p>
          <a:p>
            <a:endParaRPr lang="ro-RO" sz="1200" dirty="0"/>
          </a:p>
          <a:p>
            <a:r>
              <a:rPr lang="ro-RO" sz="1200" dirty="0"/>
              <a:t>Argumentul 3 — validat riguros:</a:t>
            </a:r>
          </a:p>
          <a:p>
            <a:r>
              <a:rPr lang="ro-RO" sz="1200" dirty="0"/>
              <a:t>→ 23 testbench-uri, 480+ cazuri de test. Nu am presupus că merge — am verificat fiecare modul independent.</a:t>
            </a:r>
          </a:p>
          <a:p>
            <a:endParaRPr lang="ro-RO" sz="1200" dirty="0"/>
          </a:p>
          <a:p>
            <a:r>
              <a:rPr lang="ro-RO" sz="1200" dirty="0"/>
              <a:t>→ Predați cuvântul prezentatorului 1 pentru arhitectură.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sz="1200" b="1" dirty="0"/>
              <a:t>[PREZENTATOR 1 — ~50 sec]</a:t>
            </a:r>
          </a:p>
          <a:p>
            <a:endParaRPr lang="ro-RO" sz="1200" dirty="0"/>
          </a:p>
          <a:p>
            <a:r>
              <a:rPr lang="ro-RO" sz="1200" dirty="0"/>
              <a:t>"Iată cum arată proiectul pe dinăuntru — 6 module Verilog conectate în cpu.v."</a:t>
            </a:r>
          </a:p>
          <a:p>
            <a:endParaRPr lang="ro-RO" sz="1200" dirty="0"/>
          </a:p>
          <a:p>
            <a:r>
              <a:rPr lang="ro-RO" sz="1200" dirty="0"/>
              <a:t>Parcurgeți lista de sus în jos, scurt și clar:</a:t>
            </a:r>
          </a:p>
          <a:p>
            <a:r>
              <a:rPr lang="ro-RO" sz="1200" dirty="0"/>
              <a:t>→ cu.v — creierul sistemului: FSM cu 98 stări care generează toate semnalele de control pentru fetch → decode → execute.</a:t>
            </a:r>
          </a:p>
          <a:p>
            <a:r>
              <a:rPr lang="ro-RO" sz="1200" dirty="0"/>
              <a:t>→ alu.v — face toate calculele pe 16 biți și setează flagurile Z/N/C/O pe care CU le testează la ramificații.</a:t>
            </a:r>
          </a:p>
          <a:p>
            <a:r>
              <a:rPr lang="ro-RO" sz="1200" dirty="0"/>
              <a:t>→ memory.v — RAM-ul Von Neumann: program și date în același spațiu de 1024 cuvinte. Bitul 10 din AR separă RAM de I/O, fără să atingem memory.v.</a:t>
            </a:r>
          </a:p>
          <a:p>
            <a:r>
              <a:rPr lang="ro-RO" sz="1200" dirty="0"/>
              <a:t>→ io_controller.v — conectează tastatura, display-ul și timer-ul prin Memory-Mapped I/O. Îl detaliem pe slide-ul următor.</a:t>
            </a:r>
          </a:p>
          <a:p>
            <a:r>
              <a:rPr lang="ro-RO" sz="1200" dirty="0"/>
              <a:t>→ interrupt_controller.v — arbitrează 4 surse de întrerupere cu priority encoder și semnalează CU-ul prin intr_pending.</a:t>
            </a:r>
          </a:p>
          <a:p>
            <a:r>
              <a:rPr lang="ro-RO" sz="1200" dirty="0"/>
              <a:t>→ mining_core.v — acceleratorul ASIP SHA-256, cu sursă IRQ proprie. Îl explicăm pe ultimul slide.</a:t>
            </a:r>
          </a:p>
          <a:p>
            <a:endParaRPr lang="ro-RO" sz="1200" dirty="0"/>
          </a:p>
          <a:p>
            <a:r>
              <a:rPr lang="ro-RO" sz="1200" dirty="0"/>
              <a:t>→ Predați cuvântul prezentatorului 2 pentru ISA și Toolchain.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sz="1200" b="1" dirty="0"/>
              <a:t>[PREZENTATOR 2 — ~50 sec]</a:t>
            </a:r>
          </a:p>
          <a:p>
            <a:endParaRPr lang="ro-RO" sz="1200" dirty="0"/>
          </a:p>
          <a:p>
            <a:r>
              <a:rPr lang="ro-RO" sz="1200" dirty="0"/>
              <a:t>"Procesorul are 60 de instrucțiuni — un set complet, nu un subset didactic minimal."</a:t>
            </a:r>
          </a:p>
          <a:p>
            <a:endParaRPr lang="ro-RO" sz="1200" dirty="0"/>
          </a:p>
          <a:p>
            <a:r>
              <a:rPr lang="ro-RO" sz="1200" dirty="0"/>
              <a:t>Secțiunea 1 — ISA complet:</a:t>
            </a:r>
          </a:p>
          <a:p>
            <a:r>
              <a:rPr lang="ro-RO" sz="1200" dirty="0"/>
              <a:t>→ Cele 60 de instrucțiuni acoperă tot: aritmetică cu semn, logică, deplasări logice și rotative, comparații, ramificații condiționale, operații pe stivă.</a:t>
            </a:r>
          </a:p>
          <a:p>
            <a:r>
              <a:rPr lang="ro-RO" sz="1200" dirty="0"/>
              <a:t>→ IN și OUT sunt instrucțiuni propriu-zise — nu load/store travestite. Accesezi tastatura, display-ul și timer-ul direct din assembly.</a:t>
            </a:r>
          </a:p>
          <a:p>
            <a:r>
              <a:rPr lang="ro-RO" sz="1200" dirty="0"/>
              <a:t>→ EI, DI, IRET, WAIT: controlezi întreruperile din software. WAIT oprește procesorul până la următoarea întrerupere — exact ca ARM WFI, zero cicluri irosite.</a:t>
            </a:r>
          </a:p>
          <a:p>
            <a:r>
              <a:rPr lang="ro-RO" sz="1200" dirty="0"/>
              <a:t>→ Encoding-ul e simplu și consistent: 6 biți opcode + 10 biți operand. Avem 60 din 64 posibile folosite.</a:t>
            </a:r>
          </a:p>
          <a:p>
            <a:endParaRPr lang="ro-RO" sz="1200" dirty="0"/>
          </a:p>
          <a:p>
            <a:r>
              <a:rPr lang="ro-RO" sz="1200" dirty="0"/>
              <a:t>Secțiunea 2 — Toolchain Python:</a:t>
            </a:r>
          </a:p>
          <a:p>
            <a:r>
              <a:rPr lang="ro-RO" sz="1200" dirty="0"/>
              <a:t>→ main.py parsează fișierul .asm, rezolvă etichetele și produce hex-ul binar gata de injectat în simulatorul Verilog.</a:t>
            </a:r>
          </a:p>
          <a:p>
            <a:r>
              <a:rPr lang="ro-RO" sz="1200" dirty="0"/>
              <a:t>→ data_init.py populează și IVT-ul — vectorii de întrerupere la adresele 190–192, scrisi automat la fiecare build.</a:t>
            </a:r>
          </a:p>
          <a:p>
            <a:r>
              <a:rPr lang="ro-RO" sz="1200" dirty="0"/>
              <a:t>→ Fluxul complet: scrii .asm → compilezi cu Python → obții hex → încarci în memory.v → simulezi cu iverilog.</a:t>
            </a:r>
          </a:p>
          <a:p>
            <a:endParaRPr lang="ro-RO" sz="1200" dirty="0"/>
          </a:p>
          <a:p>
            <a:r>
              <a:rPr lang="ro-RO" sz="1200" dirty="0"/>
              <a:t>→ Predați cuvântul prezentatorului 1 pentru I/O și Întreruperi.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sz="1200" b="1" dirty="0"/>
              <a:t>[PREZENTATOR 1 — ~50 sec]</a:t>
            </a:r>
          </a:p>
          <a:p>
            <a:endParaRPr lang="ro-RO" sz="1200" dirty="0"/>
          </a:p>
          <a:p>
            <a:r>
              <a:rPr lang="ro-RO" sz="1200" dirty="0"/>
              <a:t>"Procesorul nu trăiește izolat — interacționează cu lumea reală prin I/O și întreruperi."</a:t>
            </a:r>
          </a:p>
          <a:p>
            <a:endParaRPr lang="ro-RO" sz="1200" dirty="0"/>
          </a:p>
          <a:p>
            <a:r>
              <a:rPr lang="ro-RO" sz="1200" dirty="0"/>
              <a:t>Secțiunea 1 — Memory-Mapped I/O:</a:t>
            </a:r>
          </a:p>
          <a:p>
            <a:r>
              <a:rPr lang="ro-RO" sz="1200" dirty="0"/>
              <a:t>→ Spațiul I/O e separat de RAM prin bitul 10 al lui AR — fără nicio modificare la memory.v. IN port citește din io_controller; OUT port scrie în el.</a:t>
            </a:r>
          </a:p>
          <a:p>
            <a:r>
              <a:rPr lang="ro-RO" sz="1200" dirty="0"/>
              <a:t>→ Port 0: tastatura latchează ASCII-ul la apăsare și ridică kbd_irq automat — exact ca un UART RX.</a:t>
            </a:r>
          </a:p>
          <a:p>
            <a:r>
              <a:rPr lang="ro-RO" sz="1200" dirty="0"/>
              <a:t>→ Port 16: OUT 16 afișează imediat un caracter pe display — un singur byte de date, un singur ciclu de scriere.</a:t>
            </a:r>
          </a:p>
          <a:p>
            <a:r>
              <a:rPr lang="ro-RO" sz="1200" dirty="0"/>
              <a:t>→ Port 32/33: timer-ul e configurat din software prin OUT 33. Generează IRQ periodic — util pentru heartbeat sau scheduling.</a:t>
            </a:r>
          </a:p>
          <a:p>
            <a:r>
              <a:rPr lang="ro-RO" sz="1200" dirty="0"/>
              <a:t>→ Port 48 — IER: poți activa sau dezactiva individual fiecare sursă de întrerupere din software.</a:t>
            </a:r>
          </a:p>
          <a:p>
            <a:endParaRPr lang="ro-RO" sz="1200" dirty="0"/>
          </a:p>
          <a:p>
            <a:r>
              <a:rPr lang="ro-RO" sz="1200" dirty="0"/>
              <a:t>Secțiunea 2 — Fluxul de întrerupere, complet automat în hardware:</a:t>
            </a:r>
          </a:p>
          <a:p>
            <a:r>
              <a:rPr lang="ro-RO" sz="1200" dirty="0"/>
              <a:t>→ Prioritate fixă: TIMER bate KBD, KBD bate MINE, MINE bate EXT. Arbitrată de interrupt_controller.v.</a:t>
            </a:r>
          </a:p>
          <a:p>
            <a:r>
              <a:rPr lang="ro-RO" sz="1200" dirty="0"/>
              <a:t>→ La IRQ: CU detectează intr_pending la starea INTR_CHECK, dezactivează I_flag, face push FLAGS și push PC pe stivă, citește IVT[190+irq_id] și sare la ISR.</a:t>
            </a:r>
          </a:p>
          <a:p>
            <a:r>
              <a:rPr lang="ro-RO" sz="1200" dirty="0"/>
              <a:t>→ IRET: pop PC, pop FLAGS, I_flag=1 — contextul e restaurat complet, zero overhead pentru programator.</a:t>
            </a:r>
          </a:p>
          <a:p>
            <a:endParaRPr lang="ro-RO" sz="1200" dirty="0"/>
          </a:p>
          <a:p>
            <a:r>
              <a:rPr lang="ro-RO" sz="1200" dirty="0"/>
              <a:t>→ Predați cuvântul prezentatorului 2 pentru ASIP și Concluzii.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sz="1200" b="1" dirty="0"/>
              <a:t>[PREZENTATOR 2 — ~50 sec]</a:t>
            </a:r>
          </a:p>
          <a:p>
            <a:endParaRPr lang="ro-RO" sz="1200" dirty="0"/>
          </a:p>
          <a:p>
            <a:r>
              <a:rPr lang="ro-RO" sz="1200" dirty="0"/>
              <a:t>"Acum cel mai interesant aspect: am extins ISA-ul cu instrucțiunea MINE."</a:t>
            </a:r>
          </a:p>
          <a:p>
            <a:endParaRPr lang="ro-RO" sz="1200" dirty="0"/>
          </a:p>
          <a:p>
            <a:r>
              <a:rPr lang="ro-RO" sz="1200" dirty="0"/>
              <a:t>Secțiunea 1 — ASIP SHA-256:</a:t>
            </a:r>
          </a:p>
          <a:p>
            <a:r>
              <a:rPr lang="ro-RO" sz="1200" dirty="0"/>
              <a:t>→ SHA-256 în software: 200+ instrucțiuni secvențiale, procesorul blocat complet.</a:t>
            </a:r>
          </a:p>
          <a:p>
            <a:r>
              <a:rPr lang="ro-RO" sz="1200" dirty="0"/>
              <a:t>→ Cu MINE: 1 instrucțiune lansează nucleul hardware. Nucleul lucrează în paralel, procesorul poate executa WAIT.</a:t>
            </a:r>
          </a:p>
          <a:p>
            <a:r>
              <a:rPr lang="ro-RO" sz="1200" dirty="0"/>
              <a:t>→ Când mining_done=1, io_controller latchează rezultatele la porturile 64–65 și ridică mining_irq.</a:t>
            </a:r>
          </a:p>
          <a:p>
            <a:r>
              <a:rPr lang="ro-RO" sz="1200" dirty="0"/>
              <a:t>→ MINE_ISR le colectează prin IN 64 și IN 65 — exact același pattern ca un driver DMA pe ARM Cortex-M sau un fence interrupt pe GPU.</a:t>
            </a:r>
          </a:p>
          <a:p>
            <a:r>
              <a:rPr lang="ro-RO" sz="1200" dirty="0"/>
              <a:t>→ Acesta e motivul real pentru care există GPU, NPU și acceleratoare DMA în procesoarele moderne.</a:t>
            </a:r>
          </a:p>
          <a:p>
            <a:endParaRPr lang="ro-RO" sz="1200" dirty="0"/>
          </a:p>
          <a:p>
            <a:r>
              <a:rPr lang="ro-RO" sz="1200" dirty="0"/>
              <a:t>Secțiunea 2 — Testare și Concluzii:</a:t>
            </a:r>
          </a:p>
          <a:p>
            <a:r>
              <a:rPr lang="ro-RO" sz="1200" dirty="0"/>
              <a:t>→ Nu am presupus că merge — am verificat sistematic: 20 testbench-uri unitare (375+ cazuri) + cpu_tb.v integrat cu 105 scenarii end-to-end.</a:t>
            </a:r>
          </a:p>
          <a:p>
            <a:r>
              <a:rPr lang="ro-RO" sz="1200" dirty="0"/>
              <a:t>→ Noile stări FSM (72–97) nu ating tranzițiile originale (0–71). Bitul AR[10] era neutilizat. Zero regresii pe instrucțiunile originale.</a:t>
            </a:r>
          </a:p>
          <a:p>
            <a:r>
              <a:rPr lang="ro-RO" sz="1200" dirty="0"/>
              <a:t>→ Compatibilitate 100%: orice program scris pentru procesorul original rulează neschimbat pe versiunea extinsă.</a:t>
            </a:r>
          </a:p>
          <a:p>
            <a:endParaRPr lang="ro-RO" sz="1200" dirty="0"/>
          </a:p>
          <a:p>
            <a:r>
              <a:rPr lang="ro-RO" sz="1200" dirty="0"/>
              <a:t>→ Încheiați cu: "Mulțumim. Suntem pregătiți pentru întrebări."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C6D69-F98D-029A-866F-1D65D6B18E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AD2D25-9ED1-DFD2-CBAD-4F5EE529A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47BCB-A0F5-5C32-A69F-25AD57687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F5C5-53EC-4C4D-89DD-3F44E8761ABC}" type="datetimeFigureOut">
              <a:rPr lang="en-RO" smtClean="0"/>
              <a:t>22.03.2026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B91A2-EB96-84D3-9D53-B08B026D0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BB72B-4EF4-E78F-07E5-91DDBDC2C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57A0-DABE-2240-AAF9-25CB64B703F3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11051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C5160-AADA-23AF-AC29-D3CB1AB30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3B307-819B-0532-164A-451CCD0B5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81035-F694-139A-1A8E-E5564D31A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F5C5-53EC-4C4D-89DD-3F44E8761ABC}" type="datetimeFigureOut">
              <a:rPr lang="en-RO" smtClean="0"/>
              <a:t>22.03.2026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FCB38-B3E7-8E09-07E4-750346EB4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7B7F6-55FF-66BF-C95D-C5777BC83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57A0-DABE-2240-AAF9-25CB64B703F3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847934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0CAEE-BDAB-C736-F91A-FF077317F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A3984-DABD-B383-2CFE-F502B14C5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CDD77-5BF4-6DD9-E284-85EB4BEA5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F5C5-53EC-4C4D-89DD-3F44E8761ABC}" type="datetimeFigureOut">
              <a:rPr lang="en-RO" smtClean="0"/>
              <a:t>22.03.2026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2A436-B4BE-DDA3-0DEC-AFD4EA31A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5B8B4-85B1-38BC-76FE-AB90CFB2D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57A0-DABE-2240-AAF9-25CB64B703F3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81219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209AA-0317-B9F2-9568-41D6C58C2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3AE8E-4F8B-C2B5-F0F1-17C74BFEB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69C2A-D3E7-0581-1BF1-4452A1A72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F324C-7EBF-75BE-1210-A8149894A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F5C5-53EC-4C4D-89DD-3F44E8761ABC}" type="datetimeFigureOut">
              <a:rPr lang="en-RO" smtClean="0"/>
              <a:t>22.03.2026</a:t>
            </a:fld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ADAB3E-58A4-E838-7A5D-9BD29A135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22851-8A66-7DBE-A1A4-352BD6D0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57A0-DABE-2240-AAF9-25CB64B703F3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821901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AD23-5EE5-1FDA-E4F1-D20D73BD1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F1310-7CFA-8A4B-9342-A73B14578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86752-22AA-3DEB-CFB3-FD429C6A2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ACE343-AA9B-79ED-1429-B2CDB34EF0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CD8C6D-1888-5CAA-E697-59F3A0DF88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1CD970-8806-9B59-49D3-36D37CCAF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F5C5-53EC-4C4D-89DD-3F44E8761ABC}" type="datetimeFigureOut">
              <a:rPr lang="en-RO" smtClean="0"/>
              <a:t>22.03.2026</a:t>
            </a:fld>
            <a:endParaRPr lang="en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0FEF3-6B02-AFCA-3A31-6228EFD4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F60EAF-678B-B82C-B5F6-6E70F8363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57A0-DABE-2240-AAF9-25CB64B703F3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70010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F46A7-94CE-9C7B-4654-D573FA7FB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F8E260-A0BE-0BC3-E174-F20AE0ECA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F5C5-53EC-4C4D-89DD-3F44E8761ABC}" type="datetimeFigureOut">
              <a:rPr lang="en-RO" smtClean="0"/>
              <a:t>22.03.2026</a:t>
            </a:fld>
            <a:endParaRPr lang="en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BC59F2-494D-7CBA-2C98-08AB68428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B06DB-46B5-36F5-8B86-4F5A116A1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57A0-DABE-2240-AAF9-25CB64B703F3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9875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3297E-2630-F7CA-00A3-25FBE2C62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F5C5-53EC-4C4D-89DD-3F44E8761ABC}" type="datetimeFigureOut">
              <a:rPr lang="en-RO" smtClean="0"/>
              <a:t>22.03.2026</a:t>
            </a:fld>
            <a:endParaRPr lang="en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E19AD-E593-39FA-1E57-4100B8322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6FDE7-726A-BAD0-2AF2-94057E8FA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57A0-DABE-2240-AAF9-25CB64B703F3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427313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77853-BA70-843F-D319-F611F03AD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2CFAF-687A-CABA-FF01-7D5F10AB9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D1105F-EDDA-A435-3C8C-806E353C0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C48A1-0C4D-C511-30F5-D30666FD2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F5C5-53EC-4C4D-89DD-3F44E8761ABC}" type="datetimeFigureOut">
              <a:rPr lang="en-RO" smtClean="0"/>
              <a:t>22.03.2026</a:t>
            </a:fld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72D59-70CC-52A6-67CC-B6214BEA1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B0B40-30E0-8046-67D0-1FED9A9F5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57A0-DABE-2240-AAF9-25CB64B703F3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85933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07FBC-D484-ED93-D176-D7DDD690A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BF66AE-8782-3B73-E824-6B153D145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91ABD-730E-B8FB-1D04-A3101A4BE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079C3-050C-273F-ACAE-97C1A96D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F5C5-53EC-4C4D-89DD-3F44E8761ABC}" type="datetimeFigureOut">
              <a:rPr lang="en-RO" smtClean="0"/>
              <a:t>22.03.2026</a:t>
            </a:fld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DF995-57C7-4B33-42A8-A62F0AF5E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A34BF-BD11-0F9E-184F-A71685DB6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57A0-DABE-2240-AAF9-25CB64B703F3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542583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36B1-D3E3-8957-38B1-F2F5F9B42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B8E1B1-DB71-4F85-6BBC-130F3AC2E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76877-9B49-3640-A0F8-C49452D33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F5C5-53EC-4C4D-89DD-3F44E8761ABC}" type="datetimeFigureOut">
              <a:rPr lang="en-RO" smtClean="0"/>
              <a:t>22.03.2026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CBB06-D584-C1AF-3D27-49D130B2C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166F8-2D0D-6AD9-19FB-CA0A93AE7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57A0-DABE-2240-AAF9-25CB64B703F3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925856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A981C5-75C0-D543-1592-1F52676EBF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E58880-EF24-663C-2B94-35CDD552D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3E2E8-9741-C439-FD13-F13DC8F6F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F5C5-53EC-4C4D-89DD-3F44E8761ABC}" type="datetimeFigureOut">
              <a:rPr lang="en-RO" smtClean="0"/>
              <a:t>22.03.2026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F9B76-FD03-3356-5EBC-223802F8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1BF6C-7953-8803-F19D-7C97518E3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57A0-DABE-2240-AAF9-25CB64B703F3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63904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B2A"/>
            </a:gs>
            <a:gs pos="100000">
              <a:srgbClr val="1B3A5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3D87F6-13B2-CF42-4AA7-6B9159994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42D0D-C42E-B787-1B68-25008EBB9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F1B70-F7A7-C31B-840F-402676BFD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2F5C5-53EC-4C4D-89DD-3F44E8761ABC}" type="datetimeFigureOut">
              <a:rPr lang="en-RO" smtClean="0"/>
              <a:t>22.03.2026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BC84F-3191-7665-7EBD-A3B85B04B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E9E7F-3DFE-65BA-910A-63B39B562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D957A0-DABE-2240-AAF9-25CB64B703F3}" type="slidenum">
              <a:rPr lang="en-RO" smtClean="0"/>
              <a:t>‹#›</a:t>
            </a:fld>
            <a:endParaRPr lang="en-RO"/>
          </a:p>
        </p:txBody>
      </p:sp>
      <p:sp>
        <p:nvSpPr>
          <p:cNvPr id="101" name="AccentBar"/>
          <p:cNvSpPr>
            <a:spLocks noGrp="1"/>
          </p:cNvSpPr>
          <p:nvPr>
            <p:ph type="ftr" sz="quarter" idx="11"/>
          </p:nvPr>
        </p:nvSpPr>
        <p:spPr>
          <a:xfrm>
            <a:off x="0" y="6550000"/>
            <a:ext cx="9144000" cy="50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txBody>
          <a:bodyPr/>
          <a:lstStyle/>
          <a:p>
            <a:endParaRPr lang="en-RO"/>
          </a:p>
        </p:txBody>
      </p:sp>
      <p:sp>
        <p:nvSpPr>
          <p:cNvPr id="102" name="LeftBar"/>
          <p:cNvSpPr>
            <a:spLocks noGrp="1"/>
          </p:cNvSpPr>
          <p:nvPr/>
        </p:nvSpPr>
        <p:spPr>
          <a:xfrm>
            <a:off x="0" y="0"/>
            <a:ext cx="40000" cy="6858000"/>
          </a:xfrm>
          <a:prstGeom prst="rect">
            <a:avLst/>
          </a:prstGeom>
          <a:solidFill>
            <a:srgbClr val="00C8FF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39765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9pPr>
    </p:bodyStyle>
    <p:otherStyle>
      <a:defPPr>
        <a:defRPr lang="en-RO">
          <a:solidFill>
            <a:srgbClr val="FFFFFF"/>
          </a:solidFill>
        </a:defRPr>
      </a:defPPr>
      <a:lvl1pPr marL="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58A9-4E68-05A7-DA5C-E9F06F0FF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206500"/>
            <a:ext cx="9525000" cy="1905000"/>
          </a:xfrm>
        </p:spPr>
        <p:txBody>
          <a:bodyPr>
            <a:normAutofit/>
          </a:bodyPr>
          <a:lstStyle/>
          <a:p>
            <a:r>
              <a:rPr lang="en-GB" sz="4000" b="1" dirty="0"/>
              <a:t>IAS-Overclockers-SoC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92A206-B080-F6DA-E835-CD18DEC589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429000"/>
            <a:ext cx="9525000" cy="2032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o-RO" sz="2000" dirty="0">
                <a:solidFill>
                  <a:srgbClr val="A8D8F0"/>
                </a:solidFill>
              </a:rPr>
              <a:t>Procesor pe 16 biți cu I/O, Întreruperi și extensie ASIP</a:t>
            </a:r>
          </a:p>
          <a:p>
            <a:pPr>
              <a:buNone/>
            </a:pPr>
            <a:r>
              <a:rPr lang="ro-RO" sz="1800" dirty="0">
                <a:solidFill>
                  <a:srgbClr val="A8D8F0"/>
                </a:solidFill>
              </a:rPr>
              <a:t>Echipa IAS-Overclockers-SoC  •  Ingineria Calculatoarelor</a:t>
            </a:r>
          </a:p>
          <a:p>
            <a:pPr>
              <a:buNone/>
            </a:pPr>
            <a:r>
              <a:rPr lang="ro-RO" sz="1600" dirty="0">
                <a:solidFill>
                  <a:srgbClr val="7BAFC8"/>
                </a:solidFill>
              </a:rPr>
              <a:t>Implementare: Verilog (iverilog) + Python Assembler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73DC56-B9E6-7840-AAB8-10E99BBD0145}"/>
              </a:ext>
            </a:extLst>
          </p:cNvPr>
          <p:cNvSpPr/>
          <p:nvPr/>
        </p:nvSpPr>
        <p:spPr>
          <a:xfrm>
            <a:off x="609600" y="3238500"/>
            <a:ext cx="4572000" cy="76200"/>
          </a:xfrm>
          <a:prstGeom prst="rect">
            <a:avLst/>
          </a:prstGeom>
          <a:solidFill>
            <a:srgbClr val="00C8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230625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DAF97E8-20C1-1045-ADCC-755D82F6F34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C8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DF22C2-8043-7894-9772-55859EA03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o-RO" sz="2800" b="1" dirty="0"/>
              <a:t>Ce este IAS-Overclockers-SoC?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6459-CE06-45F5-64C5-517E38EC2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800" y="1828800"/>
            <a:ext cx="7366000" cy="46990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  <a:buNone/>
            </a:pPr>
            <a:r>
              <a:rPr lang="ro-RO" sz="1800" b="0" dirty="0">
                <a:solidFill>
                  <a:srgbClr val="CBD5E1"/>
                </a:solidFill>
              </a:rPr>
              <a:t>Un procesor Von Neumann pe 16 biți — implementat complet în Verilog, de la logică digitală până la cod assembly.</a:t>
            </a:r>
          </a:p>
          <a:p>
            <a:pPr marL="228600" indent="-228600">
              <a:spcBef>
                <a:spcPts val="350"/>
              </a:spcBef>
              <a:buFont typeface="Arial"/>
              <a:buChar char="•"/>
            </a:pPr>
            <a:r>
              <a:rPr lang="ro-RO" sz="1800" dirty="0"/>
              <a:t>Memorie unificată 1024 × 16 biți, program şi date împreună</a:t>
            </a:r>
          </a:p>
          <a:p>
            <a:pPr marL="228600" indent="-228600">
              <a:spcBef>
                <a:spcPts val="350"/>
              </a:spcBef>
              <a:buFont typeface="Arial"/>
              <a:buChar char="•"/>
            </a:pPr>
            <a:r>
              <a:rPr lang="ro-RO" sz="1800" dirty="0"/>
              <a:t>60 de instrucțiuni — set complet: aritmetică, logică, I/O, întreruperi, ASIP</a:t>
            </a:r>
          </a:p>
          <a:p>
            <a:pPr marL="228600" indent="-228600">
              <a:spcBef>
                <a:spcPts val="350"/>
              </a:spcBef>
              <a:buFont typeface="Arial"/>
              <a:buChar char="•"/>
            </a:pPr>
            <a:r>
              <a:rPr lang="ro-RO" sz="1800" dirty="0"/>
              <a:t>I/O cu periferice reale: tastatură, display, timer</a:t>
            </a:r>
          </a:p>
          <a:p>
            <a:pPr marL="228600" indent="-228600">
              <a:spcBef>
                <a:spcPts val="350"/>
              </a:spcBef>
              <a:buFont typeface="Arial"/>
              <a:buChar char="•"/>
            </a:pPr>
            <a:r>
              <a:rPr lang="ro-RO" sz="1800" dirty="0"/>
              <a:t>Întreruperi hardware cu 4 surse — procesorul reacționează la evenimente externe</a:t>
            </a:r>
          </a:p>
          <a:p>
            <a:pPr marL="228600" indent="-228600">
              <a:spcBef>
                <a:spcPts val="350"/>
              </a:spcBef>
              <a:buFont typeface="Arial"/>
              <a:buChar char="•"/>
            </a:pPr>
            <a:r>
              <a:rPr lang="ro-RO" sz="1800" dirty="0"/>
              <a:t>Extensia ASIP: instrucțiunea </a:t>
            </a:r>
            <a:r>
              <a:rPr lang="ro-RO" sz="1800" b="1" dirty="0">
                <a:solidFill>
                  <a:srgbClr val="4ADE80"/>
                </a:solidFill>
              </a:rPr>
              <a:t>MINE</a:t>
            </a:r>
            <a:r>
              <a:rPr lang="ro-RO" sz="1800" dirty="0"/>
              <a:t> accelerează SHA-256 pentru mining</a:t>
            </a:r>
          </a:p>
          <a:p>
            <a:pPr marL="228600" indent="-228600">
              <a:spcBef>
                <a:spcPts val="350"/>
              </a:spcBef>
              <a:buFont typeface="Arial"/>
              <a:buChar char="•"/>
            </a:pPr>
            <a:r>
              <a:rPr lang="ro-RO" sz="1800" dirty="0"/>
              <a:t>Assembler Python complet: scrii cod, rulezi pe procesorul tău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903CCC2-6063-954A-B542-052608E0DBEE}"/>
              </a:ext>
            </a:extLst>
          </p:cNvPr>
          <p:cNvSpPr/>
          <p:nvPr/>
        </p:nvSpPr>
        <p:spPr>
          <a:xfrm>
            <a:off x="9931800" y="1778000"/>
            <a:ext cx="1879600" cy="1143000"/>
          </a:xfrm>
          <a:prstGeom prst="roundRect">
            <a:avLst/>
          </a:prstGeom>
          <a:solidFill>
            <a:srgbClr val="00C8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>
              <a:buNone/>
            </a:pPr>
            <a:r>
              <a:rPr lang="ro-RO" sz="2000" b="1" dirty="0"/>
              <a:t>60</a:t>
            </a:r>
          </a:p>
          <a:p>
            <a:pPr>
              <a:buNone/>
            </a:pPr>
            <a:r>
              <a:rPr lang="ro-RO" sz="1600" dirty="0"/>
              <a:t>instrucțiuni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F13D9D0-324A-4F4A-B496-4679297019A4}"/>
              </a:ext>
            </a:extLst>
          </p:cNvPr>
          <p:cNvSpPr/>
          <p:nvPr/>
        </p:nvSpPr>
        <p:spPr>
          <a:xfrm>
            <a:off x="9931800" y="3556000"/>
            <a:ext cx="1879600" cy="1143000"/>
          </a:xfrm>
          <a:prstGeom prst="roundRect">
            <a:avLst/>
          </a:prstGeom>
          <a:solidFill>
            <a:srgbClr val="4ADE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>
              <a:buNone/>
            </a:pPr>
            <a:r>
              <a:rPr lang="ro-RO" sz="2000" b="1" dirty="0"/>
              <a:t>480+</a:t>
            </a:r>
          </a:p>
          <a:p>
            <a:pPr>
              <a:buNone/>
            </a:pPr>
            <a:r>
              <a:rPr lang="ro-RO" sz="1600" dirty="0"/>
              <a:t>teste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BA79BE8-E755-1E46-9295-B32460F0FBD0}"/>
              </a:ext>
            </a:extLst>
          </p:cNvPr>
          <p:cNvSpPr/>
          <p:nvPr/>
        </p:nvSpPr>
        <p:spPr>
          <a:xfrm>
            <a:off x="9931800" y="5334000"/>
            <a:ext cx="1879600" cy="1143000"/>
          </a:xfrm>
          <a:prstGeom prst="round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>
              <a:buNone/>
            </a:pPr>
            <a:r>
              <a:rPr lang="ro-RO" sz="2000" b="1" dirty="0"/>
              <a:t>98</a:t>
            </a:r>
          </a:p>
          <a:p>
            <a:pPr>
              <a:buNone/>
            </a:pPr>
            <a:r>
              <a:rPr lang="ro-RO" sz="1600" dirty="0"/>
              <a:t>stări FSM</a:t>
            </a:r>
          </a:p>
        </p:txBody>
      </p:sp>
    </p:spTree>
    <p:extLst>
      <p:ext uri="{BB962C8B-B14F-4D97-AF65-F5344CB8AC3E}">
        <p14:creationId xmlns:p14="http://schemas.microsoft.com/office/powerpoint/2010/main" val="635539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DAF97E8-20C1-1045-ADCC-755D82F6F34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C8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DF22C2-8043-7894-9772-55859EA03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o-RO" sz="2800" b="1" dirty="0"/>
              <a:t>Ce face IAS-Overclockers diferit?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6459-CE06-45F5-64C5-517E38EC2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800" y="1828800"/>
            <a:ext cx="7366000" cy="46990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ro-RO" sz="2000" b="1" dirty="0">
                <a:solidFill>
                  <a:srgbClr val="F59E0B"/>
                </a:solidFill>
              </a:rPr>
              <a:t>Nu e un exercițiu — e un sistem funcțional complet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ro-RO" sz="1900" dirty="0"/>
              <a:t>Proiectezi ISA → scrii assembly → compilezi cu Python → rulezi pe procesorul tău Verilog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ro-RO" sz="1900" dirty="0"/>
              <a:t>FSM, ALU, memorie, I/O, întreruperi — fiecare concept din curs implementat concret</a:t>
            </a:r>
          </a:p>
          <a:p>
            <a:pPr>
              <a:spcBef>
                <a:spcPts val="900"/>
              </a:spcBef>
              <a:buNone/>
            </a:pPr>
            <a:r>
              <a:rPr lang="ro-RO" sz="2000" b="1" dirty="0">
                <a:solidFill>
                  <a:srgbClr val="4ADE80"/>
                </a:solidFill>
              </a:rPr>
              <a:t>Hardware specializat bate software general — demonstrat cu cifre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ro-RO" sz="1900" dirty="0"/>
              <a:t>Instrucțiunea </a:t>
            </a:r>
            <a:r>
              <a:rPr lang="ro-RO" sz="1900" b="1" dirty="0">
                <a:solidFill>
                  <a:srgbClr val="4ADE80"/>
                </a:solidFill>
              </a:rPr>
              <a:t>MINE</a:t>
            </a:r>
            <a:r>
              <a:rPr lang="ro-RO" sz="1900" dirty="0"/>
              <a:t> execută o rundă SHA-256 = 1 instrucțiune vs. 200+ în software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ro-RO" sz="1900" dirty="0"/>
              <a:t>Același principiu ca GPU, NPU, DMA în procesoarele moderne</a:t>
            </a:r>
          </a:p>
          <a:p>
            <a:pPr>
              <a:spcBef>
                <a:spcPts val="900"/>
              </a:spcBef>
              <a:buNone/>
            </a:pPr>
            <a:r>
              <a:rPr lang="ro-RO" sz="2000" b="1" dirty="0">
                <a:solidFill>
                  <a:srgbClr val="818CF8"/>
                </a:solidFill>
              </a:rPr>
              <a:t>Validat riguros, nu presupus funcțional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ro-RO" sz="1900" dirty="0"/>
              <a:t>23 testbench-uri, 480+ cazuri de test — fiecare modul verificat independent și integrat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903CCC2-6063-954A-B542-052608E0DBEE}"/>
              </a:ext>
            </a:extLst>
          </p:cNvPr>
          <p:cNvSpPr/>
          <p:nvPr/>
        </p:nvSpPr>
        <p:spPr>
          <a:xfrm>
            <a:off x="9931800" y="1836000"/>
            <a:ext cx="1879600" cy="1143000"/>
          </a:xfrm>
          <a:prstGeom prst="roundRect">
            <a:avLst/>
          </a:prstGeom>
          <a:solidFill>
            <a:srgbClr val="00C8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ro-RO" sz="2800" b="1" dirty="0"/>
              <a:t>200×</a:t>
            </a:r>
          </a:p>
          <a:p>
            <a:pPr algn="ctr">
              <a:buNone/>
            </a:pPr>
            <a:r>
              <a:rPr lang="ro-RO" sz="1500" dirty="0"/>
              <a:t>mai rapid MINE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F13D9D0-324A-4F4A-B496-4679297019A4}"/>
              </a:ext>
            </a:extLst>
          </p:cNvPr>
          <p:cNvSpPr/>
          <p:nvPr/>
        </p:nvSpPr>
        <p:spPr>
          <a:xfrm>
            <a:off x="9931800" y="3327000"/>
            <a:ext cx="1879600" cy="1143000"/>
          </a:xfrm>
          <a:prstGeom prst="roundRect">
            <a:avLst/>
          </a:prstGeom>
          <a:solidFill>
            <a:srgbClr val="4ADE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ro-RO" sz="2800" b="1" dirty="0"/>
              <a:t>480+</a:t>
            </a:r>
          </a:p>
          <a:p>
            <a:pPr algn="ctr">
              <a:buNone/>
            </a:pPr>
            <a:r>
              <a:rPr lang="ro-RO" sz="1500" dirty="0"/>
              <a:t>teste trece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BA79BE8-E755-1E46-9295-B32460F0FBD0}"/>
              </a:ext>
            </a:extLst>
          </p:cNvPr>
          <p:cNvSpPr/>
          <p:nvPr/>
        </p:nvSpPr>
        <p:spPr>
          <a:xfrm>
            <a:off x="9931800" y="4809000"/>
            <a:ext cx="1879600" cy="1143000"/>
          </a:xfrm>
          <a:prstGeom prst="round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ro-RO" sz="2800" b="1" dirty="0"/>
              <a:t>60</a:t>
            </a:r>
          </a:p>
          <a:p>
            <a:pPr algn="ctr">
              <a:buNone/>
            </a:pPr>
            <a:r>
              <a:rPr lang="ro-RO" sz="1500" dirty="0"/>
              <a:t>instrucțiuni ISA</a:t>
            </a:r>
          </a:p>
        </p:txBody>
      </p:sp>
    </p:spTree>
    <p:extLst>
      <p:ext uri="{BB962C8B-B14F-4D97-AF65-F5344CB8AC3E}">
        <p14:creationId xmlns:p14="http://schemas.microsoft.com/office/powerpoint/2010/main" val="4263554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BACD52-280C-224D-AB5A-C642362EEF3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ADE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A2AB8E-83E3-6FFE-5CDC-5F5B68A0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ro-RO" sz="2800" b="1" dirty="0"/>
              <a:t>Arhitectura sistemului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00371-3A61-22C7-DA4D-8D19F6F52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6990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ro-RO" sz="1900" b="1" dirty="0">
                <a:solidFill>
                  <a:srgbClr val="4ADE80"/>
                </a:solidFill>
              </a:rPr>
              <a:t>cpu.v — top-level: leagă toate modulele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cu.v — Control Unit: FSM cu 98 stări, orchestrează fetch → decode → execute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alu.v — ALU 16-bit: aritmetică, logică, deplasări, flaguri Z/N/C/O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memory.v — RAM 1024×16-bit; bit AR[10] separă RAM de spațiul I/O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io_controller.v — KBD, DISP, TIMER prin Memory-Mapped I/O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interrupt_controller.v — 4 surse, priority encoder, semnalează CU-ul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mining_core.v — accelerator SHA-256 (ASIP), sursă IRQ proprie</a:t>
            </a:r>
          </a:p>
        </p:txBody>
      </p:sp>
    </p:spTree>
    <p:extLst>
      <p:ext uri="{BB962C8B-B14F-4D97-AF65-F5344CB8AC3E}">
        <p14:creationId xmlns:p14="http://schemas.microsoft.com/office/powerpoint/2010/main" val="307962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3D586E-5A3F-184E-A67F-C89D436CD44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18C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D5FFB-D1C4-A9FA-F5E1-8D88CC0CE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ro-RO" sz="2800" b="1" dirty="0"/>
              <a:t>ISA și Toolchain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FA882-CD36-5CAA-F08E-14C47417C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6990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ro-RO" sz="1900" b="1" dirty="0">
                <a:solidFill>
                  <a:srgbClr val="00C8FF"/>
                </a:solidFill>
              </a:rPr>
              <a:t>60 de instrucțiuni — 13 categorii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Aritmetică, logică, deplasări, comparații, control flux, stivă — baza completă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IN / OUT — acces direct la periferice; EI / DI / IRET / WAIT — control întreruperi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Encoding uniform: [15:10] opcode 6-bit + [9:0] operand 10-bit pentru toate instrucțiunile</a:t>
            </a:r>
          </a:p>
          <a:p>
            <a:pPr>
              <a:spcBef>
                <a:spcPts val="900"/>
              </a:spcBef>
              <a:buNone/>
            </a:pPr>
            <a:r>
              <a:rPr lang="ro-RO" sz="1900" b="1" dirty="0">
                <a:solidFill>
                  <a:srgbClr val="F59E0B"/>
                </a:solidFill>
              </a:rPr>
              <a:t>Assembler Python — toolchain complet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main.py: parser assembly → cod mașină hex, suportă etichete și comentarii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data_init.py: populează memoria + IVT (vectori întrerupere la adresele 190–192)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Flux: .asm → compilezi → hex → incarci în Verilog → simulezi cu iverilog</a:t>
            </a:r>
          </a:p>
        </p:txBody>
      </p:sp>
    </p:spTree>
    <p:extLst>
      <p:ext uri="{BB962C8B-B14F-4D97-AF65-F5344CB8AC3E}">
        <p14:creationId xmlns:p14="http://schemas.microsoft.com/office/powerpoint/2010/main" val="2864465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C8F86D-780B-A547-AE6D-460F122C331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BCB664-C042-C667-8001-44E15D1CB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ro-RO" sz="2800" b="1" dirty="0"/>
              <a:t>Sistemul I/O și Întreruperi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84807-C1FC-746C-66B3-F752D4D5A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6990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ro-RO" sz="1900" b="1" dirty="0">
                <a:solidFill>
                  <a:srgbClr val="4ADE80"/>
                </a:solidFill>
              </a:rPr>
              <a:t>Memory-Mapped I/O — harta porturilor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Port 0/1 — KBD_DATA / KBD_STATUS: ASCII la apăsare tastă, IRQ automat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Port 16 — DISP_DATA: OUT 16 afișează imediat un caracter pe display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Port 32/33 — TIMER configurat din software; Port 48 — IER: mascare per sursă</a:t>
            </a:r>
          </a:p>
          <a:p>
            <a:pPr>
              <a:spcBef>
                <a:spcPts val="900"/>
              </a:spcBef>
              <a:buNone/>
            </a:pPr>
            <a:r>
              <a:rPr lang="ro-RO" sz="1900" b="1" dirty="0">
                <a:solidFill>
                  <a:srgbClr val="818CF8"/>
                </a:solidFill>
              </a:rPr>
              <a:t>Fluxul de întrerupere — hardware automat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Prioritate fixă în hardware: TIMER &gt; KBD &gt; MINE &gt; EXT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La IRQ: push FLAGS + push PC pe stivă → citire IVT[190+irq_id] → salt la ISR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IRET: pop PC + pop FLAGS, I_flag=1 — context restaurat automat, zero overhead</a:t>
            </a:r>
          </a:p>
        </p:txBody>
      </p:sp>
    </p:spTree>
    <p:extLst>
      <p:ext uri="{BB962C8B-B14F-4D97-AF65-F5344CB8AC3E}">
        <p14:creationId xmlns:p14="http://schemas.microsoft.com/office/powerpoint/2010/main" val="2353363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E14463-E39E-1543-999F-9E0513337E1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818C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R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41951-5E37-0CEB-B36E-9F9B01C5C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o-RO" sz="2800" b="1" dirty="0"/>
              <a:t>ASIP, Testare și Concluzii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F8900-F11A-DDFB-85D6-56AA2A6CB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6990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ro-RO" sz="1900" b="1" dirty="0">
                <a:solidFill>
                  <a:srgbClr val="F59E0B"/>
                </a:solidFill>
              </a:rPr>
              <a:t>MINE: 1 instrucțiune = 200+ instrucțiuni software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mining_done=1 → io_controller latch → mining_irq → MINE_ISR citește IN 64/IN 65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CPU execută WAIT — acceleratorul lucrează în paralel, IRQ semnalează terminarea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Același pattern ca DMA completion pe ARM Cortex-M sau fence interrupt pe GPU</a:t>
            </a:r>
          </a:p>
          <a:p>
            <a:pPr>
              <a:spcBef>
                <a:spcPts val="900"/>
              </a:spcBef>
              <a:buNone/>
            </a:pPr>
            <a:r>
              <a:rPr lang="ro-RO" sz="1900" b="1" dirty="0">
                <a:solidFill>
                  <a:srgbClr val="4ADE80"/>
                </a:solidFill>
              </a:rPr>
              <a:t>Validat: 23 testbench-uri, 480+ cazuri, compatibilitate 100%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20 testbench-uri unitare (ALU, CU, MEM, mux-uri) — 375+ cazuri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cpu_tb.v integrat — 105 scenarii: IRQ, WAIT, IRET, MINE, I/O end-to-end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ro-RO" sz="1900" dirty="0"/>
              <a:t>Noile stări FSM (72–97) nu ating tranzițiile originale (0–71) — zero regresii</a:t>
            </a:r>
          </a:p>
        </p:txBody>
      </p:sp>
    </p:spTree>
    <p:extLst>
      <p:ext uri="{BB962C8B-B14F-4D97-AF65-F5344CB8AC3E}">
        <p14:creationId xmlns:p14="http://schemas.microsoft.com/office/powerpoint/2010/main" val="1939671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4103648105]">
  <a:themeElements>
    <a:clrScheme name="Office">
      <a:dk1>
        <a:srgbClr val="0D1B2A"/>
      </a:dk1>
      <a:lt1>
        <a:srgbClr val="F0F4F8"/>
      </a:lt1>
      <a:dk2>
        <a:srgbClr val="1B3A5C"/>
      </a:dk2>
      <a:lt2>
        <a:srgbClr val="D6E4F0"/>
      </a:lt2>
      <a:accent1>
        <a:srgbClr val="00C8FF"/>
      </a:accent1>
      <a:accent2>
        <a:srgbClr val="4ADE80"/>
      </a:accent2>
      <a:accent3>
        <a:srgbClr val="F59E0B"/>
      </a:accent3>
      <a:accent4>
        <a:srgbClr val="F472B6"/>
      </a:accent4>
      <a:accent5>
        <a:srgbClr val="818CF8"/>
      </a:accent5>
      <a:accent6>
        <a:srgbClr val="34D399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C71C990-E3F6-244D-9342-0A992B456797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2130</Words>
  <Application>Microsoft Macintosh PowerPoint</Application>
  <PresentationFormat>Widescreen</PresentationFormat>
  <Paragraphs>174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Montserrat</vt:lpstr>
      <vt:lpstr>Office Theme [1774103648105]</vt:lpstr>
      <vt:lpstr>IAS-Overclockers-SoC</vt:lpstr>
      <vt:lpstr>Ce este IAS-Overclockers-SoC?</vt:lpstr>
      <vt:lpstr>Ce face IAS-Overclockers diferit?</vt:lpstr>
      <vt:lpstr>Arhitectura sistemului</vt:lpstr>
      <vt:lpstr>ISA și Toolchain</vt:lpstr>
      <vt:lpstr>Sistemul I/O și Întreruperi</vt:lpstr>
      <vt:lpstr>ASIP, Testare și Concluzii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Mihai-Vladimir Ghimpău</dc:creator>
  <cp:lastModifiedBy>Mihai-Vladimir Ghimpău</cp:lastModifiedBy>
  <cp:revision>10</cp:revision>
  <dcterms:created xsi:type="dcterms:W3CDTF">2026-03-21T14:31:38Z</dcterms:created>
  <dcterms:modified xsi:type="dcterms:W3CDTF">2026-03-22T08:05:59Z</dcterms:modified>
</cp:coreProperties>
</file>