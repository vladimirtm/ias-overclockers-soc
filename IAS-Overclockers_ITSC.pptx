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29" r:id="rId43"/>
    <p:sldId id="297" r:id="rId44"/>
    <p:sldId id="298" r:id="rId45"/>
    <p:sldId id="301" r:id="rId46"/>
    <p:sldId id="300" r:id="rId47"/>
    <p:sldId id="299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77"/>
      <p:bold r:id="rId78"/>
      <p:italic r:id="rId79"/>
      <p:boldItalic r:id="rId80"/>
    </p:embeddedFont>
    <p:embeddedFont>
      <p:font typeface="Nunito Light" pitchFamily="2" charset="0"/>
      <p:regular r:id="rId81"/>
    </p:embeddedFont>
    <p:embeddedFont>
      <p:font typeface="Poppins" pitchFamily="2" charset="0"/>
      <p:regular r:id="rId82"/>
      <p:bold r:id="rId83"/>
      <p:italic r:id="rId84"/>
    </p:embeddedFont>
    <p:embeddedFont>
      <p:font typeface="PT Sans" panose="020B0503020203020204" pitchFamily="34" charset="0"/>
      <p:regular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94658"/>
  </p:normalViewPr>
  <p:slideViewPr>
    <p:cSldViewPr snapToGrid="0">
      <p:cViewPr varScale="1">
        <p:scale>
          <a:sx n="146" d="100"/>
          <a:sy n="146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8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3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4.fntdata"/><Relationship Id="rId85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7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2.fntdata"/><Relationship Id="rId81" Type="http://schemas.openxmlformats.org/officeDocument/2006/relationships/font" Target="fonts/font5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6.fntdata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1: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 24575,'3'0'0,"5"0"0,4 0 0,3 0 0,2 0 0,2 0 0,1 0 0,-3-3 0,-1-1 0,-1-1 0,-1 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1: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 24575,'-1'2'0,"1"0"0,-1-1 0,1 1 0,-1-1 0,0 1 0,0-1 0,0 1 0,0-1 0,0 0 0,0 1 0,0-1 0,0 0 0,0 0 0,0 0 0,-1 0 0,1 0 0,0 0 0,-1 0 0,-2 1 0,-6 5 0,13-6 0,1 0 0,-1 0 0,1 0 0,-1-1 0,1 0 0,-1 1 0,1-1 0,-1-1 0,0 1 0,7-1 0,31-16 0,-34 14 0,0-1 0,0 2 0,0-1 0,0 1 0,0 0 0,15-2 0,178 4 0,-168 0 0,-362 0-1365,314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0 144 24523,'8'27'0,"449"-172"0,-466 119 0,-447 170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62 23619,'23'-62'0,"-295"124"0,521-62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52 23209,'403'-52'0,"-882"52"0,555 52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 24537,'14'54'0,"232"-119"0,-506 76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8192,'1'0'18022,"3"0"-18022,1 0 0,2 0 0,1 0 0,1 0 0,-2 1 0,0 1 0,-1 2 0,0-1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0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 0 15450,'-13'16'0,"156"-16"0,-129-16 0,-158 16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2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70 8192,'0'-12'14824,"0"15"-9886,0 7-7509,0-26-4443,0 12 6335,0 1 1,0-1-1,0 1 1,0 0-1,1-1 1,0 1-1,-1-1 1,1 1 0,0 0-1,1-1 1,-1 1-1,1 0 1,-1 0-1,4-4 1,-4 29 8766,0 6 1350,-7 2-11739,5-23 1742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352 0 24575,'-344'0'-1365,"337"0"-5461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24575,'21'2'42,"-1"0"1,35 8-1,-34-5-539,0-2-1,26 2 1,-39-5-6329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10 24575,'21'1'0,"-16"0"0,0-1 0,1 1 0,-1-1 0,0 0 0,0 0 0,1-1 0,-1 1 0,0-1 0,0 0 0,0-1 0,6-1 0,-64-1 0,-62 4-1365,107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4 24575,'-1'0'0,"-3"0"0,-1 0 0,-2 0 0,-1 0 0,1-1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1 24575,'-63'0'0,"40"0"0,36 0 0,219 0-1365,-224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8192,'21'0'9037,"20"0"601,1 1-7715,-1 2-7429,0 2-7142,-2 3 9593,-36-6 3360,-25-4 1,-1-3-306,41 1 0,31 6 1150,83 13 1,-100-13 3647,-10-2-6464,-7-1-3208,-8 1 4315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8192,'41'-1'13404,"-1"0"-8032,11 0-4645,65 4-4684,-37 6 6433,-72-9-2476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8192,'0'0'0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 8192,'-1'0'18022,"-3"0"-18022,-1 0 0,-2 0 0,-1 0 0,-1 0 0,1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467 53 8192,'-38'-9'12891,"-3"0"-7760,-136-8-5131,165 17-1025,-16 0-4711,4-5 7898,10 1 2693,-1 0-4419,-1 1-5618,-78 1-8350,87 2 13532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1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0 0 8192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1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0 8192,'5'0'18022,"0"0"-18022,2 0 0,1 0 0,-1 2 0,0 0 0,1 0 0,-1-1 0,1 0 0,9 0-18022,-8 0 18022,0-1 0,-2-1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2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 66 8192,'0'-1'18022,"0"-3"-18022,0-1 0,0-2 0,0-1 0,0-1 0,0 0 0,0 0 0,-1 1 0,-1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1" name="Google Shape;3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8" name="Google Shape;32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1" name="Google Shape;35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402c29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3402c295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54282edb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5" name="Google Shape;365;g3b54282edb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4282edb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7" name="Google Shape;387;g3b54282edb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54282edb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4" name="Google Shape;394;g3b54282edb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54282edb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02" name="Google Shape;402;g3b54282edb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54282edb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09" name="Google Shape;409;g3b54282edb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54282edb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6" name="Google Shape;416;g3b54282edb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54282edb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3" name="Google Shape;423;g3b54282edb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54282edb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0" name="Google Shape;430;g3b54282edb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54282edb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9" name="Google Shape;439;g3b54282edb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4282edb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8" name="Google Shape;448;g3b54282edb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54282edb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55" name="Google Shape;455;g3b54282edb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54282edb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4" name="Google Shape;464;g3b54282edbd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54282edb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71" name="Google Shape;471;g3b54282edb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54282edb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78" name="Google Shape;478;g3b54282edbd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54282edb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5" name="Google Shape;485;g3b54282edb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54282edb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2" name="Google Shape;492;g3b54282edb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54282edbd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9" name="Google Shape;499;g3b54282edbd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54282edb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07" name="Google Shape;507;g3b54282edb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54282edb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4" name="Google Shape;514;g3b54282edb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54282edb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2" name="Google Shape;522;g3b54282edb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54282edbd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0" name="Google Shape;530;g3b54282edbd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54282edbd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8" name="Google Shape;538;g3b54282edbd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54282edb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47" name="Google Shape;547;g3b54282edbd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54282edbd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6" name="Google Shape;556;g3b54282edbd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896d35dc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63" name="Google Shape;563;g3b896d35dc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896d35dc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3" name="Google Shape;573;g3b896d35dc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b896d35dc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3" name="Google Shape;583;g3b896d35dc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896d35dc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93" name="Google Shape;593;g3b896d35dc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b896d35dc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3" name="Google Shape;603;g3b896d35dc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896d35dc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3" name="Google Shape;613;g3b896d35dc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896d35dc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23" name="Google Shape;623;g3b896d35dc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b896d35dc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33" name="Google Shape;633;g3b896d35dc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b896d35dc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3" name="Google Shape;643;g3b896d35dcd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896d35dc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3" name="Google Shape;653;g3b896d35dc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896d35dc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3" name="Google Shape;663;g3b896d35dc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896d35dc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3" name="Google Shape;673;g3b896d35dc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254CF59F-6606-A5FD-D9D7-818FE5F8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896d35dcd_0_124:notes">
            <a:extLst>
              <a:ext uri="{FF2B5EF4-FFF2-40B4-BE49-F238E27FC236}">
                <a16:creationId xmlns:a16="http://schemas.microsoft.com/office/drawing/2014/main" id="{AC1C55DD-BAB1-0A29-2F9C-3D3E5068E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3" name="Google Shape;673;g3b896d35dcd_0_124:notes">
            <a:extLst>
              <a:ext uri="{FF2B5EF4-FFF2-40B4-BE49-F238E27FC236}">
                <a16:creationId xmlns:a16="http://schemas.microsoft.com/office/drawing/2014/main" id="{7106ADEF-03D8-44B7-14E4-583F98B0A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7212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b896d35d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83" name="Google Shape;683;g3b896d35d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54282edb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90" name="Google Shape;690;g3b54282edb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b54282edbd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5" name="Google Shape;715;g3b54282edbd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54282edb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06" name="Google Shape;706;g3b54282edb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54282edb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98" name="Google Shape;698;g3b54282edb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b896d35dcd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2" name="Google Shape;722;g3b896d35dcd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896d35dc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9" name="Google Shape;729;g3b896d35dc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896d35dcd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6" name="Google Shape;736;g3b896d35dcd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b896d35dc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43" name="Google Shape;743;g3b896d35dc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b896d35dcd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50" name="Google Shape;750;g3b896d35dcd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b54282edbd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57" name="Google Shape;757;g3b54282edbd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896d35dcd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4" name="Google Shape;764;g3b896d35dcd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896d35dcd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71" name="Google Shape;771;g3b896d35dcd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b896d35dc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78" name="Google Shape;778;g3b896d35dcd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b896d35dc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5" name="Google Shape;785;g3b896d35dcd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b896d35dc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93" name="Google Shape;793;g3b896d35dc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896d35dc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3b896d35dcd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b896d35dc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7" name="Google Shape;807;g3b896d35dc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b896d35dc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14" name="Google Shape;814;g3b896d35dc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b896d35dcd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22" name="Google Shape;822;g3b896d35dcd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b896d35dcd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29" name="Google Shape;829;g3b896d35dcd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b896d35dc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8" name="Google Shape;838;g3b896d35dc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b896d35dcd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0" name="Google Shape;850;g3b896d35dcd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b896d35dc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9" name="Google Shape;859;g3b896d35dc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b896d35dcd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69" name="Google Shape;869;g3b896d35dcd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b896d35dcd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9" name="Google Shape;879;g3b896d35dcd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b896d35dcd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89" name="Google Shape;889;g3b896d35dcd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b896d35dcd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6" name="Google Shape;896;g3b896d35dcd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b896d35dcd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3" name="Google Shape;903;g3b896d35dcd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896d35dcd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2" name="Google Shape;912;g3b896d35dcd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896d35dcd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9" name="Google Shape;919;g3b896d35dcd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b896d35dcd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26" name="Google Shape;926;g3b896d35dcd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5400000" flipH="1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subTitle" idx="1"/>
          </p:nvPr>
        </p:nvSpPr>
        <p:spPr>
          <a:xfrm>
            <a:off x="713225" y="2630525"/>
            <a:ext cx="3171900" cy="16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/>
          <a:srcRect l="31651" t="130" b="18270"/>
          <a:stretch>
            <a:fillRect/>
          </a:stretch>
        </p:blipFill>
        <p:spPr>
          <a:xfrm rot="10800000" flipH="1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1" name="Google Shape;61;p7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/>
          <a:srcRect t="129" b="129"/>
          <a:stretch>
            <a:fillRect/>
          </a:stretch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/>
          <a:srcRect b="22420"/>
          <a:stretch>
            <a:fillRect/>
          </a:stretch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/>
          <a:srcRect b="22420"/>
          <a:stretch>
            <a:fillRect/>
          </a:stretch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8" name="Google Shape;138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/>
          <a:srcRect t="129" b="129"/>
          <a:stretch>
            <a:fillRect/>
          </a:stretch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3595575" y="539500"/>
            <a:ext cx="2191200" cy="2328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3595575" y="2953775"/>
            <a:ext cx="4835100" cy="1650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51" name="Google Shape;151;p16"/>
          <p:cNvPicPr preferRelativeResize="0"/>
          <p:nvPr/>
        </p:nvPicPr>
        <p:blipFill rotWithShape="1">
          <a:blip r:embed="rId3"/>
          <a:srcRect l="73637" t="129" b="129"/>
          <a:stretch>
            <a:fillRect/>
          </a:stretch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/>
          <a:srcRect l="68148" b="22414"/>
          <a:stretch>
            <a:fillRect/>
          </a:stretch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/>
          <a:srcRect t="129" b="129"/>
          <a:stretch>
            <a:fillRect/>
          </a:stretch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/>
          <a:srcRect l="14813" b="34262"/>
          <a:stretch>
            <a:fillRect/>
          </a:stretch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/>
          <a:srcRect r="56111" b="41941"/>
          <a:stretch>
            <a:fillRect/>
          </a:stretch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/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/>
          <a:srcRect t="128" b="35496"/>
          <a:stretch>
            <a:fillRect/>
          </a:stretch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/>
          <a:stretch>
            <a:fillRect/>
          </a:stretch>
        </p:blipFill>
        <p:spPr>
          <a:xfrm rot="10800000" flipH="1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7"/>
          <p:cNvGrpSpPr/>
          <p:nvPr/>
        </p:nvGrpSpPr>
        <p:grpSpPr>
          <a:xfrm rot="10800000" flipH="1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713227" y="540000"/>
            <a:ext cx="4151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subTitle" idx="1"/>
          </p:nvPr>
        </p:nvSpPr>
        <p:spPr>
          <a:xfrm>
            <a:off x="713213" y="2369350"/>
            <a:ext cx="36993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9"/>
          <p:cNvSpPr>
            <a:spLocks noGrp="1"/>
          </p:cNvSpPr>
          <p:nvPr>
            <p:ph type="pic" idx="2"/>
          </p:nvPr>
        </p:nvSpPr>
        <p:spPr>
          <a:xfrm>
            <a:off x="713225" y="539550"/>
            <a:ext cx="3072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89" name="Google Shape;289;p29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0" y="-11538"/>
            <a:ext cx="9143999" cy="5155025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713224" y="3542325"/>
            <a:ext cx="34254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This presentation template was created by </a:t>
            </a:r>
            <a:r>
              <a:rPr lang="en-GB" sz="1000" b="1" u="sng">
                <a:solidFill>
                  <a:schemeClr val="hlink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8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and includes icons, infographics &amp; images by </a:t>
            </a:r>
            <a:r>
              <a:rPr lang="en-GB" sz="1000" b="1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9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000" b="1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/>
          <a:srcRect l="73637" t="129" b="129"/>
          <a:stretch>
            <a:fillRect/>
          </a:stretch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1.png"/><Relationship Id="rId26" Type="http://schemas.openxmlformats.org/officeDocument/2006/relationships/image" Target="../media/image35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39.png"/><Relationship Id="rId42" Type="http://schemas.openxmlformats.org/officeDocument/2006/relationships/image" Target="../media/image43.png"/><Relationship Id="rId47" Type="http://schemas.openxmlformats.org/officeDocument/2006/relationships/customXml" Target="../ink/ink22.xml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30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0.png"/><Relationship Id="rId11" Type="http://schemas.openxmlformats.org/officeDocument/2006/relationships/customXml" Target="../ink/ink4.xml"/><Relationship Id="rId24" Type="http://schemas.openxmlformats.org/officeDocument/2006/relationships/image" Target="../media/image34.png"/><Relationship Id="rId32" Type="http://schemas.openxmlformats.org/officeDocument/2006/relationships/image" Target="../media/image38.png"/><Relationship Id="rId37" Type="http://schemas.openxmlformats.org/officeDocument/2006/relationships/customXml" Target="../ink/ink17.xml"/><Relationship Id="rId40" Type="http://schemas.openxmlformats.org/officeDocument/2006/relationships/image" Target="../media/image42.png"/><Relationship Id="rId45" Type="http://schemas.openxmlformats.org/officeDocument/2006/relationships/customXml" Target="../ink/ink21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36.png"/><Relationship Id="rId36" Type="http://schemas.openxmlformats.org/officeDocument/2006/relationships/image" Target="../media/image40.png"/><Relationship Id="rId10" Type="http://schemas.openxmlformats.org/officeDocument/2006/relationships/image" Target="../media/image270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44.png"/><Relationship Id="rId4" Type="http://schemas.openxmlformats.org/officeDocument/2006/relationships/image" Target="../media/image14.png"/><Relationship Id="rId9" Type="http://schemas.openxmlformats.org/officeDocument/2006/relationships/customXml" Target="../ink/ink3.xml"/><Relationship Id="rId14" Type="http://schemas.openxmlformats.org/officeDocument/2006/relationships/image" Target="../media/image29.png"/><Relationship Id="rId22" Type="http://schemas.openxmlformats.org/officeDocument/2006/relationships/image" Target="../media/image33.png"/><Relationship Id="rId27" Type="http://schemas.openxmlformats.org/officeDocument/2006/relationships/customXml" Target="../ink/ink12.xml"/><Relationship Id="rId30" Type="http://schemas.openxmlformats.org/officeDocument/2006/relationships/image" Target="../media/image37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46.png"/><Relationship Id="rId8" Type="http://schemas.openxmlformats.org/officeDocument/2006/relationships/image" Target="../media/image260.png"/><Relationship Id="rId3" Type="http://schemas.openxmlformats.org/officeDocument/2006/relationships/image" Target="../media/image13.png"/><Relationship Id="rId12" Type="http://schemas.openxmlformats.org/officeDocument/2006/relationships/image" Target="../media/image280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1.png"/><Relationship Id="rId46" Type="http://schemas.openxmlformats.org/officeDocument/2006/relationships/image" Target="../media/image45.png"/><Relationship Id="rId20" Type="http://schemas.openxmlformats.org/officeDocument/2006/relationships/image" Target="../media/image32.png"/><Relationship Id="rId41" Type="http://schemas.openxmlformats.org/officeDocument/2006/relationships/customXml" Target="../ink/ink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8.png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ctrTitle"/>
          </p:nvPr>
        </p:nvSpPr>
        <p:spPr>
          <a:xfrm>
            <a:off x="972300" y="85745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/>
              <a:t>16-BIT CPU WITH SUPORT MINING</a:t>
            </a:r>
            <a:endParaRPr sz="3500"/>
          </a:p>
        </p:txBody>
      </p:sp>
      <p:sp>
        <p:nvSpPr>
          <p:cNvPr id="324" name="Google Shape;324;p32"/>
          <p:cNvSpPr txBox="1">
            <a:spLocks noGrp="1"/>
          </p:cNvSpPr>
          <p:nvPr>
            <p:ph type="subTitle" idx="1"/>
          </p:nvPr>
        </p:nvSpPr>
        <p:spPr>
          <a:xfrm>
            <a:off x="972300" y="2959995"/>
            <a:ext cx="7199400" cy="13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Ghimpău Mihai-Vladimir</a:t>
            </a:r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Iordăchescu Vlad-Alexandru</a:t>
            </a:r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Roșca Albert</a:t>
            </a:r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Solomon Alexandru-Paul</a:t>
            </a:r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Sörös Iulia</a:t>
            </a:r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Tămaș Cosmin</a:t>
            </a:r>
          </a:p>
        </p:txBody>
      </p:sp>
      <p:sp>
        <p:nvSpPr>
          <p:cNvPr id="325" name="Google Shape;325;p32"/>
          <p:cNvSpPr txBox="1"/>
          <p:nvPr/>
        </p:nvSpPr>
        <p:spPr>
          <a:xfrm>
            <a:off x="1004700" y="2212200"/>
            <a:ext cx="71346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IAS-Overclockers</a:t>
            </a:r>
            <a:endParaRPr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 txBox="1">
            <a:spLocks noGrp="1"/>
          </p:cNvSpPr>
          <p:nvPr>
            <p:ph type="title"/>
          </p:nvPr>
        </p:nvSpPr>
        <p:spPr>
          <a:xfrm>
            <a:off x="1014825" y="5707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Conținut</a:t>
            </a:r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2"/>
          </p:nvPr>
        </p:nvSpPr>
        <p:spPr>
          <a:xfrm>
            <a:off x="3690855" y="1370771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3"/>
          </p:nvPr>
        </p:nvSpPr>
        <p:spPr>
          <a:xfrm>
            <a:off x="5299730" y="1385558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4"/>
          </p:nvPr>
        </p:nvSpPr>
        <p:spPr>
          <a:xfrm>
            <a:off x="3690843" y="2064729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5"/>
          </p:nvPr>
        </p:nvSpPr>
        <p:spPr>
          <a:xfrm>
            <a:off x="5299718" y="2064717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</a:p>
        </p:txBody>
      </p:sp>
      <p:sp>
        <p:nvSpPr>
          <p:cNvPr id="335" name="Google Shape;335;p33"/>
          <p:cNvSpPr txBox="1">
            <a:spLocks noGrp="1"/>
          </p:cNvSpPr>
          <p:nvPr>
            <p:ph type="title" idx="6"/>
          </p:nvPr>
        </p:nvSpPr>
        <p:spPr>
          <a:xfrm>
            <a:off x="3690857" y="27595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</a:p>
        </p:txBody>
      </p:sp>
      <p:sp>
        <p:nvSpPr>
          <p:cNvPr id="336" name="Google Shape;336;p33"/>
          <p:cNvSpPr txBox="1">
            <a:spLocks noGrp="1"/>
          </p:cNvSpPr>
          <p:nvPr>
            <p:ph type="title" idx="7"/>
          </p:nvPr>
        </p:nvSpPr>
        <p:spPr>
          <a:xfrm>
            <a:off x="5299732" y="27595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</a:p>
        </p:txBody>
      </p:sp>
      <p:sp>
        <p:nvSpPr>
          <p:cNvPr id="337" name="Google Shape;337;p33"/>
          <p:cNvSpPr txBox="1">
            <a:spLocks noGrp="1"/>
          </p:cNvSpPr>
          <p:nvPr>
            <p:ph type="subTitle" idx="1"/>
          </p:nvPr>
        </p:nvSpPr>
        <p:spPr>
          <a:xfrm>
            <a:off x="1139900" y="1370775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</a:p>
        </p:txBody>
      </p:sp>
      <p:sp>
        <p:nvSpPr>
          <p:cNvPr id="338" name="Google Shape;338;p33"/>
          <p:cNvSpPr txBox="1">
            <a:spLocks noGrp="1"/>
          </p:cNvSpPr>
          <p:nvPr>
            <p:ph type="subTitle" idx="8"/>
          </p:nvPr>
        </p:nvSpPr>
        <p:spPr>
          <a:xfrm>
            <a:off x="1139900" y="206472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ARHITECTURA GENERALĂ</a:t>
            </a:r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9"/>
          </p:nvPr>
        </p:nvSpPr>
        <p:spPr>
          <a:xfrm>
            <a:off x="1139900" y="275953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DESCRIEREA MODULELOR</a:t>
            </a:r>
          </a:p>
        </p:txBody>
      </p:sp>
      <p:sp>
        <p:nvSpPr>
          <p:cNvPr id="340" name="Google Shape;340;p33"/>
          <p:cNvSpPr txBox="1">
            <a:spLocks noGrp="1"/>
          </p:cNvSpPr>
          <p:nvPr>
            <p:ph type="subTitle" idx="13"/>
          </p:nvPr>
        </p:nvSpPr>
        <p:spPr>
          <a:xfrm>
            <a:off x="6135900" y="1385558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ALU</a:t>
            </a:r>
          </a:p>
        </p:txBody>
      </p:sp>
      <p:sp>
        <p:nvSpPr>
          <p:cNvPr id="341" name="Google Shape;341;p33"/>
          <p:cNvSpPr txBox="1">
            <a:spLocks noGrp="1"/>
          </p:cNvSpPr>
          <p:nvPr>
            <p:ph type="subTitle" idx="14"/>
          </p:nvPr>
        </p:nvSpPr>
        <p:spPr>
          <a:xfrm>
            <a:off x="6135900" y="20803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 MINING</a:t>
            </a:r>
          </a:p>
        </p:txBody>
      </p:sp>
      <p:sp>
        <p:nvSpPr>
          <p:cNvPr id="342" name="Google Shape;342;p33"/>
          <p:cNvSpPr txBox="1">
            <a:spLocks noGrp="1"/>
          </p:cNvSpPr>
          <p:nvPr>
            <p:ph type="subTitle" idx="15"/>
          </p:nvPr>
        </p:nvSpPr>
        <p:spPr>
          <a:xfrm>
            <a:off x="6135900" y="27595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STRUCTURA PROIECTULUI</a:t>
            </a:r>
          </a:p>
        </p:txBody>
      </p:sp>
      <p:pic>
        <p:nvPicPr>
          <p:cNvPr id="343" name="Google Shape;343;p3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6200" y="3712050"/>
            <a:ext cx="1768000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>
            <a:spLocks noGrp="1"/>
          </p:cNvSpPr>
          <p:nvPr>
            <p:ph type="title" idx="6"/>
          </p:nvPr>
        </p:nvSpPr>
        <p:spPr>
          <a:xfrm>
            <a:off x="3690857" y="34543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</a:p>
        </p:txBody>
      </p:sp>
      <p:sp>
        <p:nvSpPr>
          <p:cNvPr id="345" name="Google Shape;345;p33"/>
          <p:cNvSpPr txBox="1">
            <a:spLocks noGrp="1"/>
          </p:cNvSpPr>
          <p:nvPr>
            <p:ph type="title" idx="6"/>
          </p:nvPr>
        </p:nvSpPr>
        <p:spPr>
          <a:xfrm>
            <a:off x="5299732" y="34543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08</a:t>
            </a:r>
          </a:p>
        </p:txBody>
      </p:sp>
      <p:sp>
        <p:nvSpPr>
          <p:cNvPr id="346" name="Google Shape;346;p33"/>
          <p:cNvSpPr txBox="1">
            <a:spLocks noGrp="1"/>
          </p:cNvSpPr>
          <p:nvPr>
            <p:ph type="subTitle" idx="8"/>
          </p:nvPr>
        </p:nvSpPr>
        <p:spPr>
          <a:xfrm>
            <a:off x="1139900" y="345432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SETUL DE INSTRUCȚIUNI</a:t>
            </a:r>
          </a:p>
        </p:txBody>
      </p:sp>
      <p:sp>
        <p:nvSpPr>
          <p:cNvPr id="348" name="Google Shape;348;p33"/>
          <p:cNvSpPr txBox="1">
            <a:spLocks noGrp="1"/>
          </p:cNvSpPr>
          <p:nvPr>
            <p:ph type="subTitle" idx="15"/>
          </p:nvPr>
        </p:nvSpPr>
        <p:spPr>
          <a:xfrm>
            <a:off x="6135900" y="34543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4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 txBox="1">
            <a:spLocks noGrp="1"/>
          </p:cNvSpPr>
          <p:nvPr>
            <p:ph type="title"/>
          </p:nvPr>
        </p:nvSpPr>
        <p:spPr>
          <a:xfrm>
            <a:off x="1093950" y="2879075"/>
            <a:ext cx="69561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</a:p>
        </p:txBody>
      </p:sp>
      <p:sp>
        <p:nvSpPr>
          <p:cNvPr id="355" name="Google Shape;355;p34"/>
          <p:cNvSpPr txBox="1">
            <a:spLocks noGrp="1"/>
          </p:cNvSpPr>
          <p:nvPr>
            <p:ph type="title" idx="2"/>
          </p:nvPr>
        </p:nvSpPr>
        <p:spPr>
          <a:xfrm>
            <a:off x="4023300" y="1781675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dirty="0" err="1"/>
              <a:t>Acest</a:t>
            </a:r>
            <a:r>
              <a:rPr lang="en-GB" sz="2000" dirty="0"/>
              <a:t> </a:t>
            </a:r>
            <a:r>
              <a:rPr lang="en-GB" sz="2000" dirty="0" err="1"/>
              <a:t>proiect</a:t>
            </a:r>
            <a:r>
              <a:rPr lang="en-GB" sz="2000" dirty="0"/>
              <a:t> </a:t>
            </a:r>
            <a:r>
              <a:rPr lang="en-GB" sz="2000" dirty="0" err="1"/>
              <a:t>implementează</a:t>
            </a:r>
            <a:r>
              <a:rPr lang="en-GB" sz="2000" dirty="0"/>
              <a:t> un </a:t>
            </a:r>
            <a:r>
              <a:rPr lang="en-GB" sz="2000" dirty="0" err="1"/>
              <a:t>procesor</a:t>
            </a:r>
            <a:r>
              <a:rPr lang="en-GB" sz="2000" dirty="0"/>
              <a:t> RISC pe 16 </a:t>
            </a:r>
            <a:r>
              <a:rPr lang="en-GB" sz="2000" dirty="0" err="1"/>
              <a:t>biți</a:t>
            </a:r>
            <a:r>
              <a:rPr lang="en-GB" sz="2000" dirty="0"/>
              <a:t> cu </a:t>
            </a:r>
            <a:r>
              <a:rPr lang="en-GB" sz="2000" dirty="0" err="1"/>
              <a:t>arhitectură</a:t>
            </a:r>
            <a:r>
              <a:rPr lang="en-GB" sz="2000" dirty="0"/>
              <a:t> von Neumann, </a:t>
            </a:r>
            <a:r>
              <a:rPr lang="en-GB" sz="2000" dirty="0" err="1"/>
              <a:t>proiectat</a:t>
            </a:r>
            <a:r>
              <a:rPr lang="en-GB" sz="2000" dirty="0"/>
              <a:t>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aplicații</a:t>
            </a:r>
            <a:r>
              <a:rPr lang="en-GB" sz="2000" dirty="0"/>
              <a:t> embedded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operații</a:t>
            </a:r>
            <a:r>
              <a:rPr lang="en-GB" sz="2000" dirty="0"/>
              <a:t> de mining </a:t>
            </a:r>
            <a:r>
              <a:rPr lang="en-GB" sz="2000" dirty="0" err="1"/>
              <a:t>simplificat</a:t>
            </a:r>
            <a:r>
              <a:rPr lang="en-GB" sz="2000" dirty="0"/>
              <a:t>. </a:t>
            </a:r>
            <a:endParaRPr sz="2000" dirty="0"/>
          </a:p>
        </p:txBody>
      </p:sp>
      <p:sp>
        <p:nvSpPr>
          <p:cNvPr id="362" name="Google Shape;362;p35"/>
          <p:cNvSpPr txBox="1"/>
          <p:nvPr/>
        </p:nvSpPr>
        <p:spPr>
          <a:xfrm>
            <a:off x="2662950" y="2922200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</a:p>
        </p:txBody>
      </p:sp>
      <p:sp>
        <p:nvSpPr>
          <p:cNvPr id="368" name="Google Shape;368;p36"/>
          <p:cNvSpPr txBox="1">
            <a:spLocks noGrp="1"/>
          </p:cNvSpPr>
          <p:nvPr>
            <p:ph type="subTitle" idx="2"/>
          </p:nvPr>
        </p:nvSpPr>
        <p:spPr>
          <a:xfrm>
            <a:off x="644750" y="1503025"/>
            <a:ext cx="3034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u="sng"/>
              <a:t>Procesorul suportă</a:t>
            </a:r>
            <a:r>
              <a:rPr lang="en-GB" sz="1900"/>
              <a:t>: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9" name="Google Shape;369;p36"/>
          <p:cNvSpPr txBox="1"/>
          <p:nvPr/>
        </p:nvSpPr>
        <p:spPr>
          <a:xfrm>
            <a:off x="1030925" y="2152225"/>
            <a:ext cx="6363000" cy="22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Spațiul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adresare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 KB RAM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 generale: 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X, Y, A (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acumulator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speciale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PC (Program Counter), SP (Stack Pointer), AR (Address Register), DR (Data Register), IR (Instruction Register)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Flags: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Z (Zero), N (Negative), C (Carry), O (Overflow)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Caracteristici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speciale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Mining core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integrat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SHA-256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simplificate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/>
          <p:nvPr/>
        </p:nvSpPr>
        <p:spPr>
          <a:xfrm>
            <a:off x="1256839" y="2119799"/>
            <a:ext cx="903900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76" name="Google Shape;376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Obiectivul proiectului</a:t>
            </a:r>
          </a:p>
        </p:txBody>
      </p:sp>
      <p:sp>
        <p:nvSpPr>
          <p:cNvPr id="377" name="Google Shape;377;p37"/>
          <p:cNvSpPr txBox="1">
            <a:spLocks noGrp="1"/>
          </p:cNvSpPr>
          <p:nvPr>
            <p:ph type="subTitle" idx="1"/>
          </p:nvPr>
        </p:nvSpPr>
        <p:spPr>
          <a:xfrm>
            <a:off x="2990675" y="1710025"/>
            <a:ext cx="4787100" cy="19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Procesorul este conceput să execute operații aritmetice, logice, de control al fluxului și operații specializate de mining, oferind un echilibru între complexitate și funcționalitate pentru aplicații educaționale și demonstrative.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380" name="Google Shape;380;p37"/>
          <p:cNvGrpSpPr/>
          <p:nvPr/>
        </p:nvGrpSpPr>
        <p:grpSpPr>
          <a:xfrm>
            <a:off x="1545110" y="2361296"/>
            <a:ext cx="327366" cy="420913"/>
            <a:chOff x="2353331" y="2090612"/>
            <a:chExt cx="333298" cy="376791"/>
          </a:xfrm>
        </p:grpSpPr>
        <p:sp>
          <p:nvSpPr>
            <p:cNvPr id="381" name="Google Shape;381;p37"/>
            <p:cNvSpPr/>
            <p:nvPr/>
          </p:nvSpPr>
          <p:spPr>
            <a:xfrm>
              <a:off x="2353331" y="2098864"/>
              <a:ext cx="123298" cy="184623"/>
            </a:xfrm>
            <a:custGeom>
              <a:avLst/>
              <a:gdLst/>
              <a:ahLst/>
              <a:cxnLst/>
              <a:rect l="l" t="t" r="r" b="b"/>
              <a:pathLst>
                <a:path w="4363" h="6533" extrusionOk="0">
                  <a:moveTo>
                    <a:pt x="2318" y="1"/>
                  </a:moveTo>
                  <a:lnTo>
                    <a:pt x="153" y="2167"/>
                  </a:lnTo>
                  <a:cubicBezTo>
                    <a:pt x="20" y="2299"/>
                    <a:pt x="0" y="2504"/>
                    <a:pt x="104" y="2660"/>
                  </a:cubicBezTo>
                  <a:lnTo>
                    <a:pt x="2668" y="6533"/>
                  </a:lnTo>
                  <a:cubicBezTo>
                    <a:pt x="2824" y="6339"/>
                    <a:pt x="3037" y="6193"/>
                    <a:pt x="3279" y="6129"/>
                  </a:cubicBezTo>
                  <a:cubicBezTo>
                    <a:pt x="3379" y="6102"/>
                    <a:pt x="3481" y="6089"/>
                    <a:pt x="3582" y="6089"/>
                  </a:cubicBezTo>
                  <a:cubicBezTo>
                    <a:pt x="3712" y="6089"/>
                    <a:pt x="3841" y="6111"/>
                    <a:pt x="3965" y="6154"/>
                  </a:cubicBezTo>
                  <a:cubicBezTo>
                    <a:pt x="4017" y="5884"/>
                    <a:pt x="4161" y="5649"/>
                    <a:pt x="4363" y="5480"/>
                  </a:cubicBezTo>
                  <a:lnTo>
                    <a:pt x="2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2563303" y="2098864"/>
              <a:ext cx="123327" cy="184623"/>
            </a:xfrm>
            <a:custGeom>
              <a:avLst/>
              <a:gdLst/>
              <a:ahLst/>
              <a:cxnLst/>
              <a:rect l="l" t="t" r="r" b="b"/>
              <a:pathLst>
                <a:path w="4364" h="6533" extrusionOk="0">
                  <a:moveTo>
                    <a:pt x="2045" y="1"/>
                  </a:moveTo>
                  <a:lnTo>
                    <a:pt x="1" y="5480"/>
                  </a:lnTo>
                  <a:cubicBezTo>
                    <a:pt x="202" y="5649"/>
                    <a:pt x="348" y="5884"/>
                    <a:pt x="399" y="6154"/>
                  </a:cubicBezTo>
                  <a:cubicBezTo>
                    <a:pt x="524" y="6110"/>
                    <a:pt x="655" y="6089"/>
                    <a:pt x="783" y="6089"/>
                  </a:cubicBezTo>
                  <a:cubicBezTo>
                    <a:pt x="885" y="6089"/>
                    <a:pt x="986" y="6102"/>
                    <a:pt x="1082" y="6128"/>
                  </a:cubicBezTo>
                  <a:cubicBezTo>
                    <a:pt x="1326" y="6193"/>
                    <a:pt x="1539" y="6339"/>
                    <a:pt x="1695" y="6533"/>
                  </a:cubicBezTo>
                  <a:lnTo>
                    <a:pt x="4260" y="2659"/>
                  </a:lnTo>
                  <a:cubicBezTo>
                    <a:pt x="4363" y="2504"/>
                    <a:pt x="4343" y="2299"/>
                    <a:pt x="4212" y="2167"/>
                  </a:cubicBezTo>
                  <a:lnTo>
                    <a:pt x="2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2439326" y="2090612"/>
              <a:ext cx="161308" cy="66270"/>
            </a:xfrm>
            <a:custGeom>
              <a:avLst/>
              <a:gdLst/>
              <a:ahLst/>
              <a:cxnLst/>
              <a:rect l="l" t="t" r="r" b="b"/>
              <a:pathLst>
                <a:path w="5708" h="2345" extrusionOk="0">
                  <a:moveTo>
                    <a:pt x="0" y="1"/>
                  </a:moveTo>
                  <a:lnTo>
                    <a:pt x="879" y="2344"/>
                  </a:lnTo>
                  <a:lnTo>
                    <a:pt x="4829" y="2344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2419827" y="2267972"/>
              <a:ext cx="200279" cy="199431"/>
            </a:xfrm>
            <a:custGeom>
              <a:avLst/>
              <a:gdLst/>
              <a:ahLst/>
              <a:cxnLst/>
              <a:rect l="l" t="t" r="r" b="b"/>
              <a:pathLst>
                <a:path w="7087" h="7057" extrusionOk="0">
                  <a:moveTo>
                    <a:pt x="3544" y="2344"/>
                  </a:moveTo>
                  <a:cubicBezTo>
                    <a:pt x="4190" y="2344"/>
                    <a:pt x="4716" y="2869"/>
                    <a:pt x="4716" y="3516"/>
                  </a:cubicBezTo>
                  <a:cubicBezTo>
                    <a:pt x="4716" y="4162"/>
                    <a:pt x="4190" y="4687"/>
                    <a:pt x="3544" y="4687"/>
                  </a:cubicBezTo>
                  <a:cubicBezTo>
                    <a:pt x="2898" y="4687"/>
                    <a:pt x="2371" y="4162"/>
                    <a:pt x="2371" y="3516"/>
                  </a:cubicBezTo>
                  <a:cubicBezTo>
                    <a:pt x="2371" y="2869"/>
                    <a:pt x="2898" y="2344"/>
                    <a:pt x="3544" y="2344"/>
                  </a:cubicBezTo>
                  <a:close/>
                  <a:moveTo>
                    <a:pt x="2762" y="1"/>
                  </a:moveTo>
                  <a:cubicBezTo>
                    <a:pt x="2546" y="1"/>
                    <a:pt x="2371" y="176"/>
                    <a:pt x="2371" y="391"/>
                  </a:cubicBezTo>
                  <a:lnTo>
                    <a:pt x="2371" y="1056"/>
                  </a:lnTo>
                  <a:cubicBezTo>
                    <a:pt x="2243" y="1118"/>
                    <a:pt x="2119" y="1190"/>
                    <a:pt x="2001" y="1272"/>
                  </a:cubicBezTo>
                  <a:lnTo>
                    <a:pt x="1424" y="938"/>
                  </a:lnTo>
                  <a:cubicBezTo>
                    <a:pt x="1363" y="904"/>
                    <a:pt x="1295" y="886"/>
                    <a:pt x="1226" y="886"/>
                  </a:cubicBezTo>
                  <a:cubicBezTo>
                    <a:pt x="1193" y="886"/>
                    <a:pt x="1160" y="890"/>
                    <a:pt x="1128" y="899"/>
                  </a:cubicBezTo>
                  <a:cubicBezTo>
                    <a:pt x="1027" y="927"/>
                    <a:pt x="942" y="992"/>
                    <a:pt x="890" y="1081"/>
                  </a:cubicBezTo>
                  <a:lnTo>
                    <a:pt x="108" y="2434"/>
                  </a:lnTo>
                  <a:cubicBezTo>
                    <a:pt x="0" y="2621"/>
                    <a:pt x="65" y="2860"/>
                    <a:pt x="253" y="2968"/>
                  </a:cubicBezTo>
                  <a:lnTo>
                    <a:pt x="820" y="3296"/>
                  </a:lnTo>
                  <a:cubicBezTo>
                    <a:pt x="813" y="3369"/>
                    <a:pt x="810" y="3442"/>
                    <a:pt x="810" y="3516"/>
                  </a:cubicBezTo>
                  <a:cubicBezTo>
                    <a:pt x="810" y="3589"/>
                    <a:pt x="813" y="3663"/>
                    <a:pt x="820" y="3735"/>
                  </a:cubicBezTo>
                  <a:lnTo>
                    <a:pt x="253" y="4063"/>
                  </a:lnTo>
                  <a:cubicBezTo>
                    <a:pt x="65" y="4171"/>
                    <a:pt x="0" y="4410"/>
                    <a:pt x="108" y="4597"/>
                  </a:cubicBezTo>
                  <a:lnTo>
                    <a:pt x="890" y="5950"/>
                  </a:lnTo>
                  <a:cubicBezTo>
                    <a:pt x="963" y="6076"/>
                    <a:pt x="1094" y="6144"/>
                    <a:pt x="1228" y="6144"/>
                  </a:cubicBezTo>
                  <a:cubicBezTo>
                    <a:pt x="1295" y="6144"/>
                    <a:pt x="1362" y="6127"/>
                    <a:pt x="1424" y="6093"/>
                  </a:cubicBezTo>
                  <a:lnTo>
                    <a:pt x="2001" y="5760"/>
                  </a:lnTo>
                  <a:cubicBezTo>
                    <a:pt x="2119" y="5842"/>
                    <a:pt x="2243" y="5913"/>
                    <a:pt x="2371" y="5974"/>
                  </a:cubicBezTo>
                  <a:lnTo>
                    <a:pt x="2371" y="6667"/>
                  </a:lnTo>
                  <a:cubicBezTo>
                    <a:pt x="2371" y="6883"/>
                    <a:pt x="2546" y="7056"/>
                    <a:pt x="2762" y="7056"/>
                  </a:cubicBezTo>
                  <a:lnTo>
                    <a:pt x="4325" y="7056"/>
                  </a:lnTo>
                  <a:cubicBezTo>
                    <a:pt x="4541" y="7056"/>
                    <a:pt x="4716" y="6883"/>
                    <a:pt x="4716" y="6667"/>
                  </a:cubicBezTo>
                  <a:lnTo>
                    <a:pt x="4716" y="5974"/>
                  </a:lnTo>
                  <a:cubicBezTo>
                    <a:pt x="4844" y="5913"/>
                    <a:pt x="4968" y="5842"/>
                    <a:pt x="5086" y="5760"/>
                  </a:cubicBezTo>
                  <a:lnTo>
                    <a:pt x="5664" y="6093"/>
                  </a:lnTo>
                  <a:cubicBezTo>
                    <a:pt x="5725" y="6128"/>
                    <a:pt x="5792" y="6145"/>
                    <a:pt x="5859" y="6145"/>
                  </a:cubicBezTo>
                  <a:cubicBezTo>
                    <a:pt x="5992" y="6145"/>
                    <a:pt x="6124" y="6077"/>
                    <a:pt x="6197" y="5950"/>
                  </a:cubicBezTo>
                  <a:lnTo>
                    <a:pt x="6979" y="4597"/>
                  </a:lnTo>
                  <a:cubicBezTo>
                    <a:pt x="7087" y="4410"/>
                    <a:pt x="7023" y="4171"/>
                    <a:pt x="6836" y="4063"/>
                  </a:cubicBezTo>
                  <a:lnTo>
                    <a:pt x="6267" y="3735"/>
                  </a:lnTo>
                  <a:cubicBezTo>
                    <a:pt x="6275" y="3663"/>
                    <a:pt x="6278" y="3589"/>
                    <a:pt x="6278" y="3516"/>
                  </a:cubicBezTo>
                  <a:cubicBezTo>
                    <a:pt x="6278" y="3442"/>
                    <a:pt x="6275" y="3369"/>
                    <a:pt x="6267" y="3296"/>
                  </a:cubicBezTo>
                  <a:lnTo>
                    <a:pt x="6836" y="2968"/>
                  </a:lnTo>
                  <a:cubicBezTo>
                    <a:pt x="7023" y="2860"/>
                    <a:pt x="7087" y="2622"/>
                    <a:pt x="6979" y="2434"/>
                  </a:cubicBezTo>
                  <a:lnTo>
                    <a:pt x="6197" y="1081"/>
                  </a:lnTo>
                  <a:cubicBezTo>
                    <a:pt x="6124" y="955"/>
                    <a:pt x="5993" y="886"/>
                    <a:pt x="5858" y="886"/>
                  </a:cubicBezTo>
                  <a:cubicBezTo>
                    <a:pt x="5792" y="886"/>
                    <a:pt x="5725" y="903"/>
                    <a:pt x="5664" y="938"/>
                  </a:cubicBezTo>
                  <a:lnTo>
                    <a:pt x="5086" y="1272"/>
                  </a:lnTo>
                  <a:cubicBezTo>
                    <a:pt x="4968" y="1190"/>
                    <a:pt x="4844" y="1118"/>
                    <a:pt x="4716" y="1056"/>
                  </a:cubicBezTo>
                  <a:lnTo>
                    <a:pt x="4716" y="391"/>
                  </a:lnTo>
                  <a:cubicBezTo>
                    <a:pt x="4716" y="176"/>
                    <a:pt x="4541" y="1"/>
                    <a:pt x="4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8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8"/>
          <p:cNvSpPr txBox="1">
            <a:spLocks noGrp="1"/>
          </p:cNvSpPr>
          <p:nvPr>
            <p:ph type="title"/>
          </p:nvPr>
        </p:nvSpPr>
        <p:spPr>
          <a:xfrm>
            <a:off x="1093950" y="2879075"/>
            <a:ext cx="69561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ARHITECTURA GENERALĂ</a:t>
            </a:r>
          </a:p>
        </p:txBody>
      </p:sp>
      <p:sp>
        <p:nvSpPr>
          <p:cNvPr id="391" name="Google Shape;391;p38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2.1. Diagrama bloc</a:t>
            </a:r>
          </a:p>
        </p:txBody>
      </p:sp>
      <p:sp>
        <p:nvSpPr>
          <p:cNvPr id="397" name="Google Shape;397;p39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398" name="Google Shape;398;p39"/>
          <p:cNvSpPr txBox="1"/>
          <p:nvPr/>
        </p:nvSpPr>
        <p:spPr>
          <a:xfrm>
            <a:off x="2662950" y="2922200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399" name="Google Shape;399;p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71925" y="1456125"/>
            <a:ext cx="4600162" cy="34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2.2. Principii de funcționare</a:t>
            </a:r>
          </a:p>
        </p:txBody>
      </p:sp>
      <p:sp>
        <p:nvSpPr>
          <p:cNvPr id="405" name="Google Shape;405;p40"/>
          <p:cNvSpPr txBox="1">
            <a:spLocks noGrp="1"/>
          </p:cNvSpPr>
          <p:nvPr>
            <p:ph type="subTitle" idx="2"/>
          </p:nvPr>
        </p:nvSpPr>
        <p:spPr>
          <a:xfrm>
            <a:off x="113225" y="1331075"/>
            <a:ext cx="48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u="sng"/>
              <a:t>Ciclul Fetch-Decode-Execute: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406" name="Google Shape;406;p40"/>
          <p:cNvSpPr txBox="1"/>
          <p:nvPr/>
        </p:nvSpPr>
        <p:spPr>
          <a:xfrm>
            <a:off x="984025" y="1997575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FETCH: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PC –» AR -» Memory -» DR -» IR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DECODE: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analizează opcode-ul din IR[15:10]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EXECUTE: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generează semnalele de control pentru execuția instrucțiunii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2.2. Principii de funcționare</a:t>
            </a:r>
          </a:p>
        </p:txBody>
      </p:sp>
      <p:sp>
        <p:nvSpPr>
          <p:cNvPr id="413" name="Google Shape;413;p41"/>
          <p:cNvSpPr txBox="1"/>
          <p:nvPr/>
        </p:nvSpPr>
        <p:spPr>
          <a:xfrm>
            <a:off x="984025" y="1815725"/>
            <a:ext cx="6363000" cy="25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Execuția unei instrucțiuni durează 3-5 cicluri 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funcție de tipul instrucțiunii: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Instrucțiuni simple (MOV, INC, DEC): 3-4 cicluri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Instrucțiuni aritmetice (ADD, SUB): 4-6 cicluri  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Instrucțiuni complexe (MUL, DIV): 10-25 cicluri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Operații de mining (MINE): 100+ cicluri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2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2"/>
          <p:cNvSpPr txBox="1">
            <a:spLocks noGrp="1"/>
          </p:cNvSpPr>
          <p:nvPr>
            <p:ph type="title"/>
          </p:nvPr>
        </p:nvSpPr>
        <p:spPr>
          <a:xfrm>
            <a:off x="1093950" y="2879075"/>
            <a:ext cx="69561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DESCRIEREA MODULELOR</a:t>
            </a:r>
          </a:p>
        </p:txBody>
      </p:sp>
      <p:sp>
        <p:nvSpPr>
          <p:cNvPr id="420" name="Google Shape;420;p42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3.1. Control Unit (CU)</a:t>
            </a:r>
          </a:p>
        </p:txBody>
      </p:sp>
      <p:sp>
        <p:nvSpPr>
          <p:cNvPr id="426" name="Google Shape;426;p43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427" name="Google Shape;427;p43"/>
          <p:cNvSpPr txBox="1"/>
          <p:nvPr/>
        </p:nvSpPr>
        <p:spPr>
          <a:xfrm>
            <a:off x="1390500" y="1878000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 Unit este inima procesorului, implementată ca o mașină cu stări finite (FSM) cu </a:t>
            </a:r>
            <a:r>
              <a:rPr lang="ro-RO" alt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72</a:t>
            </a: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stări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distincte.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Stări principale</a:t>
            </a:r>
          </a:p>
        </p:txBody>
      </p:sp>
      <p:sp>
        <p:nvSpPr>
          <p:cNvPr id="434" name="Google Shape;434;p44"/>
          <p:cNvSpPr txBox="1">
            <a:spLocks noGrp="1"/>
          </p:cNvSpPr>
          <p:nvPr>
            <p:ph type="subTitle" idx="1"/>
          </p:nvPr>
        </p:nvSpPr>
        <p:spPr>
          <a:xfrm>
            <a:off x="896325" y="1245475"/>
            <a:ext cx="7895100" cy="355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LOAD_ADDR</a:t>
            </a:r>
            <a:r>
              <a:rPr lang="en-GB" sz="1600"/>
              <a:t>, </a:t>
            </a:r>
            <a:r>
              <a:rPr lang="en-GB" sz="1600" b="1"/>
              <a:t> LOAD_INSTR</a:t>
            </a:r>
            <a:r>
              <a:rPr lang="en-GB" sz="1600"/>
              <a:t>,  </a:t>
            </a:r>
            <a:r>
              <a:rPr lang="en-GB" sz="1600" b="1"/>
              <a:t>DECODE </a:t>
            </a:r>
            <a:r>
              <a:rPr lang="en-GB" sz="1600"/>
              <a:t> - ciclul de fetch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HALT_STATE</a:t>
            </a:r>
            <a:r>
              <a:rPr lang="en-GB" sz="1600"/>
              <a:t>  - oprirea procesorului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LOAD_1/2/3</a:t>
            </a:r>
            <a:r>
              <a:rPr lang="en-GB" sz="1600"/>
              <a:t>  - încărcarea datelor din memorie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STORE_1/2/3 </a:t>
            </a:r>
            <a:r>
              <a:rPr lang="en-GB" sz="1600"/>
              <a:t> - salvarea datelor în memorie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BRA_1</a:t>
            </a:r>
            <a:r>
              <a:rPr lang="en-GB" sz="1600"/>
              <a:t>,  </a:t>
            </a:r>
            <a:r>
              <a:rPr lang="en-GB" sz="1600" b="1"/>
              <a:t>BRZ_CHECK/TAKE/SKIP</a:t>
            </a:r>
            <a:r>
              <a:rPr lang="en-GB" sz="1600"/>
              <a:t>  - instrucțiuni de salt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PUSH_1/2/3</a:t>
            </a:r>
            <a:r>
              <a:rPr lang="en-GB" sz="1600"/>
              <a:t>,  </a:t>
            </a:r>
            <a:r>
              <a:rPr lang="en-GB" sz="1600" b="1"/>
              <a:t>RET_1/2/3/4/5</a:t>
            </a:r>
            <a:r>
              <a:rPr lang="en-GB" sz="1600"/>
              <a:t>  - operații cu stiva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ALU_LOAD_OPC/OP1/OP2</a:t>
            </a:r>
            <a:r>
              <a:rPr lang="en-GB" sz="1600"/>
              <a:t>,  </a:t>
            </a:r>
            <a:r>
              <a:rPr lang="en-GB" sz="1600" b="1"/>
              <a:t>ALU_WAIT</a:t>
            </a:r>
            <a:r>
              <a:rPr lang="en-GB" sz="1600"/>
              <a:t>,  </a:t>
            </a:r>
            <a:r>
              <a:rPr lang="en-GB" sz="1600" b="1"/>
              <a:t>ALU_GET_RESULT</a:t>
            </a:r>
            <a:r>
              <a:rPr lang="en-GB" sz="1600"/>
              <a:t>  - operații ALU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MINE_START</a:t>
            </a:r>
            <a:r>
              <a:rPr lang="en-GB" sz="1600"/>
              <a:t>,  </a:t>
            </a:r>
            <a:r>
              <a:rPr lang="en-GB" sz="1600" b="1"/>
              <a:t>MINE_WAIT</a:t>
            </a:r>
            <a:r>
              <a:rPr lang="en-GB" sz="1600"/>
              <a:t>,  </a:t>
            </a:r>
            <a:r>
              <a:rPr lang="en-GB" sz="1600" b="1"/>
              <a:t>MINE_GET_RESULT</a:t>
            </a:r>
            <a:r>
              <a:rPr lang="en-GB" sz="1600"/>
              <a:t>  - operații de mining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5"/>
          <p:cNvSpPr txBox="1">
            <a:spLocks noGrp="1"/>
          </p:cNvSpPr>
          <p:nvPr>
            <p:ph type="title"/>
          </p:nvPr>
        </p:nvSpPr>
        <p:spPr>
          <a:xfrm>
            <a:off x="720000" y="258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Semnale de control generate</a:t>
            </a:r>
          </a:p>
        </p:txBody>
      </p:sp>
      <p:sp>
        <p:nvSpPr>
          <p:cNvPr id="443" name="Google Shape;443;p45"/>
          <p:cNvSpPr txBox="1">
            <a:spLocks noGrp="1"/>
          </p:cNvSpPr>
          <p:nvPr>
            <p:ph type="subTitle" idx="1"/>
          </p:nvPr>
        </p:nvSpPr>
        <p:spPr>
          <a:xfrm>
            <a:off x="896300" y="1034025"/>
            <a:ext cx="7895100" cy="41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ldAR</a:t>
            </a:r>
            <a:r>
              <a:rPr lang="en-GB" sz="1600" dirty="0"/>
              <a:t>,  </a:t>
            </a:r>
            <a:r>
              <a:rPr lang="en-GB" sz="1600" b="1" dirty="0" err="1"/>
              <a:t>condAR</a:t>
            </a:r>
            <a:r>
              <a:rPr lang="en-GB" sz="1600" b="1" dirty="0"/>
              <a:t>[1:0]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Address Register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ldDR</a:t>
            </a:r>
            <a:r>
              <a:rPr lang="en-GB" sz="1600" dirty="0"/>
              <a:t>,  </a:t>
            </a:r>
            <a:r>
              <a:rPr lang="en-GB" sz="1600" b="1" dirty="0" err="1"/>
              <a:t>condDR</a:t>
            </a:r>
            <a:r>
              <a:rPr lang="en-GB" sz="1600" b="1" dirty="0"/>
              <a:t>[2:0]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Data Register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ldIR</a:t>
            </a:r>
            <a:r>
              <a:rPr lang="en-GB" sz="1600" dirty="0"/>
              <a:t>,  </a:t>
            </a:r>
            <a:r>
              <a:rPr lang="en-GB" sz="1600" b="1" dirty="0" err="1"/>
              <a:t>incPC</a:t>
            </a:r>
            <a:r>
              <a:rPr lang="en-GB" sz="1600" dirty="0"/>
              <a:t>, </a:t>
            </a:r>
            <a:r>
              <a:rPr lang="en-GB" sz="1600" b="1" dirty="0"/>
              <a:t> </a:t>
            </a:r>
            <a:r>
              <a:rPr lang="en-GB" sz="1600" b="1" dirty="0" err="1"/>
              <a:t>ldPC</a:t>
            </a:r>
            <a:r>
              <a:rPr lang="en-GB" sz="1600" dirty="0"/>
              <a:t>,  </a:t>
            </a:r>
            <a:r>
              <a:rPr lang="en-GB" sz="1600" b="1" dirty="0" err="1"/>
              <a:t>ldPCfromDR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Program Counter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ldX</a:t>
            </a:r>
            <a:r>
              <a:rPr lang="en-GB" sz="1600" dirty="0"/>
              <a:t>,  </a:t>
            </a:r>
            <a:r>
              <a:rPr lang="en-GB" sz="1600" b="1" dirty="0" err="1"/>
              <a:t>ldY</a:t>
            </a:r>
            <a:r>
              <a:rPr lang="en-GB" sz="1600" dirty="0"/>
              <a:t>, </a:t>
            </a:r>
            <a:r>
              <a:rPr lang="en-GB" sz="1600" b="1" dirty="0"/>
              <a:t> </a:t>
            </a:r>
            <a:r>
              <a:rPr lang="en-GB" sz="1600" b="1" dirty="0" err="1"/>
              <a:t>ldA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</a:t>
            </a:r>
            <a:r>
              <a:rPr lang="en-GB" sz="1600" dirty="0" err="1"/>
              <a:t>registrele</a:t>
            </a:r>
            <a:r>
              <a:rPr lang="en-GB" sz="1600" dirty="0"/>
              <a:t> generale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memWR</a:t>
            </a:r>
            <a:r>
              <a:rPr lang="en-GB" sz="1600" dirty="0"/>
              <a:t>  - </a:t>
            </a:r>
            <a:r>
              <a:rPr lang="en-GB" sz="1600" dirty="0" err="1"/>
              <a:t>scriere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memorie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ldFLAG</a:t>
            </a:r>
            <a:r>
              <a:rPr lang="en-GB" sz="1600" dirty="0"/>
              <a:t>  - </a:t>
            </a:r>
            <a:r>
              <a:rPr lang="en-GB" sz="1600" dirty="0" err="1"/>
              <a:t>actualizare</a:t>
            </a:r>
            <a:r>
              <a:rPr lang="en-GB" sz="1600" dirty="0"/>
              <a:t> flags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incSP</a:t>
            </a:r>
            <a:r>
              <a:rPr lang="en-GB" sz="1600" dirty="0"/>
              <a:t>,  </a:t>
            </a:r>
            <a:r>
              <a:rPr lang="en-GB" sz="1600" b="1" dirty="0" err="1"/>
              <a:t>decSP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Stack Pointer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alu_start</a:t>
            </a:r>
            <a:r>
              <a:rPr lang="en-GB" sz="1600" dirty="0"/>
              <a:t>,  </a:t>
            </a:r>
            <a:r>
              <a:rPr lang="en-GB" sz="1600" b="1" dirty="0" err="1"/>
              <a:t>condALU</a:t>
            </a:r>
            <a:r>
              <a:rPr lang="en-GB" sz="1600" b="1" dirty="0"/>
              <a:t>[1:0]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ALU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mining_start</a:t>
            </a:r>
            <a:r>
              <a:rPr lang="en-GB" sz="1600" dirty="0"/>
              <a:t>,  </a:t>
            </a:r>
            <a:r>
              <a:rPr lang="en-GB" sz="1600" b="1" dirty="0" err="1"/>
              <a:t>use_mining_result</a:t>
            </a:r>
            <a:r>
              <a:rPr lang="en-GB" sz="1600" dirty="0"/>
              <a:t>  - control </a:t>
            </a:r>
            <a:r>
              <a:rPr lang="en-GB" sz="1600" dirty="0" err="1"/>
              <a:t>pentru</a:t>
            </a:r>
            <a:r>
              <a:rPr lang="en-GB" sz="1600" dirty="0"/>
              <a:t> mining core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3.2. Program Counter (PC)</a:t>
            </a:r>
          </a:p>
        </p:txBody>
      </p:sp>
      <p:sp>
        <p:nvSpPr>
          <p:cNvPr id="451" name="Google Shape;451;p46"/>
          <p:cNvSpPr txBox="1">
            <a:spLocks noGrp="1"/>
          </p:cNvSpPr>
          <p:nvPr>
            <p:ph type="subTitle" idx="2"/>
          </p:nvPr>
        </p:nvSpPr>
        <p:spPr>
          <a:xfrm>
            <a:off x="1246085" y="2115405"/>
            <a:ext cx="6653100" cy="3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Operații: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Incrementare automată după fetch:  PC = PC + 1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Încărcare directă pentru salturi:  PC = imm[9:0]  (extins la 16 biți)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Încărcare din DR pentru RET:  PC = DR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Menținere valoare pentru alte operații</a:t>
            </a: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 </a:t>
            </a:r>
            <a:endParaRPr sz="2000"/>
          </a:p>
        </p:txBody>
      </p:sp>
      <p:sp>
        <p:nvSpPr>
          <p:cNvPr id="452" name="Google Shape;452;p46"/>
          <p:cNvSpPr txBox="1"/>
          <p:nvPr/>
        </p:nvSpPr>
        <p:spPr>
          <a:xfrm>
            <a:off x="289650" y="1392425"/>
            <a:ext cx="85647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ține evidența adresei </a:t>
            </a:r>
            <a:r>
              <a:rPr lang="ro-RO" alt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următoarei instrucțiuni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7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Multiplexare</a:t>
            </a:r>
          </a:p>
        </p:txBody>
      </p:sp>
      <p:sp>
        <p:nvSpPr>
          <p:cNvPr id="459" name="Google Shape;459;p47"/>
          <p:cNvSpPr txBox="1">
            <a:spLocks noGrp="1"/>
          </p:cNvSpPr>
          <p:nvPr>
            <p:ph type="subTitle" idx="1"/>
          </p:nvPr>
        </p:nvSpPr>
        <p:spPr>
          <a:xfrm>
            <a:off x="624450" y="1620700"/>
            <a:ext cx="7895100" cy="22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/>
              <a:t>verilog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00: PC_hold (menține valoarea)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01: PC_inc (incrementare)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10: PC_imm (salt cu valoare imediată)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11: PC_dr (salt cu valoare din DR)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3.3. Address Register (AR)</a:t>
            </a:r>
          </a:p>
        </p:txBody>
      </p:sp>
      <p:sp>
        <p:nvSpPr>
          <p:cNvPr id="467" name="Google Shape;467;p48"/>
          <p:cNvSpPr txBox="1">
            <a:spLocks noGrp="1"/>
          </p:cNvSpPr>
          <p:nvPr>
            <p:ph type="subTitle" idx="2"/>
          </p:nvPr>
        </p:nvSpPr>
        <p:spPr>
          <a:xfrm>
            <a:off x="1406100" y="2840100"/>
            <a:ext cx="6331800" cy="21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Surse de adrese: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PC - pentru fetch instrucțiuni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SP - pentru operații cu stiva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Valoare imediată - pentru LD/ST</a:t>
            </a: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u="sng"/>
          </a:p>
        </p:txBody>
      </p:sp>
      <p:sp>
        <p:nvSpPr>
          <p:cNvPr id="468" name="Google Shape;468;p48"/>
          <p:cNvSpPr txBox="1"/>
          <p:nvPr/>
        </p:nvSpPr>
        <p:spPr>
          <a:xfrm>
            <a:off x="289650" y="1455925"/>
            <a:ext cx="85647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care ține adresa curentă pentru accesul în memorie. Doar cei 10 biți inferiori </a:t>
            </a: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(AR[9:0])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sunt </a:t>
            </a: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folosiți efectiv pentru adresare.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3.4. Data Register (DR)</a:t>
            </a:r>
          </a:p>
        </p:txBody>
      </p:sp>
      <p:sp>
        <p:nvSpPr>
          <p:cNvPr id="474" name="Google Shape;474;p49"/>
          <p:cNvSpPr txBox="1">
            <a:spLocks noGrp="1"/>
          </p:cNvSpPr>
          <p:nvPr>
            <p:ph type="subTitle" idx="2"/>
          </p:nvPr>
        </p:nvSpPr>
        <p:spPr>
          <a:xfrm>
            <a:off x="1406100" y="2153475"/>
            <a:ext cx="6331800" cy="25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Funcții: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Primește date din memorie (read)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Furnizează date către memorie (write)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Transferă date între registre (X, Y, PC)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Buffer pentru valori imediate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u="sng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u="sng"/>
          </a:p>
        </p:txBody>
      </p:sp>
      <p:sp>
        <p:nvSpPr>
          <p:cNvPr id="475" name="Google Shape;475;p49"/>
          <p:cNvSpPr txBox="1"/>
          <p:nvPr/>
        </p:nvSpPr>
        <p:spPr>
          <a:xfrm>
            <a:off x="289650" y="1455925"/>
            <a:ext cx="856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Buffer de 16 biți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între memorie și procesor.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3.5. Instruction Register (IR)</a:t>
            </a:r>
          </a:p>
        </p:txBody>
      </p:sp>
      <p:sp>
        <p:nvSpPr>
          <p:cNvPr id="481" name="Google Shape;481;p50"/>
          <p:cNvSpPr txBox="1">
            <a:spLocks noGrp="1"/>
          </p:cNvSpPr>
          <p:nvPr>
            <p:ph type="subTitle" idx="2"/>
          </p:nvPr>
        </p:nvSpPr>
        <p:spPr>
          <a:xfrm>
            <a:off x="1223250" y="2028625"/>
            <a:ext cx="6697500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Format instrucțiune: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|OpCode|RegAddr|Data|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Opcode [15:10]: 6 biți pentru cod operație (64 instrucțiuni posibile)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RegAddr [9]: Selector registru (0 = X, 1 = Y)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Data [8:0]: Valoare imediată sau adresă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482" name="Google Shape;482;p50"/>
          <p:cNvSpPr txBox="1"/>
          <p:nvPr/>
        </p:nvSpPr>
        <p:spPr>
          <a:xfrm>
            <a:off x="289650" y="1455925"/>
            <a:ext cx="876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păstrează instrucțiunea curentă în execuție.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1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3.6. Registre generale (X, Y, A)</a:t>
            </a:r>
          </a:p>
        </p:txBody>
      </p:sp>
      <p:sp>
        <p:nvSpPr>
          <p:cNvPr id="489" name="Google Shape;489;p51"/>
          <p:cNvSpPr txBox="1"/>
          <p:nvPr/>
        </p:nvSpPr>
        <p:spPr>
          <a:xfrm>
            <a:off x="258400" y="1596650"/>
            <a:ext cx="8767500" cy="26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Registrul X și Y: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Registre general-purpose de 16 biți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Suportă  operații de incrementare/decrementare directă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Folosite ca operanzi pentru ALU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X și Y pot fi folosiți pentru operații de mining (data și nonce)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3.6. Registre generale (X, Y, A)</a:t>
            </a:r>
          </a:p>
        </p:txBody>
      </p:sp>
      <p:sp>
        <p:nvSpPr>
          <p:cNvPr id="496" name="Google Shape;496;p52"/>
          <p:cNvSpPr txBox="1"/>
          <p:nvPr/>
        </p:nvSpPr>
        <p:spPr>
          <a:xfrm>
            <a:off x="258400" y="1596650"/>
            <a:ext cx="8767500" cy="26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Registrul A (Acumulator):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Primește rezultatele operațiilor ALU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Poate fi încărcat cu valori imediate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Folosit ca target pentru operațiile de mining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3.7. Stack Pointer (SP)</a:t>
            </a:r>
          </a:p>
        </p:txBody>
      </p:sp>
      <p:sp>
        <p:nvSpPr>
          <p:cNvPr id="503" name="Google Shape;503;p53"/>
          <p:cNvSpPr txBox="1"/>
          <p:nvPr/>
        </p:nvSpPr>
        <p:spPr>
          <a:xfrm>
            <a:off x="258400" y="1596650"/>
            <a:ext cx="8767500" cy="8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care indică vârful stivei, inițializat la 0x3FF (sfârșitul memoriei).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04" name="Google Shape;504;p53"/>
          <p:cNvSpPr txBox="1"/>
          <p:nvPr/>
        </p:nvSpPr>
        <p:spPr>
          <a:xfrm>
            <a:off x="1366900" y="2522250"/>
            <a:ext cx="6550500" cy="23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Operații: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 incSP : SP = SP + 1 (la POP/RET)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 decSP : SP = SP - 1 (la PUSH)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Convenție: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Stiva crește în jos (de la adrese mari către adrese mici).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3.8. Flags Register </a:t>
            </a:r>
          </a:p>
        </p:txBody>
      </p:sp>
      <p:sp>
        <p:nvSpPr>
          <p:cNvPr id="511" name="Google Shape;511;p54"/>
          <p:cNvSpPr txBox="1"/>
          <p:nvPr/>
        </p:nvSpPr>
        <p:spPr>
          <a:xfrm>
            <a:off x="376500" y="1706275"/>
            <a:ext cx="8767500" cy="3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 flag-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uri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stare (1 bit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fiecare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Z (Zero): 1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dacă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rezultatul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este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0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N (Negative): 1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dacă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bit-ul de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(MSB)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este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1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 (Carry): 1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dacă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există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transport la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adunare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/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împrumut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scădere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O (Overflow): 1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dacă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există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overflow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aritmetic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complement 2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3.9. Memoria RAM</a:t>
            </a:r>
          </a:p>
        </p:txBody>
      </p:sp>
      <p:sp>
        <p:nvSpPr>
          <p:cNvPr id="517" name="Google Shape;517;p55"/>
          <p:cNvSpPr txBox="1">
            <a:spLocks noGrp="1"/>
          </p:cNvSpPr>
          <p:nvPr>
            <p:ph type="subTitle" idx="2"/>
          </p:nvPr>
        </p:nvSpPr>
        <p:spPr>
          <a:xfrm>
            <a:off x="720000" y="1565575"/>
            <a:ext cx="4566300" cy="29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 dirty="0" err="1"/>
              <a:t>Specificații</a:t>
            </a:r>
            <a:r>
              <a:rPr lang="en-GB" sz="2000" u="sng" dirty="0"/>
              <a:t>:</a:t>
            </a:r>
            <a:endParaRPr sz="2000" u="sng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Capacitate: 2 KB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</a:t>
            </a:r>
            <a:r>
              <a:rPr lang="en-GB" sz="2000" dirty="0" err="1"/>
              <a:t>Adresare</a:t>
            </a:r>
            <a:r>
              <a:rPr lang="en-GB" sz="2000" dirty="0"/>
              <a:t>: 10 </a:t>
            </a:r>
            <a:r>
              <a:rPr lang="en-GB" sz="2000" dirty="0" err="1"/>
              <a:t>biți</a:t>
            </a:r>
            <a:r>
              <a:rPr lang="en-GB" sz="2000" dirty="0"/>
              <a:t> (</a:t>
            </a:r>
            <a:r>
              <a:rPr lang="en-GB" sz="2000" dirty="0" err="1"/>
              <a:t>addr</a:t>
            </a:r>
            <a:r>
              <a:rPr lang="en-GB" sz="2000" dirty="0"/>
              <a:t>[9:0])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</a:t>
            </a:r>
            <a:r>
              <a:rPr lang="en-GB" sz="2000" dirty="0" err="1"/>
              <a:t>Acces</a:t>
            </a:r>
            <a:r>
              <a:rPr lang="en-GB" sz="2000" dirty="0"/>
              <a:t>: </a:t>
            </a:r>
            <a:r>
              <a:rPr lang="en-GB" sz="2000" dirty="0" err="1"/>
              <a:t>Sincron</a:t>
            </a:r>
            <a:r>
              <a:rPr lang="en-GB" sz="2000" dirty="0"/>
              <a:t> cu clock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</a:t>
            </a:r>
            <a:r>
              <a:rPr lang="en-GB" sz="2000" dirty="0" err="1"/>
              <a:t>Inițializare</a:t>
            </a:r>
            <a:r>
              <a:rPr lang="en-GB" sz="2000" dirty="0"/>
              <a:t>: din </a:t>
            </a:r>
            <a:r>
              <a:rPr lang="en-GB" sz="2000" dirty="0" err="1"/>
              <a:t>fișier</a:t>
            </a:r>
            <a:r>
              <a:rPr lang="en-GB" sz="2000" dirty="0"/>
              <a:t>  </a:t>
            </a:r>
            <a:r>
              <a:rPr lang="en-GB" sz="2000" dirty="0" err="1"/>
              <a:t>data_bin.txt</a:t>
            </a:r>
            <a:r>
              <a:rPr lang="en-GB" sz="2000" dirty="0"/>
              <a:t> 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u="sng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sp>
        <p:nvSpPr>
          <p:cNvPr id="518" name="Google Shape;518;p55"/>
          <p:cNvSpPr txBox="1"/>
          <p:nvPr/>
        </p:nvSpPr>
        <p:spPr>
          <a:xfrm>
            <a:off x="2431475" y="5333075"/>
            <a:ext cx="876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 txBox="1">
            <a:spLocks noGrp="1"/>
          </p:cNvSpPr>
          <p:nvPr>
            <p:ph type="title"/>
          </p:nvPr>
        </p:nvSpPr>
        <p:spPr>
          <a:xfrm>
            <a:off x="720000" y="508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3.10. ALU (Unitatea Aritmetico-Logică)</a:t>
            </a:r>
          </a:p>
        </p:txBody>
      </p:sp>
      <p:sp>
        <p:nvSpPr>
          <p:cNvPr id="526" name="Google Shape;526;p56"/>
          <p:cNvSpPr txBox="1"/>
          <p:nvPr/>
        </p:nvSpPr>
        <p:spPr>
          <a:xfrm>
            <a:off x="258400" y="1135563"/>
            <a:ext cx="87675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ALU complexă cu suport pentru operații pe 16 biți.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27" name="Google Shape;527;p56"/>
          <p:cNvSpPr txBox="1"/>
          <p:nvPr/>
        </p:nvSpPr>
        <p:spPr>
          <a:xfrm>
            <a:off x="1078600" y="1454907"/>
            <a:ext cx="7127100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Componente</a:t>
            </a:r>
            <a:r>
              <a:rPr lang="en-GB" sz="2000" u="sng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interne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(17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carry), Q (16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), M (16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), Q0 (1 bit)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Counter-e: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CNTM (3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), CNTD (4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Unități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specializate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PBO (Parallel Bit Operations), Shifter Unit, SRT4_PLA (division)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 Unit intern: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mașină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stări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complexe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u="sng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2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7"/>
          <p:cNvSpPr txBox="1">
            <a:spLocks noGrp="1"/>
          </p:cNvSpPr>
          <p:nvPr>
            <p:ph type="title"/>
          </p:nvPr>
        </p:nvSpPr>
        <p:spPr>
          <a:xfrm>
            <a:off x="720000" y="508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3.11. Mining Core</a:t>
            </a:r>
          </a:p>
        </p:txBody>
      </p:sp>
      <p:sp>
        <p:nvSpPr>
          <p:cNvPr id="534" name="Google Shape;534;p57"/>
          <p:cNvSpPr txBox="1"/>
          <p:nvPr/>
        </p:nvSpPr>
        <p:spPr>
          <a:xfrm>
            <a:off x="258400" y="1260651"/>
            <a:ext cx="87675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 specializat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 operații de mining bazate pe SHA-256 simplificat.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1078600" y="2339775"/>
            <a:ext cx="71271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Arhitectură: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- 8 registre de stare: a, b, c, d, e, f, g, h (16 biți fiecare)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- 16 constante K[0:15] (inspirate din SHA-256)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- 16 cuvinte de mesaj W[0:15]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8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Funcționare</a:t>
            </a:r>
          </a:p>
        </p:txBody>
      </p:sp>
      <p:sp>
        <p:nvSpPr>
          <p:cNvPr id="542" name="Google Shape;542;p58"/>
          <p:cNvSpPr txBox="1">
            <a:spLocks noGrp="1"/>
          </p:cNvSpPr>
          <p:nvPr>
            <p:ph type="subTitle" idx="1"/>
          </p:nvPr>
        </p:nvSpPr>
        <p:spPr>
          <a:xfrm>
            <a:off x="624450" y="1252900"/>
            <a:ext cx="7895100" cy="32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1. </a:t>
            </a:r>
            <a:r>
              <a:rPr lang="en-GB" sz="1600" b="1"/>
              <a:t>INIT: </a:t>
            </a:r>
            <a:r>
              <a:rPr lang="en-GB" sz="1600"/>
              <a:t>Inițializează registrele cu constante H0-H7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2. </a:t>
            </a:r>
            <a:r>
              <a:rPr lang="en-GB" sz="1600" b="1"/>
              <a:t>COMPUTE:</a:t>
            </a:r>
            <a:r>
              <a:rPr lang="en-GB" sz="1600"/>
              <a:t> Execută 16 runde de compresie SHA-256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3. </a:t>
            </a:r>
            <a:r>
              <a:rPr lang="en-GB" sz="1600" b="1"/>
              <a:t>CHECK: </a:t>
            </a:r>
            <a:r>
              <a:rPr lang="en-GB" sz="1600"/>
              <a:t>Verifică dacă hash &lt; target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4. </a:t>
            </a:r>
            <a:r>
              <a:rPr lang="en-GB" sz="1600" b="1"/>
              <a:t>DONE: </a:t>
            </a:r>
            <a:r>
              <a:rPr lang="en-GB" sz="1600"/>
              <a:t>Returnează hash și nonce găsit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u="sng"/>
              <a:t>Formula hash:</a:t>
            </a:r>
            <a:endParaRPr sz="16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   </a:t>
            </a:r>
            <a:r>
              <a:rPr lang="en-GB" sz="1600" b="1"/>
              <a:t>verilog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hash_out = (H0 + a) ^ (H4 + e)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9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Intrări/ Ieșiri</a:t>
            </a:r>
          </a:p>
        </p:txBody>
      </p:sp>
      <p:sp>
        <p:nvSpPr>
          <p:cNvPr id="551" name="Google Shape;551;p59"/>
          <p:cNvSpPr txBox="1">
            <a:spLocks noGrp="1"/>
          </p:cNvSpPr>
          <p:nvPr>
            <p:ph type="subTitle" idx="1"/>
          </p:nvPr>
        </p:nvSpPr>
        <p:spPr>
          <a:xfrm>
            <a:off x="624450" y="1391425"/>
            <a:ext cx="7895100" cy="25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data_in</a:t>
            </a:r>
            <a:r>
              <a:rPr lang="en-GB" sz="1600" b="1" dirty="0"/>
              <a:t> </a:t>
            </a:r>
            <a:r>
              <a:rPr lang="en-GB" sz="1600" dirty="0"/>
              <a:t>: Date de hash-</a:t>
            </a:r>
            <a:r>
              <a:rPr lang="en-GB" sz="1600" dirty="0" err="1"/>
              <a:t>uit</a:t>
            </a:r>
            <a:r>
              <a:rPr lang="en-GB" sz="1600" dirty="0"/>
              <a:t> (din X)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nonce_in</a:t>
            </a:r>
            <a:r>
              <a:rPr lang="en-GB" sz="1600" dirty="0"/>
              <a:t> : Nonce </a:t>
            </a:r>
            <a:r>
              <a:rPr lang="en-GB" sz="1600" dirty="0" err="1"/>
              <a:t>inițial</a:t>
            </a:r>
            <a:r>
              <a:rPr lang="en-GB" sz="1600" dirty="0"/>
              <a:t> (din Y)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/>
              <a:t>target</a:t>
            </a:r>
            <a:r>
              <a:rPr lang="en-GB" sz="1600" dirty="0"/>
              <a:t> : </a:t>
            </a:r>
            <a:r>
              <a:rPr lang="en-GB" sz="1600" dirty="0" err="1"/>
              <a:t>Valoarea</a:t>
            </a:r>
            <a:r>
              <a:rPr lang="en-GB" sz="1600" dirty="0"/>
              <a:t> </a:t>
            </a:r>
            <a:r>
              <a:rPr lang="en-GB" sz="1600" dirty="0" err="1"/>
              <a:t>țintă</a:t>
            </a:r>
            <a:r>
              <a:rPr lang="en-GB" sz="1600" dirty="0"/>
              <a:t> (din A)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hash_out</a:t>
            </a:r>
            <a:r>
              <a:rPr lang="en-GB" sz="1600" dirty="0"/>
              <a:t> : Hash </a:t>
            </a:r>
            <a:r>
              <a:rPr lang="en-GB" sz="1600" dirty="0" err="1"/>
              <a:t>rezultat</a:t>
            </a:r>
            <a:r>
              <a:rPr lang="en-GB" sz="1600" dirty="0"/>
              <a:t> (</a:t>
            </a:r>
            <a:r>
              <a:rPr lang="en-GB" sz="1600" dirty="0" err="1"/>
              <a:t>către</a:t>
            </a:r>
            <a:r>
              <a:rPr lang="en-GB" sz="1600" dirty="0"/>
              <a:t> A)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-  </a:t>
            </a:r>
            <a:r>
              <a:rPr lang="en-GB" sz="1600" b="1" dirty="0" err="1"/>
              <a:t>result_nonce</a:t>
            </a:r>
            <a:r>
              <a:rPr lang="en-GB" sz="1600" dirty="0"/>
              <a:t> : Nonce </a:t>
            </a:r>
            <a:r>
              <a:rPr lang="en-GB" sz="1600" dirty="0" err="1"/>
              <a:t>găsit</a:t>
            </a:r>
            <a:r>
              <a:rPr lang="en-GB" sz="1600" dirty="0"/>
              <a:t> (</a:t>
            </a:r>
            <a:r>
              <a:rPr lang="en-GB" sz="1600" dirty="0" err="1"/>
              <a:t>către</a:t>
            </a:r>
            <a:r>
              <a:rPr lang="en-GB" sz="1600" dirty="0"/>
              <a:t> X)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60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0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Setul de instrucțiuni</a:t>
            </a:r>
          </a:p>
        </p:txBody>
      </p:sp>
      <p:sp>
        <p:nvSpPr>
          <p:cNvPr id="560" name="Google Shape;560;p60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Instrucțiuni de Control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A28BFA-4F6D-9E39-1864-0B0A5F14C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632240"/>
              </p:ext>
            </p:extLst>
          </p:nvPr>
        </p:nvGraphicFramePr>
        <p:xfrm>
          <a:off x="713225" y="1208226"/>
          <a:ext cx="7717501" cy="2719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278">
                  <a:extLst>
                    <a:ext uri="{9D8B030D-6E8A-4147-A177-3AD203B41FA5}">
                      <a16:colId xmlns:a16="http://schemas.microsoft.com/office/drawing/2014/main" val="3875912157"/>
                    </a:ext>
                  </a:extLst>
                </a:gridCol>
                <a:gridCol w="1528448">
                  <a:extLst>
                    <a:ext uri="{9D8B030D-6E8A-4147-A177-3AD203B41FA5}">
                      <a16:colId xmlns:a16="http://schemas.microsoft.com/office/drawing/2014/main" val="1859637568"/>
                    </a:ext>
                  </a:extLst>
                </a:gridCol>
                <a:gridCol w="1418917">
                  <a:extLst>
                    <a:ext uri="{9D8B030D-6E8A-4147-A177-3AD203B41FA5}">
                      <a16:colId xmlns:a16="http://schemas.microsoft.com/office/drawing/2014/main" val="2144442580"/>
                    </a:ext>
                  </a:extLst>
                </a:gridCol>
                <a:gridCol w="3240858">
                  <a:extLst>
                    <a:ext uri="{9D8B030D-6E8A-4147-A177-3AD203B41FA5}">
                      <a16:colId xmlns:a16="http://schemas.microsoft.com/office/drawing/2014/main" val="814743002"/>
                    </a:ext>
                  </a:extLst>
                </a:gridCol>
              </a:tblGrid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Mnemonic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Opcode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Data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Descriere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726986161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END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000000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xxxxxxxxx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Oprește procesorul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1006968225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LD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000001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addr</a:t>
                      </a:r>
                      <a:r>
                        <a:rPr lang="en-US" sz="1400" kern="100" dirty="0">
                          <a:effectLst/>
                        </a:rPr>
                        <a:t>[</a:t>
                      </a:r>
                      <a:r>
                        <a:rPr lang="ro-RO" sz="1400" kern="100" dirty="0">
                          <a:effectLst/>
                        </a:rPr>
                        <a:t>8</a:t>
                      </a:r>
                      <a:r>
                        <a:rPr lang="en-US" sz="1400" kern="100" dirty="0">
                          <a:effectLst/>
                        </a:rPr>
                        <a:t>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Încarcă din memorie în X/Y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647921309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000010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addr</a:t>
                      </a:r>
                      <a:r>
                        <a:rPr lang="en-US" sz="1400" kern="100" dirty="0">
                          <a:effectLst/>
                        </a:rPr>
                        <a:t>[</a:t>
                      </a:r>
                      <a:r>
                        <a:rPr lang="ro-RO" sz="1400" kern="100" dirty="0">
                          <a:effectLst/>
                        </a:rPr>
                        <a:t>8</a:t>
                      </a:r>
                      <a:r>
                        <a:rPr lang="en-US" sz="1400" kern="100" dirty="0">
                          <a:effectLst/>
                        </a:rPr>
                        <a:t>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Salvează X/Y în memorie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345156854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BRA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000011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addr[9:0]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Salt necondiționat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358536243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BRZ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000100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addr[9:0]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Salt dacă Z = 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2116079313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BRN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000101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addr[9:0]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Salt dacă N = 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446047678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BRC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000110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addr[9:0]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Salt dacă C = 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1086492611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BRO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000111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addr[9:0]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Salt </a:t>
                      </a:r>
                      <a:r>
                        <a:rPr lang="en-US" sz="1400" kern="100" dirty="0" err="1">
                          <a:effectLst/>
                        </a:rPr>
                        <a:t>dacă</a:t>
                      </a:r>
                      <a:r>
                        <a:rPr lang="en-US" sz="1400" kern="100" dirty="0">
                          <a:effectLst/>
                        </a:rPr>
                        <a:t> O = 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3107010410"/>
                  </a:ext>
                </a:extLst>
              </a:tr>
              <a:tr h="4058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JMP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001000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</a:rPr>
                        <a:t>addr[9:0]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Salt cu salvare PC (folosește PUSH)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4277210367"/>
                  </a:ext>
                </a:extLst>
              </a:tr>
              <a:tr h="211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001001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xxxxxxxxx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Return din subrutină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11" marR="71711" marT="0" marB="0" anchor="ctr"/>
                </a:tc>
                <a:extLst>
                  <a:ext uri="{0D108BD9-81ED-4DB2-BD59-A6C34878D82A}">
                    <a16:rowId xmlns:a16="http://schemas.microsoft.com/office/drawing/2014/main" val="3337575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Instrucțiuni</a:t>
            </a:r>
            <a:r>
              <a:rPr lang="en-GB" dirty="0"/>
              <a:t> de Transfer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5B75C-DEB8-BE98-327A-4B5BD0C13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62" y="3240869"/>
            <a:ext cx="727516" cy="2098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007FBA-8E81-0A0D-7722-23FA7F138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69" y="3672451"/>
            <a:ext cx="438211" cy="4571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4FFB93-A17F-D1EE-662F-4094E38CC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701748"/>
              </p:ext>
            </p:extLst>
          </p:nvPr>
        </p:nvGraphicFramePr>
        <p:xfrm>
          <a:off x="747868" y="1664453"/>
          <a:ext cx="7314867" cy="1786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6247">
                  <a:extLst>
                    <a:ext uri="{9D8B030D-6E8A-4147-A177-3AD203B41FA5}">
                      <a16:colId xmlns:a16="http://schemas.microsoft.com/office/drawing/2014/main" val="3381547891"/>
                    </a:ext>
                  </a:extLst>
                </a:gridCol>
                <a:gridCol w="1325527">
                  <a:extLst>
                    <a:ext uri="{9D8B030D-6E8A-4147-A177-3AD203B41FA5}">
                      <a16:colId xmlns:a16="http://schemas.microsoft.com/office/drawing/2014/main" val="347163820"/>
                    </a:ext>
                  </a:extLst>
                </a:gridCol>
                <a:gridCol w="1101008">
                  <a:extLst>
                    <a:ext uri="{9D8B030D-6E8A-4147-A177-3AD203B41FA5}">
                      <a16:colId xmlns:a16="http://schemas.microsoft.com/office/drawing/2014/main" val="1510879196"/>
                    </a:ext>
                  </a:extLst>
                </a:gridCol>
                <a:gridCol w="1101008">
                  <a:extLst>
                    <a:ext uri="{9D8B030D-6E8A-4147-A177-3AD203B41FA5}">
                      <a16:colId xmlns:a16="http://schemas.microsoft.com/office/drawing/2014/main" val="1146691860"/>
                    </a:ext>
                  </a:extLst>
                </a:gridCol>
                <a:gridCol w="2461077">
                  <a:extLst>
                    <a:ext uri="{9D8B030D-6E8A-4147-A177-3AD203B41FA5}">
                      <a16:colId xmlns:a16="http://schemas.microsoft.com/office/drawing/2014/main" val="1406701546"/>
                    </a:ext>
                  </a:extLst>
                </a:gridCol>
              </a:tblGrid>
              <a:tr h="4465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Mnemonic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Opcode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RegAddr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Data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Descriere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9579929"/>
                  </a:ext>
                </a:extLst>
              </a:tr>
              <a:tr h="4465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 dirty="0">
                          <a:effectLst/>
                        </a:rPr>
                        <a:t>MOV r, addr</a:t>
                      </a:r>
                      <a:endParaRPr lang="en-US" sz="105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011001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imm[8:0]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Copiază imm în 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7865825"/>
                  </a:ext>
                </a:extLst>
              </a:tr>
              <a:tr h="4465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INC 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011010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R = R + 1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Incrementează cu 1 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3904179"/>
                  </a:ext>
                </a:extLst>
              </a:tr>
              <a:tr h="4465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DEC 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011011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>
                          <a:effectLst/>
                        </a:rPr>
                        <a:t>r</a:t>
                      </a:r>
                      <a:endParaRPr lang="en-US" sz="105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 dirty="0">
                          <a:effectLst/>
                        </a:rPr>
                        <a:t>R = R - 1</a:t>
                      </a:r>
                      <a:endParaRPr lang="en-US" sz="105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Decrementează</a:t>
                      </a:r>
                      <a:r>
                        <a:rPr lang="en-US" sz="1400" kern="100" dirty="0">
                          <a:effectLst/>
                        </a:rPr>
                        <a:t> cu 1 r </a:t>
                      </a:r>
                      <a:endParaRPr lang="en-US" sz="105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96522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Instrucțiuni Aritmetice (cu registru)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81E439-9369-B6C9-6C57-939DC879B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196003"/>
              </p:ext>
            </p:extLst>
          </p:nvPr>
        </p:nvGraphicFramePr>
        <p:xfrm>
          <a:off x="713225" y="1433804"/>
          <a:ext cx="7717501" cy="2813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4340">
                  <a:extLst>
                    <a:ext uri="{9D8B030D-6E8A-4147-A177-3AD203B41FA5}">
                      <a16:colId xmlns:a16="http://schemas.microsoft.com/office/drawing/2014/main" val="3965270633"/>
                    </a:ext>
                  </a:extLst>
                </a:gridCol>
                <a:gridCol w="1735053">
                  <a:extLst>
                    <a:ext uri="{9D8B030D-6E8A-4147-A177-3AD203B41FA5}">
                      <a16:colId xmlns:a16="http://schemas.microsoft.com/office/drawing/2014/main" val="844828777"/>
                    </a:ext>
                  </a:extLst>
                </a:gridCol>
                <a:gridCol w="1883959">
                  <a:extLst>
                    <a:ext uri="{9D8B030D-6E8A-4147-A177-3AD203B41FA5}">
                      <a16:colId xmlns:a16="http://schemas.microsoft.com/office/drawing/2014/main" val="2014775920"/>
                    </a:ext>
                  </a:extLst>
                </a:gridCol>
                <a:gridCol w="1994149">
                  <a:extLst>
                    <a:ext uri="{9D8B030D-6E8A-4147-A177-3AD203B41FA5}">
                      <a16:colId xmlns:a16="http://schemas.microsoft.com/office/drawing/2014/main" val="2873430465"/>
                    </a:ext>
                  </a:extLst>
                </a:gridCol>
              </a:tblGrid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Mnemonic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Opcode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RegAddr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Descriere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2009361287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ADD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001010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600" kern="100">
                          <a:effectLst/>
                        </a:rPr>
                        <a:t>A = A +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587139375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SUB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001011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–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00268127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MUL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001100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x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47997692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DIV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001101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/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555729461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MOD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001110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 dirty="0">
                          <a:effectLst/>
                        </a:rPr>
                        <a:t>A = A % r</a:t>
                      </a:r>
                      <a:endParaRPr lang="en-US" sz="20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1802760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Instrucțiuni Aritmetice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(cu valoare imediată)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238400-54C3-862B-D292-69F931D39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033565"/>
              </p:ext>
            </p:extLst>
          </p:nvPr>
        </p:nvGraphicFramePr>
        <p:xfrm>
          <a:off x="713225" y="1548161"/>
          <a:ext cx="7717501" cy="25845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2533">
                  <a:extLst>
                    <a:ext uri="{9D8B030D-6E8A-4147-A177-3AD203B41FA5}">
                      <a16:colId xmlns:a16="http://schemas.microsoft.com/office/drawing/2014/main" val="1936990930"/>
                    </a:ext>
                  </a:extLst>
                </a:gridCol>
                <a:gridCol w="1648984">
                  <a:extLst>
                    <a:ext uri="{9D8B030D-6E8A-4147-A177-3AD203B41FA5}">
                      <a16:colId xmlns:a16="http://schemas.microsoft.com/office/drawing/2014/main" val="2364757581"/>
                    </a:ext>
                  </a:extLst>
                </a:gridCol>
                <a:gridCol w="1793094">
                  <a:extLst>
                    <a:ext uri="{9D8B030D-6E8A-4147-A177-3AD203B41FA5}">
                      <a16:colId xmlns:a16="http://schemas.microsoft.com/office/drawing/2014/main" val="3616124172"/>
                    </a:ext>
                  </a:extLst>
                </a:gridCol>
                <a:gridCol w="2262890">
                  <a:extLst>
                    <a:ext uri="{9D8B030D-6E8A-4147-A177-3AD203B41FA5}">
                      <a16:colId xmlns:a16="http://schemas.microsoft.com/office/drawing/2014/main" val="2475919185"/>
                    </a:ext>
                  </a:extLst>
                </a:gridCol>
              </a:tblGrid>
              <a:tr h="430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Mnemonic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Opcode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RegAddr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Descriere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extLst>
                  <a:ext uri="{0D108BD9-81ED-4DB2-BD59-A6C34878D82A}">
                    <a16:rowId xmlns:a16="http://schemas.microsoft.com/office/drawing/2014/main" val="545803583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ADDI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101010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600" kern="100">
                          <a:effectLst/>
                        </a:rPr>
                        <a:t>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600" kern="100">
                          <a:effectLst/>
                        </a:rPr>
                        <a:t>A = A +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extLst>
                  <a:ext uri="{0D108BD9-81ED-4DB2-BD59-A6C34878D82A}">
                    <a16:rowId xmlns:a16="http://schemas.microsoft.com/office/drawing/2014/main" val="2901949310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SUBI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101011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- imm 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extLst>
                  <a:ext uri="{0D108BD9-81ED-4DB2-BD59-A6C34878D82A}">
                    <a16:rowId xmlns:a16="http://schemas.microsoft.com/office/drawing/2014/main" val="3996085581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MULI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101100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x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extLst>
                  <a:ext uri="{0D108BD9-81ED-4DB2-BD59-A6C34878D82A}">
                    <a16:rowId xmlns:a16="http://schemas.microsoft.com/office/drawing/2014/main" val="3380528532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DIVI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101101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/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extLst>
                  <a:ext uri="{0D108BD9-81ED-4DB2-BD59-A6C34878D82A}">
                    <a16:rowId xmlns:a16="http://schemas.microsoft.com/office/drawing/2014/main" val="2343914481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MODI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101110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%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5889" marR="125889" marT="0" marB="0"/>
                </a:tc>
                <a:extLst>
                  <a:ext uri="{0D108BD9-81ED-4DB2-BD59-A6C34878D82A}">
                    <a16:rowId xmlns:a16="http://schemas.microsoft.com/office/drawing/2014/main" val="575190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Instrucțiuni Logice (cu registru)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9666E7-1E2F-0F50-7723-78A1712A9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519042"/>
              </p:ext>
            </p:extLst>
          </p:nvPr>
        </p:nvGraphicFramePr>
        <p:xfrm>
          <a:off x="713225" y="1668241"/>
          <a:ext cx="7717501" cy="2344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4340">
                  <a:extLst>
                    <a:ext uri="{9D8B030D-6E8A-4147-A177-3AD203B41FA5}">
                      <a16:colId xmlns:a16="http://schemas.microsoft.com/office/drawing/2014/main" val="1337656941"/>
                    </a:ext>
                  </a:extLst>
                </a:gridCol>
                <a:gridCol w="1735053">
                  <a:extLst>
                    <a:ext uri="{9D8B030D-6E8A-4147-A177-3AD203B41FA5}">
                      <a16:colId xmlns:a16="http://schemas.microsoft.com/office/drawing/2014/main" val="2895312029"/>
                    </a:ext>
                  </a:extLst>
                </a:gridCol>
                <a:gridCol w="1883959">
                  <a:extLst>
                    <a:ext uri="{9D8B030D-6E8A-4147-A177-3AD203B41FA5}">
                      <a16:colId xmlns:a16="http://schemas.microsoft.com/office/drawing/2014/main" val="436887407"/>
                    </a:ext>
                  </a:extLst>
                </a:gridCol>
                <a:gridCol w="1994149">
                  <a:extLst>
                    <a:ext uri="{9D8B030D-6E8A-4147-A177-3AD203B41FA5}">
                      <a16:colId xmlns:a16="http://schemas.microsoft.com/office/drawing/2014/main" val="861465762"/>
                    </a:ext>
                  </a:extLst>
                </a:gridCol>
              </a:tblGrid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Mnemonic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Opcode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RegAddr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Descriere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580610284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AND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010011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600" kern="100">
                          <a:effectLst/>
                        </a:rPr>
                        <a:t>A = A &amp;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52708979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OR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010100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|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2401423945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XOR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010101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A = A ^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3226903683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NOT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010110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 dirty="0">
                          <a:effectLst/>
                        </a:rPr>
                        <a:t>A = ~r</a:t>
                      </a:r>
                      <a:endParaRPr lang="en-US" sz="20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7886393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Instrucțiuni Logice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(cu valoare imediată)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5CD146-B4E2-D0DC-EF8F-615E381FA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5536"/>
              </p:ext>
            </p:extLst>
          </p:nvPr>
        </p:nvGraphicFramePr>
        <p:xfrm>
          <a:off x="835956" y="1482545"/>
          <a:ext cx="7472040" cy="2715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0949">
                  <a:extLst>
                    <a:ext uri="{9D8B030D-6E8A-4147-A177-3AD203B41FA5}">
                      <a16:colId xmlns:a16="http://schemas.microsoft.com/office/drawing/2014/main" val="2903775321"/>
                    </a:ext>
                  </a:extLst>
                </a:gridCol>
                <a:gridCol w="2092954">
                  <a:extLst>
                    <a:ext uri="{9D8B030D-6E8A-4147-A177-3AD203B41FA5}">
                      <a16:colId xmlns:a16="http://schemas.microsoft.com/office/drawing/2014/main" val="2522238841"/>
                    </a:ext>
                  </a:extLst>
                </a:gridCol>
                <a:gridCol w="2818137">
                  <a:extLst>
                    <a:ext uri="{9D8B030D-6E8A-4147-A177-3AD203B41FA5}">
                      <a16:colId xmlns:a16="http://schemas.microsoft.com/office/drawing/2014/main" val="71218218"/>
                    </a:ext>
                  </a:extLst>
                </a:gridCol>
              </a:tblGrid>
              <a:tr h="54315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Mnemonic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Opcode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Descriere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extLst>
                  <a:ext uri="{0D108BD9-81ED-4DB2-BD59-A6C34878D82A}">
                    <a16:rowId xmlns:a16="http://schemas.microsoft.com/office/drawing/2014/main" val="3177551504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ANDI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110011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3300" kern="100">
                          <a:effectLst/>
                        </a:rPr>
                        <a:t>A = A &amp;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extLst>
                  <a:ext uri="{0D108BD9-81ED-4DB2-BD59-A6C34878D82A}">
                    <a16:rowId xmlns:a16="http://schemas.microsoft.com/office/drawing/2014/main" val="2487439815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ORI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110100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A = A |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extLst>
                  <a:ext uri="{0D108BD9-81ED-4DB2-BD59-A6C34878D82A}">
                    <a16:rowId xmlns:a16="http://schemas.microsoft.com/office/drawing/2014/main" val="1414989627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XORI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110101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A = A ^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extLst>
                  <a:ext uri="{0D108BD9-81ED-4DB2-BD59-A6C34878D82A}">
                    <a16:rowId xmlns:a16="http://schemas.microsoft.com/office/drawing/2014/main" val="478588072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NOTI 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110110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3300" kern="100">
                          <a:effectLst/>
                        </a:rPr>
                        <a:t>A = ~imm</a:t>
                      </a:r>
                      <a:endParaRPr lang="en-US" sz="2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60953" marR="160953" marT="0" marB="0"/>
                </a:tc>
                <a:extLst>
                  <a:ext uri="{0D108BD9-81ED-4DB2-BD59-A6C34878D82A}">
                    <a16:rowId xmlns:a16="http://schemas.microsoft.com/office/drawing/2014/main" val="37940327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Instrucțiuni de Rotate/ Shift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(cu registru)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609932-DFF4-3C1B-6B9B-2C7BB7DC4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464602"/>
              </p:ext>
            </p:extLst>
          </p:nvPr>
        </p:nvGraphicFramePr>
        <p:xfrm>
          <a:off x="713225" y="1772819"/>
          <a:ext cx="7717502" cy="2439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6600">
                  <a:extLst>
                    <a:ext uri="{9D8B030D-6E8A-4147-A177-3AD203B41FA5}">
                      <a16:colId xmlns:a16="http://schemas.microsoft.com/office/drawing/2014/main" val="1024247690"/>
                    </a:ext>
                  </a:extLst>
                </a:gridCol>
                <a:gridCol w="1580260">
                  <a:extLst>
                    <a:ext uri="{9D8B030D-6E8A-4147-A177-3AD203B41FA5}">
                      <a16:colId xmlns:a16="http://schemas.microsoft.com/office/drawing/2014/main" val="961410629"/>
                    </a:ext>
                  </a:extLst>
                </a:gridCol>
                <a:gridCol w="1715881">
                  <a:extLst>
                    <a:ext uri="{9D8B030D-6E8A-4147-A177-3AD203B41FA5}">
                      <a16:colId xmlns:a16="http://schemas.microsoft.com/office/drawing/2014/main" val="169086704"/>
                    </a:ext>
                  </a:extLst>
                </a:gridCol>
                <a:gridCol w="2504761">
                  <a:extLst>
                    <a:ext uri="{9D8B030D-6E8A-4147-A177-3AD203B41FA5}">
                      <a16:colId xmlns:a16="http://schemas.microsoft.com/office/drawing/2014/main" val="2827491864"/>
                    </a:ext>
                  </a:extLst>
                </a:gridCol>
              </a:tblGrid>
              <a:tr h="427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Mnemonic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Opcode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RegAddr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Descriere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extLst>
                  <a:ext uri="{0D108BD9-81ED-4DB2-BD59-A6C34878D82A}">
                    <a16:rowId xmlns:a16="http://schemas.microsoft.com/office/drawing/2014/main" val="55173039"/>
                  </a:ext>
                </a:extLst>
              </a:tr>
              <a:tr h="427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LSL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001111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400" kern="100">
                          <a:effectLst/>
                        </a:rPr>
                        <a:t>A «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extLst>
                  <a:ext uri="{0D108BD9-81ED-4DB2-BD59-A6C34878D82A}">
                    <a16:rowId xmlns:a16="http://schemas.microsoft.com/office/drawing/2014/main" val="3387975682"/>
                  </a:ext>
                </a:extLst>
              </a:tr>
              <a:tr h="427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LSR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010000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A »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extLst>
                  <a:ext uri="{0D108BD9-81ED-4DB2-BD59-A6C34878D82A}">
                    <a16:rowId xmlns:a16="http://schemas.microsoft.com/office/drawing/2014/main" val="569808579"/>
                  </a:ext>
                </a:extLst>
              </a:tr>
              <a:tr h="427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RSL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010010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A rotire stanga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extLst>
                  <a:ext uri="{0D108BD9-81ED-4DB2-BD59-A6C34878D82A}">
                    <a16:rowId xmlns:a16="http://schemas.microsoft.com/office/drawing/2014/main" val="138926021"/>
                  </a:ext>
                </a:extLst>
              </a:tr>
              <a:tr h="427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RSR 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010001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>
                          <a:effectLst/>
                        </a:rPr>
                        <a:t>r</a:t>
                      </a:r>
                      <a:endParaRPr lang="en-US" sz="18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kern="100" dirty="0">
                          <a:effectLst/>
                        </a:rPr>
                        <a:t>A </a:t>
                      </a:r>
                      <a:r>
                        <a:rPr lang="en-US" sz="2400" kern="100" dirty="0" err="1">
                          <a:effectLst/>
                        </a:rPr>
                        <a:t>rotire</a:t>
                      </a:r>
                      <a:r>
                        <a:rPr lang="en-US" sz="2400" kern="100" dirty="0">
                          <a:effectLst/>
                        </a:rPr>
                        <a:t> </a:t>
                      </a:r>
                      <a:r>
                        <a:rPr lang="en-US" sz="2400" kern="100" dirty="0" err="1">
                          <a:effectLst/>
                        </a:rPr>
                        <a:t>dreapta</a:t>
                      </a:r>
                      <a:r>
                        <a:rPr lang="en-US" sz="2400" kern="100" dirty="0">
                          <a:effectLst/>
                        </a:rPr>
                        <a:t> r</a:t>
                      </a:r>
                      <a:endParaRPr lang="en-US" sz="18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17177" marR="117177" marT="0" marB="0"/>
                </a:tc>
                <a:extLst>
                  <a:ext uri="{0D108BD9-81ED-4DB2-BD59-A6C34878D82A}">
                    <a16:rowId xmlns:a16="http://schemas.microsoft.com/office/drawing/2014/main" val="36052384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Instrucțiuni de Rotate/ Shift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(cu valoare imediată)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9ECC71-ADBF-2452-745C-5A26C13BF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4125"/>
              </p:ext>
            </p:extLst>
          </p:nvPr>
        </p:nvGraphicFramePr>
        <p:xfrm>
          <a:off x="1152012" y="1208225"/>
          <a:ext cx="6839927" cy="3264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4311">
                  <a:extLst>
                    <a:ext uri="{9D8B030D-6E8A-4147-A177-3AD203B41FA5}">
                      <a16:colId xmlns:a16="http://schemas.microsoft.com/office/drawing/2014/main" val="3959228522"/>
                    </a:ext>
                  </a:extLst>
                </a:gridCol>
                <a:gridCol w="1800990">
                  <a:extLst>
                    <a:ext uri="{9D8B030D-6E8A-4147-A177-3AD203B41FA5}">
                      <a16:colId xmlns:a16="http://schemas.microsoft.com/office/drawing/2014/main" val="670218730"/>
                    </a:ext>
                  </a:extLst>
                </a:gridCol>
                <a:gridCol w="2854626">
                  <a:extLst>
                    <a:ext uri="{9D8B030D-6E8A-4147-A177-3AD203B41FA5}">
                      <a16:colId xmlns:a16="http://schemas.microsoft.com/office/drawing/2014/main" val="2248350180"/>
                    </a:ext>
                  </a:extLst>
                </a:gridCol>
              </a:tblGrid>
              <a:tr h="48669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Mnemonic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Opcode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Descriere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extLst>
                  <a:ext uri="{0D108BD9-81ED-4DB2-BD59-A6C34878D82A}">
                    <a16:rowId xmlns:a16="http://schemas.microsoft.com/office/drawing/2014/main" val="736523993"/>
                  </a:ext>
                </a:extLst>
              </a:tr>
              <a:tr h="48669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LSLI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101111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700" kern="100">
                          <a:effectLst/>
                        </a:rPr>
                        <a:t>A «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extLst>
                  <a:ext uri="{0D108BD9-81ED-4DB2-BD59-A6C34878D82A}">
                    <a16:rowId xmlns:a16="http://schemas.microsoft.com/office/drawing/2014/main" val="278375556"/>
                  </a:ext>
                </a:extLst>
              </a:tr>
              <a:tr h="48669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LSRI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110000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A »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extLst>
                  <a:ext uri="{0D108BD9-81ED-4DB2-BD59-A6C34878D82A}">
                    <a16:rowId xmlns:a16="http://schemas.microsoft.com/office/drawing/2014/main" val="3297018457"/>
                  </a:ext>
                </a:extLst>
              </a:tr>
              <a:tr h="9021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RSLI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110010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A rotire stanga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extLst>
                  <a:ext uri="{0D108BD9-81ED-4DB2-BD59-A6C34878D82A}">
                    <a16:rowId xmlns:a16="http://schemas.microsoft.com/office/drawing/2014/main" val="2138257498"/>
                  </a:ext>
                </a:extLst>
              </a:tr>
              <a:tr h="9021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RSRI imm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>
                          <a:effectLst/>
                        </a:rPr>
                        <a:t>110001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700" kern="100" dirty="0">
                          <a:effectLst/>
                        </a:rPr>
                        <a:t>A </a:t>
                      </a:r>
                      <a:r>
                        <a:rPr lang="en-US" sz="2700" kern="100" dirty="0" err="1">
                          <a:effectLst/>
                        </a:rPr>
                        <a:t>rotire</a:t>
                      </a:r>
                      <a:r>
                        <a:rPr lang="en-US" sz="2700" kern="100" dirty="0">
                          <a:effectLst/>
                        </a:rPr>
                        <a:t> </a:t>
                      </a:r>
                      <a:r>
                        <a:rPr lang="en-US" sz="2700" kern="100" dirty="0" err="1">
                          <a:effectLst/>
                        </a:rPr>
                        <a:t>dreapta</a:t>
                      </a:r>
                      <a:r>
                        <a:rPr lang="en-US" sz="2700" kern="100" dirty="0">
                          <a:effectLst/>
                        </a:rPr>
                        <a:t> </a:t>
                      </a:r>
                      <a:r>
                        <a:rPr lang="en-US" sz="2700" kern="100" dirty="0" err="1">
                          <a:effectLst/>
                        </a:rPr>
                        <a:t>imm</a:t>
                      </a:r>
                      <a:endParaRPr lang="en-US" sz="20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33544" marR="133544" marT="0" marB="0"/>
                </a:tc>
                <a:extLst>
                  <a:ext uri="{0D108BD9-81ED-4DB2-BD59-A6C34878D82A}">
                    <a16:rowId xmlns:a16="http://schemas.microsoft.com/office/drawing/2014/main" val="21968584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Instrucțiuni pentru Registre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D6010A-75F6-9249-0A39-3F1F4BBB1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05509"/>
              </p:ext>
            </p:extLst>
          </p:nvPr>
        </p:nvGraphicFramePr>
        <p:xfrm>
          <a:off x="713225" y="2137116"/>
          <a:ext cx="7717501" cy="14066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4340">
                  <a:extLst>
                    <a:ext uri="{9D8B030D-6E8A-4147-A177-3AD203B41FA5}">
                      <a16:colId xmlns:a16="http://schemas.microsoft.com/office/drawing/2014/main" val="555875281"/>
                    </a:ext>
                  </a:extLst>
                </a:gridCol>
                <a:gridCol w="1735053">
                  <a:extLst>
                    <a:ext uri="{9D8B030D-6E8A-4147-A177-3AD203B41FA5}">
                      <a16:colId xmlns:a16="http://schemas.microsoft.com/office/drawing/2014/main" val="2795459528"/>
                    </a:ext>
                  </a:extLst>
                </a:gridCol>
                <a:gridCol w="1883959">
                  <a:extLst>
                    <a:ext uri="{9D8B030D-6E8A-4147-A177-3AD203B41FA5}">
                      <a16:colId xmlns:a16="http://schemas.microsoft.com/office/drawing/2014/main" val="3912882392"/>
                    </a:ext>
                  </a:extLst>
                </a:gridCol>
                <a:gridCol w="1994149">
                  <a:extLst>
                    <a:ext uri="{9D8B030D-6E8A-4147-A177-3AD203B41FA5}">
                      <a16:colId xmlns:a16="http://schemas.microsoft.com/office/drawing/2014/main" val="2036420351"/>
                    </a:ext>
                  </a:extLst>
                </a:gridCol>
              </a:tblGrid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Mnemonic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Opcode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RegAddr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Descriere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1650878530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INC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011010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981075" algn="l"/>
                        </a:tabLst>
                      </a:pPr>
                      <a:r>
                        <a:rPr lang="en-US" sz="2600" kern="100">
                          <a:effectLst/>
                        </a:rPr>
                        <a:t>R = R + 1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2198475517"/>
                  </a:ext>
                </a:extLst>
              </a:tr>
              <a:tr h="4688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DEC 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011011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>
                          <a:effectLst/>
                        </a:rPr>
                        <a:t>r</a:t>
                      </a:r>
                      <a:endParaRPr lang="en-US" sz="20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600" kern="100" dirty="0">
                          <a:effectLst/>
                        </a:rPr>
                        <a:t>R = R - 1</a:t>
                      </a:r>
                      <a:endParaRPr lang="en-US" sz="20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128655" marR="128655" marT="0" marB="0"/>
                </a:tc>
                <a:extLst>
                  <a:ext uri="{0D108BD9-81ED-4DB2-BD59-A6C34878D82A}">
                    <a16:rowId xmlns:a16="http://schemas.microsoft.com/office/drawing/2014/main" val="26596336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Instrucțiuni Speciale</a:t>
            </a:r>
          </a:p>
        </p:txBody>
      </p:sp>
      <p:sp>
        <p:nvSpPr>
          <p:cNvPr id="655" name="Google Shape;655;p70"/>
          <p:cNvSpPr txBox="1">
            <a:spLocks noGrp="1"/>
          </p:cNvSpPr>
          <p:nvPr>
            <p:ph type="subTitle" idx="4294967295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/>
              <a:t>THE GOAL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657213-77BD-EFDF-3483-D328FCE9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868781"/>
              </p:ext>
            </p:extLst>
          </p:nvPr>
        </p:nvGraphicFramePr>
        <p:xfrm>
          <a:off x="713225" y="1886342"/>
          <a:ext cx="7717502" cy="19081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296">
                  <a:extLst>
                    <a:ext uri="{9D8B030D-6E8A-4147-A177-3AD203B41FA5}">
                      <a16:colId xmlns:a16="http://schemas.microsoft.com/office/drawing/2014/main" val="3501681301"/>
                    </a:ext>
                  </a:extLst>
                </a:gridCol>
                <a:gridCol w="1272116">
                  <a:extLst>
                    <a:ext uri="{9D8B030D-6E8A-4147-A177-3AD203B41FA5}">
                      <a16:colId xmlns:a16="http://schemas.microsoft.com/office/drawing/2014/main" val="1244019764"/>
                    </a:ext>
                  </a:extLst>
                </a:gridCol>
                <a:gridCol w="1389124">
                  <a:extLst>
                    <a:ext uri="{9D8B030D-6E8A-4147-A177-3AD203B41FA5}">
                      <a16:colId xmlns:a16="http://schemas.microsoft.com/office/drawing/2014/main" val="3403857480"/>
                    </a:ext>
                  </a:extLst>
                </a:gridCol>
                <a:gridCol w="1536555">
                  <a:extLst>
                    <a:ext uri="{9D8B030D-6E8A-4147-A177-3AD203B41FA5}">
                      <a16:colId xmlns:a16="http://schemas.microsoft.com/office/drawing/2014/main" val="680635555"/>
                    </a:ext>
                  </a:extLst>
                </a:gridCol>
                <a:gridCol w="1957411">
                  <a:extLst>
                    <a:ext uri="{9D8B030D-6E8A-4147-A177-3AD203B41FA5}">
                      <a16:colId xmlns:a16="http://schemas.microsoft.com/office/drawing/2014/main" val="4240884928"/>
                    </a:ext>
                  </a:extLst>
                </a:gridCol>
              </a:tblGrid>
              <a:tr h="3949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Mnemonic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Opcode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RegAddr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Data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Descriere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extLst>
                  <a:ext uri="{0D108BD9-81ED-4DB2-BD59-A6C34878D82A}">
                    <a16:rowId xmlns:a16="http://schemas.microsoft.com/office/drawing/2014/main" val="3594655345"/>
                  </a:ext>
                </a:extLst>
              </a:tr>
              <a:tr h="7566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MINE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011100 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X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 dirty="0">
                          <a:effectLst/>
                        </a:rPr>
                        <a:t>xxxxxxxxx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Operație mining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extLst>
                  <a:ext uri="{0D108BD9-81ED-4DB2-BD59-A6C34878D82A}">
                    <a16:rowId xmlns:a16="http://schemas.microsoft.com/office/drawing/2014/main" val="2433441057"/>
                  </a:ext>
                </a:extLst>
              </a:tr>
              <a:tr h="7566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MOVR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011101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r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>
                          <a:effectLst/>
                        </a:rPr>
                        <a:t>X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 dirty="0">
                          <a:effectLst/>
                        </a:rPr>
                        <a:t>Transfer </a:t>
                      </a:r>
                      <a:r>
                        <a:rPr lang="en-US" sz="2100" kern="100" dirty="0" err="1">
                          <a:effectLst/>
                        </a:rPr>
                        <a:t>între</a:t>
                      </a:r>
                      <a:r>
                        <a:rPr lang="en-US" sz="2100" kern="100" dirty="0">
                          <a:effectLst/>
                        </a:rPr>
                        <a:t> </a:t>
                      </a:r>
                      <a:r>
                        <a:rPr lang="en-US" sz="2100" kern="100" dirty="0" err="1">
                          <a:effectLst/>
                        </a:rPr>
                        <a:t>registre</a:t>
                      </a:r>
                      <a:r>
                        <a:rPr lang="en-US" sz="2100" kern="100" dirty="0">
                          <a:effectLst/>
                        </a:rPr>
                        <a:t> A/X/Y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95" marR="101095" marT="0" marB="0" anchor="ctr"/>
                </a:tc>
                <a:extLst>
                  <a:ext uri="{0D108BD9-81ED-4DB2-BD59-A6C34878D82A}">
                    <a16:rowId xmlns:a16="http://schemas.microsoft.com/office/drawing/2014/main" val="2046929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 </a:t>
            </a:r>
            <a:r>
              <a:rPr lang="en-US" sz="2600" err="1"/>
              <a:t>Instrucțiuni</a:t>
            </a:r>
            <a:r>
              <a:rPr lang="en-US" sz="2600"/>
              <a:t> </a:t>
            </a:r>
            <a:r>
              <a:rPr lang="en-US" sz="2600" err="1"/>
              <a:t>Salturi</a:t>
            </a:r>
            <a:r>
              <a:rPr lang="en-US" sz="2600"/>
              <a:t> </a:t>
            </a:r>
            <a:r>
              <a:rPr lang="en-US" sz="2600" err="1"/>
              <a:t>Condiționate</a:t>
            </a:r>
            <a:r>
              <a:rPr lang="en-US" sz="2600"/>
              <a:t> cu </a:t>
            </a:r>
            <a:r>
              <a:rPr lang="en-US" sz="2600" err="1"/>
              <a:t>Semn</a:t>
            </a:r>
            <a:endParaRPr lang="en-US" sz="26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14DEF5-E9C3-7F20-17C2-315746402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806880"/>
              </p:ext>
            </p:extLst>
          </p:nvPr>
        </p:nvGraphicFramePr>
        <p:xfrm>
          <a:off x="713225" y="1444015"/>
          <a:ext cx="7717502" cy="3483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6018">
                  <a:extLst>
                    <a:ext uri="{9D8B030D-6E8A-4147-A177-3AD203B41FA5}">
                      <a16:colId xmlns:a16="http://schemas.microsoft.com/office/drawing/2014/main" val="88073904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1363487091"/>
                    </a:ext>
                  </a:extLst>
                </a:gridCol>
                <a:gridCol w="1816913">
                  <a:extLst>
                    <a:ext uri="{9D8B030D-6E8A-4147-A177-3AD203B41FA5}">
                      <a16:colId xmlns:a16="http://schemas.microsoft.com/office/drawing/2014/main" val="825389431"/>
                    </a:ext>
                  </a:extLst>
                </a:gridCol>
                <a:gridCol w="1556317">
                  <a:extLst>
                    <a:ext uri="{9D8B030D-6E8A-4147-A177-3AD203B41FA5}">
                      <a16:colId xmlns:a16="http://schemas.microsoft.com/office/drawing/2014/main" val="3446190688"/>
                    </a:ext>
                  </a:extLst>
                </a:gridCol>
                <a:gridCol w="1757104">
                  <a:extLst>
                    <a:ext uri="{9D8B030D-6E8A-4147-A177-3AD203B41FA5}">
                      <a16:colId xmlns:a16="http://schemas.microsoft.com/office/drawing/2014/main" val="1064885184"/>
                    </a:ext>
                  </a:extLst>
                </a:gridCol>
              </a:tblGrid>
              <a:tr h="3604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Mnemonic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Opcode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Condiție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Interpretare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Utilizare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extLst>
                  <a:ext uri="{0D108BD9-81ED-4DB2-BD59-A6C34878D82A}">
                    <a16:rowId xmlns:a16="http://schemas.microsoft.com/office/drawing/2014/main" val="4289226498"/>
                  </a:ext>
                </a:extLst>
              </a:tr>
              <a:tr h="6906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 dirty="0">
                          <a:effectLst/>
                        </a:rPr>
                        <a:t>BGT addr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011110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(Z=0) AND (N=O)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A &gt; operand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Prag superior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extLst>
                  <a:ext uri="{0D108BD9-81ED-4DB2-BD59-A6C34878D82A}">
                    <a16:rowId xmlns:a16="http://schemas.microsoft.com/office/drawing/2014/main" val="2395772222"/>
                  </a:ext>
                </a:extLst>
              </a:tr>
              <a:tr h="3604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 dirty="0">
                          <a:effectLst/>
                        </a:rPr>
                        <a:t>BLT addr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011111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N ≠ O            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A &lt; operand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Prag inferior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extLst>
                  <a:ext uri="{0D108BD9-81ED-4DB2-BD59-A6C34878D82A}">
                    <a16:rowId xmlns:a16="http://schemas.microsoft.com/office/drawing/2014/main" val="300682456"/>
                  </a:ext>
                </a:extLst>
              </a:tr>
              <a:tr h="6906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 dirty="0">
                          <a:effectLst/>
                        </a:rPr>
                        <a:t>BGE addr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100000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N = O            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A ≥ operand 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Minim inclusive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extLst>
                  <a:ext uri="{0D108BD9-81ED-4DB2-BD59-A6C34878D82A}">
                    <a16:rowId xmlns:a16="http://schemas.microsoft.com/office/drawing/2014/main" val="1285644209"/>
                  </a:ext>
                </a:extLst>
              </a:tr>
              <a:tr h="6906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 dirty="0">
                          <a:effectLst/>
                        </a:rPr>
                        <a:t>BLE addr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100001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(Z=1) OR (N≠O)   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>
                          <a:effectLst/>
                        </a:rPr>
                        <a:t>A ≤ operand 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502285" algn="l"/>
                        </a:tabLst>
                      </a:pPr>
                      <a:r>
                        <a:rPr lang="en-US" sz="1900" kern="0" dirty="0">
                          <a:effectLst/>
                        </a:rPr>
                        <a:t>Maxim </a:t>
                      </a:r>
                      <a:r>
                        <a:rPr lang="en-US" sz="1900" kern="0" dirty="0" err="1">
                          <a:effectLst/>
                        </a:rPr>
                        <a:t>inclusiv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77" marR="92277" marT="0" marB="0"/>
                </a:tc>
                <a:extLst>
                  <a:ext uri="{0D108BD9-81ED-4DB2-BD59-A6C34878D82A}">
                    <a16:rowId xmlns:a16="http://schemas.microsoft.com/office/drawing/2014/main" val="3592665707"/>
                  </a:ext>
                </a:extLst>
              </a:tr>
              <a:tr h="6906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BNE addr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100101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 = 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A != 0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Valori </a:t>
                      </a:r>
                      <a:r>
                        <a:rPr lang="en-US" sz="1900" kern="100" dirty="0" err="1">
                          <a:effectLst/>
                        </a:rPr>
                        <a:t>diferite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extLst>
                  <a:ext uri="{0D108BD9-81ED-4DB2-BD59-A6C34878D82A}">
                    <a16:rowId xmlns:a16="http://schemas.microsoft.com/office/drawing/2014/main" val="8254317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err="1"/>
              <a:t>Instructiuni</a:t>
            </a:r>
            <a:r>
              <a:rPr lang="en-US" sz="2800"/>
              <a:t> </a:t>
            </a:r>
            <a:r>
              <a:rPr lang="en-US" sz="2800" err="1"/>
              <a:t>Comparații</a:t>
            </a:r>
            <a:r>
              <a:rPr lang="en-US" sz="2800"/>
              <a:t> </a:t>
            </a:r>
            <a:r>
              <a:rPr lang="en-US" sz="2800" err="1"/>
              <a:t>Imediate</a:t>
            </a:r>
            <a:endParaRPr lang="en-US" sz="2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04A653-1726-F977-A053-AB7C82D26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528266"/>
              </p:ext>
            </p:extLst>
          </p:nvPr>
        </p:nvGraphicFramePr>
        <p:xfrm>
          <a:off x="713225" y="1614865"/>
          <a:ext cx="7717503" cy="24511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2709">
                  <a:extLst>
                    <a:ext uri="{9D8B030D-6E8A-4147-A177-3AD203B41FA5}">
                      <a16:colId xmlns:a16="http://schemas.microsoft.com/office/drawing/2014/main" val="2616856633"/>
                    </a:ext>
                  </a:extLst>
                </a:gridCol>
                <a:gridCol w="1353878">
                  <a:extLst>
                    <a:ext uri="{9D8B030D-6E8A-4147-A177-3AD203B41FA5}">
                      <a16:colId xmlns:a16="http://schemas.microsoft.com/office/drawing/2014/main" val="3422962023"/>
                    </a:ext>
                  </a:extLst>
                </a:gridCol>
                <a:gridCol w="1478407">
                  <a:extLst>
                    <a:ext uri="{9D8B030D-6E8A-4147-A177-3AD203B41FA5}">
                      <a16:colId xmlns:a16="http://schemas.microsoft.com/office/drawing/2014/main" val="1219100488"/>
                    </a:ext>
                  </a:extLst>
                </a:gridCol>
                <a:gridCol w="1446030">
                  <a:extLst>
                    <a:ext uri="{9D8B030D-6E8A-4147-A177-3AD203B41FA5}">
                      <a16:colId xmlns:a16="http://schemas.microsoft.com/office/drawing/2014/main" val="1030271722"/>
                    </a:ext>
                  </a:extLst>
                </a:gridCol>
                <a:gridCol w="1776479">
                  <a:extLst>
                    <a:ext uri="{9D8B030D-6E8A-4147-A177-3AD203B41FA5}">
                      <a16:colId xmlns:a16="http://schemas.microsoft.com/office/drawing/2014/main" val="2108836367"/>
                    </a:ext>
                  </a:extLst>
                </a:gridCol>
              </a:tblGrid>
              <a:tr h="420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Mnemonic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Opcode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RegAddr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Data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Descriere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extLst>
                  <a:ext uri="{0D108BD9-81ED-4DB2-BD59-A6C34878D82A}">
                    <a16:rowId xmlns:a16="http://schemas.microsoft.com/office/drawing/2014/main" val="4170909653"/>
                  </a:ext>
                </a:extLst>
              </a:tr>
              <a:tr h="8052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CMPI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110111 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X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imm[</a:t>
                      </a:r>
                      <a:r>
                        <a:rPr lang="ro-RO" sz="2200" kern="100" dirty="0">
                          <a:effectLst/>
                        </a:rPr>
                        <a:t>9</a:t>
                      </a:r>
                      <a:r>
                        <a:rPr lang="en-US" sz="2200" kern="100" dirty="0">
                          <a:effectLst/>
                        </a:rPr>
                        <a:t>:0]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Compară A cu imm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extLst>
                  <a:ext uri="{0D108BD9-81ED-4DB2-BD59-A6C34878D82A}">
                    <a16:rowId xmlns:a16="http://schemas.microsoft.com/office/drawing/2014/main" val="1998676895"/>
                  </a:ext>
                </a:extLst>
              </a:tr>
              <a:tr h="8052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TSTI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111000 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X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imm[</a:t>
                      </a:r>
                      <a:r>
                        <a:rPr lang="ro-RO" sz="2200" kern="100" dirty="0">
                          <a:effectLst/>
                        </a:rPr>
                        <a:t>9</a:t>
                      </a:r>
                      <a:r>
                        <a:rPr lang="en-US" sz="2200" kern="100" dirty="0">
                          <a:effectLst/>
                        </a:rPr>
                        <a:t>:0]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Testează A &amp; imm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extLst>
                  <a:ext uri="{0D108BD9-81ED-4DB2-BD59-A6C34878D82A}">
                    <a16:rowId xmlns:a16="http://schemas.microsoft.com/office/drawing/2014/main" val="695998090"/>
                  </a:ext>
                </a:extLst>
              </a:tr>
              <a:tr h="420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MOVI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111001 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X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imm[</a:t>
                      </a:r>
                      <a:r>
                        <a:rPr lang="ro-RO" sz="2200" kern="100" dirty="0">
                          <a:effectLst/>
                        </a:rPr>
                        <a:t>9</a:t>
                      </a:r>
                      <a:r>
                        <a:rPr lang="en-US" sz="2200" kern="100" dirty="0">
                          <a:effectLst/>
                        </a:rPr>
                        <a:t>:0]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A = </a:t>
                      </a:r>
                      <a:r>
                        <a:rPr lang="en-US" sz="2200" kern="100" dirty="0" err="1">
                          <a:effectLst/>
                        </a:rPr>
                        <a:t>imm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593" marR="107593" marT="0" marB="0" anchor="ctr"/>
                </a:tc>
                <a:extLst>
                  <a:ext uri="{0D108BD9-81ED-4DB2-BD59-A6C34878D82A}">
                    <a16:rowId xmlns:a16="http://schemas.microsoft.com/office/drawing/2014/main" val="2340890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6546A4ED-7325-BC49-8ACD-64395762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2">
            <a:extLst>
              <a:ext uri="{FF2B5EF4-FFF2-40B4-BE49-F238E27FC236}">
                <a16:creationId xmlns:a16="http://schemas.microsoft.com/office/drawing/2014/main" id="{D653440E-A630-314A-F94C-DABA0C048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/>
              <a:t>Altele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68465-A147-B493-29C7-0E6AC6711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92649"/>
              </p:ext>
            </p:extLst>
          </p:nvPr>
        </p:nvGraphicFramePr>
        <p:xfrm>
          <a:off x="713225" y="1591093"/>
          <a:ext cx="7717502" cy="2132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7918">
                  <a:extLst>
                    <a:ext uri="{9D8B030D-6E8A-4147-A177-3AD203B41FA5}">
                      <a16:colId xmlns:a16="http://schemas.microsoft.com/office/drawing/2014/main" val="2435056938"/>
                    </a:ext>
                  </a:extLst>
                </a:gridCol>
                <a:gridCol w="1204126">
                  <a:extLst>
                    <a:ext uri="{9D8B030D-6E8A-4147-A177-3AD203B41FA5}">
                      <a16:colId xmlns:a16="http://schemas.microsoft.com/office/drawing/2014/main" val="2992366643"/>
                    </a:ext>
                  </a:extLst>
                </a:gridCol>
                <a:gridCol w="1286481">
                  <a:extLst>
                    <a:ext uri="{9D8B030D-6E8A-4147-A177-3AD203B41FA5}">
                      <a16:colId xmlns:a16="http://schemas.microsoft.com/office/drawing/2014/main" val="2178557925"/>
                    </a:ext>
                  </a:extLst>
                </a:gridCol>
                <a:gridCol w="1423019">
                  <a:extLst>
                    <a:ext uri="{9D8B030D-6E8A-4147-A177-3AD203B41FA5}">
                      <a16:colId xmlns:a16="http://schemas.microsoft.com/office/drawing/2014/main" val="4079642531"/>
                    </a:ext>
                  </a:extLst>
                </a:gridCol>
                <a:gridCol w="2135958">
                  <a:extLst>
                    <a:ext uri="{9D8B030D-6E8A-4147-A177-3AD203B41FA5}">
                      <a16:colId xmlns:a16="http://schemas.microsoft.com/office/drawing/2014/main" val="1538970991"/>
                    </a:ext>
                  </a:extLst>
                </a:gridCol>
              </a:tblGrid>
              <a:tr h="3657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Mnemonic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Opcode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RegAddr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Data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Descriere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extLst>
                  <a:ext uri="{0D108BD9-81ED-4DB2-BD59-A6C34878D82A}">
                    <a16:rowId xmlns:a16="http://schemas.microsoft.com/office/drawing/2014/main" val="1242739040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NOP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100010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X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xxxxxxxxx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Operație nulă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extLst>
                  <a:ext uri="{0D108BD9-81ED-4DB2-BD59-A6C34878D82A}">
                    <a16:rowId xmlns:a16="http://schemas.microsoft.com/office/drawing/2014/main" val="3425951248"/>
                  </a:ext>
                </a:extLst>
              </a:tr>
              <a:tr h="7007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PUSH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100011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xxxxxxxxx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Salvează X/Y pe stivă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extLst>
                  <a:ext uri="{0D108BD9-81ED-4DB2-BD59-A6C34878D82A}">
                    <a16:rowId xmlns:a16="http://schemas.microsoft.com/office/drawing/2014/main" val="2739694227"/>
                  </a:ext>
                </a:extLst>
              </a:tr>
              <a:tr h="7007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POP_REG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100100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xxxxxxxxx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 err="1">
                          <a:effectLst/>
                        </a:rPr>
                        <a:t>Restaurează</a:t>
                      </a:r>
                      <a:r>
                        <a:rPr lang="en-US" sz="1900" kern="100" dirty="0">
                          <a:effectLst/>
                        </a:rPr>
                        <a:t> X/Y din </a:t>
                      </a:r>
                      <a:r>
                        <a:rPr lang="en-US" sz="1900" kern="100" dirty="0" err="1">
                          <a:effectLst/>
                        </a:rPr>
                        <a:t>stivă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625" marR="93625" marT="0" marB="0" anchor="ctr"/>
                </a:tc>
                <a:extLst>
                  <a:ext uri="{0D108BD9-81ED-4DB2-BD59-A6C34878D82A}">
                    <a16:rowId xmlns:a16="http://schemas.microsoft.com/office/drawing/2014/main" val="280146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752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73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73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ALU (Arithmetic Logic Unit)</a:t>
            </a:r>
          </a:p>
        </p:txBody>
      </p:sp>
      <p:sp>
        <p:nvSpPr>
          <p:cNvPr id="687" name="Google Shape;687;p73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4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5.1. </a:t>
            </a:r>
            <a:r>
              <a:rPr lang="en-GB" dirty="0" err="1"/>
              <a:t>Arhitectura</a:t>
            </a:r>
            <a:r>
              <a:rPr lang="en-GB" dirty="0"/>
              <a:t> ALU</a:t>
            </a:r>
          </a:p>
        </p:txBody>
      </p:sp>
      <p:sp>
        <p:nvSpPr>
          <p:cNvPr id="693" name="Google Shape;693;p74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806" y="1445209"/>
            <a:ext cx="4268388" cy="3649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7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</a:t>
            </a:r>
            <a:r>
              <a:rPr lang="ro-RO" dirty="0"/>
              <a:t>2</a:t>
            </a:r>
            <a:r>
              <a:rPr lang="en-GB" dirty="0"/>
              <a:t>. </a:t>
            </a:r>
            <a:r>
              <a:rPr lang="en-GB" dirty="0" err="1"/>
              <a:t>Componente</a:t>
            </a:r>
            <a:r>
              <a:rPr lang="en-GB" dirty="0"/>
              <a:t> </a:t>
            </a:r>
            <a:r>
              <a:rPr lang="en-GB" dirty="0" err="1"/>
              <a:t>auxiliare</a:t>
            </a:r>
            <a:endParaRPr lang="en-GB" dirty="0"/>
          </a:p>
        </p:txBody>
      </p:sp>
      <p:sp>
        <p:nvSpPr>
          <p:cNvPr id="718" name="Google Shape;718;p77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719" name="Google Shape;719;p77"/>
          <p:cNvSpPr txBox="1"/>
          <p:nvPr/>
        </p:nvSpPr>
        <p:spPr>
          <a:xfrm>
            <a:off x="481650" y="1956199"/>
            <a:ext cx="8180700" cy="2373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Avem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3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componente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auxiliare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 panose="00000500000000000000"/>
              <a:buChar char="-"/>
            </a:pPr>
            <a:r>
              <a:rPr lang="ro-RO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Calculator ZNCO flags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 panose="00000500000000000000"/>
              <a:buChar char="-"/>
            </a:pPr>
            <a:r>
              <a:rPr lang="ro-RO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Translator cod de operație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 panose="00000500000000000000"/>
              <a:buChar char="-"/>
            </a:pPr>
            <a:r>
              <a:rPr lang="ro-RO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Convertor C2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6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5.3. Calculul Flag-urilor</a:t>
            </a:r>
          </a:p>
        </p:txBody>
      </p:sp>
      <p:sp>
        <p:nvSpPr>
          <p:cNvPr id="709" name="Google Shape;709;p76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710" name="Google Shape;710;p76"/>
          <p:cNvSpPr txBox="1"/>
          <p:nvPr/>
        </p:nvSpPr>
        <p:spPr>
          <a:xfrm>
            <a:off x="481650" y="1440250"/>
            <a:ext cx="81807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11" name="Google Shape;711;p7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05551" y="1580627"/>
            <a:ext cx="4247751" cy="26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7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88295" y="2064082"/>
            <a:ext cx="3635700" cy="1699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1378527" y="2744335"/>
              <a:ext cx="56160" cy="57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6"/>
            </p:blipFill>
            <p:spPr>
              <a:xfrm>
                <a:off x="1378527" y="2744335"/>
                <a:ext cx="56160" cy="5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1387527" y="2749735"/>
              <a:ext cx="137520" cy="14400"/>
            </p14:xfrm>
          </p:contentPart>
        </mc:Choice>
        <mc:Fallback xmlns="">
          <p:pic>
            <p:nvPicPr>
              <p:cNvPr id="5" name="Ink 4"/>
            </p:nvPicPr>
            <p:blipFill>
              <a:blip r:embed="rId8"/>
            </p:blipFill>
            <p:spPr>
              <a:xfrm>
                <a:off x="1387527" y="2749735"/>
                <a:ext cx="137520" cy="14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/>
              <p14:cNvContentPartPr/>
              <p14:nvPr/>
            </p14:nvContentPartPr>
            <p14:xfrm>
              <a:off x="1354860" y="2723365"/>
              <a:ext cx="167760" cy="61920"/>
            </p14:xfrm>
          </p:contentPart>
        </mc:Choice>
        <mc:Fallback xmlns="">
          <p:pic>
            <p:nvPicPr>
              <p:cNvPr id="7" name="Ink 6"/>
            </p:nvPicPr>
            <p:blipFill>
              <a:blip r:embed="rId10"/>
            </p:blipFill>
            <p:spPr>
              <a:xfrm>
                <a:off x="1354860" y="2723365"/>
                <a:ext cx="167760" cy="61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/>
              <p14:cNvContentPartPr/>
              <p14:nvPr/>
            </p14:nvContentPartPr>
            <p14:xfrm rot="-309438">
              <a:off x="1488845" y="2749624"/>
              <a:ext cx="98870" cy="23442"/>
            </p14:xfrm>
          </p:contentPart>
        </mc:Choice>
        <mc:Fallback xmlns="">
          <p:pic>
            <p:nvPicPr>
              <p:cNvPr id="9" name="Ink 8"/>
            </p:nvPicPr>
            <p:blipFill>
              <a:blip r:embed="rId12"/>
            </p:blipFill>
            <p:spPr>
              <a:xfrm rot="-309438">
                <a:off x="1488845" y="2749624"/>
                <a:ext cx="98870" cy="2344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/>
              <p14:cNvContentPartPr/>
              <p14:nvPr/>
            </p14:nvContentPartPr>
            <p14:xfrm rot="93000">
              <a:off x="1557688" y="2746318"/>
              <a:ext cx="173584" cy="19614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14"/>
            </p:blipFill>
            <p:spPr>
              <a:xfrm rot="93000">
                <a:off x="1557688" y="2746318"/>
                <a:ext cx="173584" cy="1961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/>
              <p14:cNvContentPartPr/>
              <p14:nvPr/>
            </p14:nvContentPartPr>
            <p14:xfrm>
              <a:off x="1782180" y="2738845"/>
              <a:ext cx="93960" cy="23760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16"/>
            </p:blipFill>
            <p:spPr>
              <a:xfrm>
                <a:off x="1782180" y="2738845"/>
                <a:ext cx="93960" cy="23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Ink 32"/>
              <p14:cNvContentPartPr/>
              <p14:nvPr/>
            </p14:nvContentPartPr>
            <p14:xfrm>
              <a:off x="2053980" y="2765125"/>
              <a:ext cx="23760" cy="5040"/>
            </p14:xfrm>
          </p:contentPart>
        </mc:Choice>
        <mc:Fallback xmlns="">
          <p:pic>
            <p:nvPicPr>
              <p:cNvPr id="33" name="Ink 32"/>
            </p:nvPicPr>
            <p:blipFill>
              <a:blip r:embed="rId18"/>
            </p:blipFill>
            <p:spPr>
              <a:xfrm>
                <a:off x="2053980" y="2765125"/>
                <a:ext cx="23760" cy="5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0" name="Ink 39"/>
              <p14:cNvContentPartPr/>
              <p14:nvPr/>
            </p14:nvContentPartPr>
            <p14:xfrm>
              <a:off x="2091780" y="2750005"/>
              <a:ext cx="56880" cy="6120"/>
            </p14:xfrm>
          </p:contentPart>
        </mc:Choice>
        <mc:Fallback xmlns="">
          <p:pic>
            <p:nvPicPr>
              <p:cNvPr id="40" name="Ink 39"/>
            </p:nvPicPr>
            <p:blipFill>
              <a:blip r:embed="rId20"/>
            </p:blipFill>
            <p:spPr>
              <a:xfrm>
                <a:off x="2091780" y="2750005"/>
                <a:ext cx="56880" cy="6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" name="Ink 44"/>
              <p14:cNvContentPartPr/>
              <p14:nvPr/>
            </p14:nvContentPartPr>
            <p14:xfrm>
              <a:off x="2155500" y="2733805"/>
              <a:ext cx="6840" cy="31680"/>
            </p14:xfrm>
          </p:contentPart>
        </mc:Choice>
        <mc:Fallback xmlns="">
          <p:pic>
            <p:nvPicPr>
              <p:cNvPr id="45" name="Ink 44"/>
            </p:nvPicPr>
            <p:blipFill>
              <a:blip r:embed="rId22"/>
            </p:blipFill>
            <p:spPr>
              <a:xfrm>
                <a:off x="2155500" y="2733805"/>
                <a:ext cx="6840" cy="31680"/>
              </a:xfrm>
              <a:prstGeom prst="rect"/>
            </p:spPr>
          </p:pic>
        </mc:Fallback>
      </mc:AlternateContent>
      <p:grpSp>
        <p:nvGrpSpPr>
          <p:cNvPr id="48" name="Group 47"/>
          <p:cNvGrpSpPr/>
          <p:nvPr/>
        </p:nvGrpSpPr>
        <p:grpSpPr>
          <a:xfrm>
            <a:off x="1376100" y="2743165"/>
            <a:ext cx="776880" cy="32040"/>
            <a:chOff x="1376100" y="2743165"/>
            <a:chExt cx="776880" cy="3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/>
                <p14:cNvContentPartPr/>
                <p14:nvPr/>
              </p14:nvContentPartPr>
              <p14:xfrm>
                <a:off x="1651140" y="2752525"/>
                <a:ext cx="127080" cy="360"/>
              </p14:xfrm>
            </p:contentPart>
          </mc:Choice>
          <mc:Fallback xmlns="">
            <p:pic>
              <p:nvPicPr>
                <p:cNvPr id="12" name="Ink 11"/>
              </p:nvPicPr>
              <p:blipFill>
                <a:blip r:embed="rId24"/>
              </p:blipFill>
              <p:spPr>
                <a:xfrm>
                  <a:off x="1651140" y="2752525"/>
                  <a:ext cx="12708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/>
                <p14:cNvContentPartPr/>
                <p14:nvPr/>
              </p14:nvContentPartPr>
              <p14:xfrm>
                <a:off x="1536660" y="2755765"/>
                <a:ext cx="69840" cy="10080"/>
              </p14:xfrm>
            </p:contentPart>
          </mc:Choice>
          <mc:Fallback xmlns="">
            <p:pic>
              <p:nvPicPr>
                <p:cNvPr id="13" name="Ink 12"/>
              </p:nvPicPr>
              <p:blipFill>
                <a:blip r:embed="rId26"/>
              </p:blipFill>
              <p:spPr>
                <a:xfrm>
                  <a:off x="1536660" y="2755765"/>
                  <a:ext cx="69840" cy="10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/>
                <p14:cNvContentPartPr/>
                <p14:nvPr/>
              </p14:nvContentPartPr>
              <p14:xfrm>
                <a:off x="1448100" y="2761885"/>
                <a:ext cx="63720" cy="4680"/>
              </p14:xfrm>
            </p:contentPart>
          </mc:Choice>
          <mc:Fallback xmlns="">
            <p:pic>
              <p:nvPicPr>
                <p:cNvPr id="14" name="Ink 13"/>
              </p:nvPicPr>
              <p:blipFill>
                <a:blip r:embed="rId28"/>
              </p:blipFill>
              <p:spPr>
                <a:xfrm>
                  <a:off x="1448100" y="2761885"/>
                  <a:ext cx="63720" cy="46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/>
                <p14:cNvContentPartPr/>
                <p14:nvPr/>
              </p14:nvContentPartPr>
              <p14:xfrm>
                <a:off x="1376100" y="2757565"/>
                <a:ext cx="14760" cy="1440"/>
              </p14:xfrm>
            </p:contentPart>
          </mc:Choice>
          <mc:Fallback xmlns="">
            <p:pic>
              <p:nvPicPr>
                <p:cNvPr id="16" name="Ink 15"/>
              </p:nvPicPr>
              <p:blipFill>
                <a:blip r:embed="rId30"/>
              </p:blipFill>
              <p:spPr>
                <a:xfrm>
                  <a:off x="1376100" y="2757565"/>
                  <a:ext cx="14760" cy="14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/>
                <p14:cNvContentPartPr/>
                <p14:nvPr/>
              </p14:nvContentPartPr>
              <p14:xfrm>
                <a:off x="1505340" y="2746045"/>
                <a:ext cx="91440" cy="360"/>
              </p14:xfrm>
            </p:contentPart>
          </mc:Choice>
          <mc:Fallback xmlns="">
            <p:pic>
              <p:nvPicPr>
                <p:cNvPr id="18" name="Ink 17"/>
              </p:nvPicPr>
              <p:blipFill>
                <a:blip r:embed="rId32"/>
              </p:blipFill>
              <p:spPr>
                <a:xfrm>
                  <a:off x="1505340" y="2746045"/>
                  <a:ext cx="9144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/>
                <p14:cNvContentPartPr/>
                <p14:nvPr/>
              </p14:nvContentPartPr>
              <p14:xfrm>
                <a:off x="1844460" y="2765125"/>
                <a:ext cx="165240" cy="10080"/>
              </p14:xfrm>
            </p:contentPart>
          </mc:Choice>
          <mc:Fallback xmlns="">
            <p:pic>
              <p:nvPicPr>
                <p:cNvPr id="24" name="Ink 23"/>
              </p:nvPicPr>
              <p:blipFill>
                <a:blip r:embed="rId34"/>
              </p:blipFill>
              <p:spPr>
                <a:xfrm>
                  <a:off x="1844460" y="2765125"/>
                  <a:ext cx="165240" cy="10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/>
                <p14:cNvContentPartPr/>
                <p14:nvPr/>
              </p14:nvContentPartPr>
              <p14:xfrm>
                <a:off x="1917540" y="2767645"/>
                <a:ext cx="120600" cy="4680"/>
              </p14:xfrm>
            </p:contentPart>
          </mc:Choice>
          <mc:Fallback xmlns="">
            <p:pic>
              <p:nvPicPr>
                <p:cNvPr id="25" name="Ink 24"/>
              </p:nvPicPr>
              <p:blipFill>
                <a:blip r:embed="rId36"/>
              </p:blipFill>
              <p:spPr>
                <a:xfrm>
                  <a:off x="1917540" y="2767645"/>
                  <a:ext cx="120600" cy="46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/>
                <p14:cNvContentPartPr/>
                <p14:nvPr/>
              </p14:nvContentPartPr>
              <p14:xfrm>
                <a:off x="1924020" y="2762245"/>
                <a:ext cx="360" cy="360"/>
              </p14:xfrm>
            </p:contentPart>
          </mc:Choice>
          <mc:Fallback xmlns="">
            <p:pic>
              <p:nvPicPr>
                <p:cNvPr id="27" name="Ink 26"/>
              </p:nvPicPr>
              <p:blipFill>
                <a:blip r:embed="rId38"/>
              </p:blipFill>
              <p:spPr>
                <a:xfrm>
                  <a:off x="1924020" y="2762245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/>
                <p14:cNvContentPartPr/>
                <p14:nvPr/>
              </p14:nvContentPartPr>
              <p14:xfrm>
                <a:off x="1908900" y="2746045"/>
                <a:ext cx="15480" cy="360"/>
              </p14:xfrm>
            </p:contentPart>
          </mc:Choice>
          <mc:Fallback xmlns="">
            <p:pic>
              <p:nvPicPr>
                <p:cNvPr id="29" name="Ink 28"/>
              </p:nvPicPr>
              <p:blipFill>
                <a:blip r:embed="rId40"/>
              </p:blipFill>
              <p:spPr>
                <a:xfrm>
                  <a:off x="1908900" y="2746045"/>
                  <a:ext cx="1548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/>
                <p14:cNvContentPartPr/>
                <p14:nvPr/>
              </p14:nvContentPartPr>
              <p14:xfrm>
                <a:off x="1686060" y="2743165"/>
                <a:ext cx="168480" cy="19440"/>
              </p14:xfrm>
            </p:contentPart>
          </mc:Choice>
          <mc:Fallback xmlns="">
            <p:pic>
              <p:nvPicPr>
                <p:cNvPr id="31" name="Ink 30"/>
              </p:nvPicPr>
              <p:blipFill>
                <a:blip r:embed="rId42"/>
              </p:blipFill>
              <p:spPr>
                <a:xfrm>
                  <a:off x="1686060" y="2743165"/>
                  <a:ext cx="168480" cy="194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2" name="Ink 41"/>
                <p14:cNvContentPartPr/>
                <p14:nvPr/>
              </p14:nvContentPartPr>
              <p14:xfrm>
                <a:off x="2117700" y="2752525"/>
                <a:ext cx="360" cy="360"/>
              </p14:xfrm>
            </p:contentPart>
          </mc:Choice>
          <mc:Fallback xmlns="">
            <p:pic>
              <p:nvPicPr>
                <p:cNvPr id="42" name="Ink 41"/>
              </p:nvPicPr>
              <p:blipFill>
                <a:blip r:embed="rId44"/>
              </p:blipFill>
              <p:spPr>
                <a:xfrm>
                  <a:off x="2117700" y="2752525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3" name="Ink 42"/>
                <p14:cNvContentPartPr/>
                <p14:nvPr/>
              </p14:nvContentPartPr>
              <p14:xfrm>
                <a:off x="2104740" y="2759005"/>
                <a:ext cx="38160" cy="3600"/>
              </p14:xfrm>
            </p:contentPart>
          </mc:Choice>
          <mc:Fallback xmlns="">
            <p:pic>
              <p:nvPicPr>
                <p:cNvPr id="43" name="Ink 42"/>
              </p:nvPicPr>
              <p:blipFill>
                <a:blip r:embed="rId46"/>
              </p:blipFill>
              <p:spPr>
                <a:xfrm>
                  <a:off x="2104740" y="2759005"/>
                  <a:ext cx="38160" cy="36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/>
                <p14:cNvContentPartPr/>
                <p14:nvPr/>
              </p14:nvContentPartPr>
              <p14:xfrm>
                <a:off x="2151180" y="2751085"/>
                <a:ext cx="1800" cy="23760"/>
              </p14:xfrm>
            </p:contentPart>
          </mc:Choice>
          <mc:Fallback xmlns="">
            <p:pic>
              <p:nvPicPr>
                <p:cNvPr id="47" name="Ink 46"/>
              </p:nvPicPr>
              <p:blipFill>
                <a:blip r:embed="rId48"/>
              </p:blipFill>
              <p:spPr>
                <a:xfrm>
                  <a:off x="2151180" y="2751085"/>
                  <a:ext cx="1800" cy="23760"/>
                </a:xfrm>
                <a:prstGeom prst="rect"/>
              </p:spPr>
            </p:pic>
          </mc:Fallback>
        </mc:AlternateContent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</a:t>
            </a:r>
            <a:r>
              <a:rPr lang="ro-RO" dirty="0"/>
              <a:t>4</a:t>
            </a:r>
            <a:r>
              <a:rPr lang="en-GB" dirty="0"/>
              <a:t>. </a:t>
            </a:r>
            <a:r>
              <a:rPr lang="en-GB" dirty="0" err="1"/>
              <a:t>OpCode</a:t>
            </a:r>
            <a:r>
              <a:rPr lang="en-GB" dirty="0"/>
              <a:t> Translator</a:t>
            </a:r>
          </a:p>
        </p:txBody>
      </p:sp>
      <p:sp>
        <p:nvSpPr>
          <p:cNvPr id="701" name="Google Shape;701;p75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702" name="Google Shape;702;p75"/>
          <p:cNvSpPr txBox="1"/>
          <p:nvPr/>
        </p:nvSpPr>
        <p:spPr>
          <a:xfrm>
            <a:off x="481650" y="1440250"/>
            <a:ext cx="81807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Convertește opcode-urile externe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(de la CPU) în opcode-uri interne ale ALU: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03" name="Google Shape;703;p7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25050" y="2339625"/>
            <a:ext cx="4293899" cy="25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8"/>
          <p:cNvSpPr txBox="1">
            <a:spLocks noGrp="1"/>
          </p:cNvSpPr>
          <p:nvPr>
            <p:ph type="title"/>
          </p:nvPr>
        </p:nvSpPr>
        <p:spPr>
          <a:xfrm>
            <a:off x="601004" y="596004"/>
            <a:ext cx="79419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5.5. </a:t>
            </a:r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ro-RO" dirty="0"/>
              <a:t>în Complement de 2</a:t>
            </a:r>
            <a:endParaRPr lang="en-GB" dirty="0"/>
          </a:p>
        </p:txBody>
      </p:sp>
      <p:sp>
        <p:nvSpPr>
          <p:cNvPr id="726" name="Google Shape;726;p78"/>
          <p:cNvSpPr txBox="1"/>
          <p:nvPr/>
        </p:nvSpPr>
        <p:spPr>
          <a:xfrm>
            <a:off x="720000" y="1313874"/>
            <a:ext cx="8227800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operațiile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aritmetice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folosesc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reprezentarea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complement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față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2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numerele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Interval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16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pozitive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0 la 32767 (0x0000 la 0x7FFF)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negative: -32768 la -1 (0x8000 la 0xFFFF)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Conversie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Pozitiv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Negativ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inversare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+ 1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Exemplu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5 = 0x0005 → -5 = 0xFFFB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9"/>
          <p:cNvSpPr txBox="1">
            <a:spLocks noGrp="1"/>
          </p:cNvSpPr>
          <p:nvPr>
            <p:ph type="title"/>
          </p:nvPr>
        </p:nvSpPr>
        <p:spPr>
          <a:xfrm>
            <a:off x="720000" y="476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5.6. </a:t>
            </a:r>
            <a:r>
              <a:rPr lang="en-GB" dirty="0" err="1"/>
              <a:t>Operații</a:t>
            </a:r>
            <a:r>
              <a:rPr lang="en-GB" dirty="0"/>
              <a:t> de </a:t>
            </a:r>
            <a:r>
              <a:rPr lang="en-GB" dirty="0" err="1"/>
              <a:t>Adunare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Scădere</a:t>
            </a:r>
            <a:endParaRPr lang="en-GB" dirty="0"/>
          </a:p>
        </p:txBody>
      </p:sp>
      <p:sp>
        <p:nvSpPr>
          <p:cNvPr id="732" name="Google Shape;732;p79"/>
          <p:cNvSpPr txBox="1">
            <a:spLocks noGrp="1"/>
          </p:cNvSpPr>
          <p:nvPr>
            <p:ph type="subTitle" idx="2"/>
          </p:nvPr>
        </p:nvSpPr>
        <p:spPr>
          <a:xfrm>
            <a:off x="4617050" y="1796250"/>
            <a:ext cx="4221300" cy="28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/>
              <a:t>Overflow Flag (O):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O = 1 când rezultatul depășește intervalul signed [-32768, 32767]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Calculat: `O = carry_in_to_MSB XOR carry_out_from_MSB`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/>
          </a:p>
        </p:txBody>
      </p:sp>
      <p:sp>
        <p:nvSpPr>
          <p:cNvPr id="733" name="Google Shape;733;p79"/>
          <p:cNvSpPr txBox="1"/>
          <p:nvPr/>
        </p:nvSpPr>
        <p:spPr>
          <a:xfrm>
            <a:off x="305650" y="872219"/>
            <a:ext cx="4569300" cy="3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ADD/ADDI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SUB/SUBI: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/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scădere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nativă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complement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față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2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ALU-ul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tratează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valorile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 signed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Carry Flag (C):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 = 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unsigned overflow (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depășire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 = 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unsigned borrow (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împrumut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scădere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5.7. </a:t>
            </a:r>
            <a:r>
              <a:rPr lang="en-GB" dirty="0" err="1"/>
              <a:t>Înmulțire</a:t>
            </a:r>
            <a:r>
              <a:rPr lang="en-GB" dirty="0"/>
              <a:t> cu </a:t>
            </a:r>
            <a:r>
              <a:rPr lang="en-GB" dirty="0" err="1"/>
              <a:t>Semn</a:t>
            </a:r>
            <a:endParaRPr lang="en-GB" dirty="0"/>
          </a:p>
        </p:txBody>
      </p:sp>
      <p:sp>
        <p:nvSpPr>
          <p:cNvPr id="739" name="Google Shape;739;p80"/>
          <p:cNvSpPr txBox="1">
            <a:spLocks noGrp="1"/>
          </p:cNvSpPr>
          <p:nvPr>
            <p:ph type="subTitle" idx="2"/>
          </p:nvPr>
        </p:nvSpPr>
        <p:spPr>
          <a:xfrm>
            <a:off x="5441375" y="1433100"/>
            <a:ext cx="3433500" cy="3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/>
              <a:t>Overflow Detection:</a:t>
            </a:r>
            <a:endParaRPr sz="18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</a:t>
            </a:r>
            <a:r>
              <a:rPr lang="en-GB" sz="1800" dirty="0" err="1"/>
              <a:t>Registrul</a:t>
            </a:r>
            <a:r>
              <a:rPr lang="en-GB" sz="1800" dirty="0"/>
              <a:t> A (17 </a:t>
            </a:r>
            <a:r>
              <a:rPr lang="en-GB" sz="1800" dirty="0" err="1"/>
              <a:t>biți</a:t>
            </a:r>
            <a:r>
              <a:rPr lang="en-GB" sz="1800" dirty="0"/>
              <a:t> cu carry) </a:t>
            </a:r>
            <a:r>
              <a:rPr lang="en-GB" sz="1800" dirty="0" err="1"/>
              <a:t>capturează</a:t>
            </a:r>
            <a:r>
              <a:rPr lang="en-GB" sz="1800" dirty="0"/>
              <a:t> overflow-ul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C = 1 </a:t>
            </a:r>
            <a:r>
              <a:rPr lang="en-GB" sz="1800" dirty="0" err="1"/>
              <a:t>dacă</a:t>
            </a:r>
            <a:r>
              <a:rPr lang="en-GB" sz="1800" dirty="0"/>
              <a:t> </a:t>
            </a:r>
            <a:r>
              <a:rPr lang="en-GB" sz="1800" dirty="0" err="1"/>
              <a:t>există</a:t>
            </a:r>
            <a:r>
              <a:rPr lang="en-GB" sz="1800" dirty="0"/>
              <a:t> </a:t>
            </a:r>
            <a:r>
              <a:rPr lang="en-GB" sz="1800" dirty="0" err="1"/>
              <a:t>biți</a:t>
            </a:r>
            <a:r>
              <a:rPr lang="en-GB" sz="1800" dirty="0"/>
              <a:t> </a:t>
            </a:r>
            <a:r>
              <a:rPr lang="en-GB" sz="1800" dirty="0" err="1"/>
              <a:t>nenuli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A[16:15]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O = 1 </a:t>
            </a:r>
            <a:r>
              <a:rPr lang="en-GB" sz="1800" dirty="0" err="1"/>
              <a:t>dacă</a:t>
            </a:r>
            <a:r>
              <a:rPr lang="en-GB" sz="1800" dirty="0"/>
              <a:t> </a:t>
            </a:r>
            <a:r>
              <a:rPr lang="en-GB" sz="1800" dirty="0" err="1"/>
              <a:t>rezultatul</a:t>
            </a:r>
            <a:r>
              <a:rPr lang="en-GB" sz="1800" dirty="0"/>
              <a:t> nu </a:t>
            </a:r>
            <a:r>
              <a:rPr lang="en-GB" sz="1800" dirty="0" err="1"/>
              <a:t>poate</a:t>
            </a:r>
            <a:r>
              <a:rPr lang="en-GB" sz="1800" dirty="0"/>
              <a:t> fi </a:t>
            </a:r>
            <a:r>
              <a:rPr lang="en-GB" sz="1800" dirty="0" err="1"/>
              <a:t>reprezentat</a:t>
            </a:r>
            <a:r>
              <a:rPr lang="en-GB" sz="1800" dirty="0"/>
              <a:t> pe 16 </a:t>
            </a:r>
            <a:r>
              <a:rPr lang="en-GB" sz="1800" dirty="0" err="1"/>
              <a:t>biți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 dirty="0"/>
          </a:p>
        </p:txBody>
      </p:sp>
      <p:sp>
        <p:nvSpPr>
          <p:cNvPr id="740" name="Google Shape;740;p80"/>
          <p:cNvSpPr txBox="1"/>
          <p:nvPr/>
        </p:nvSpPr>
        <p:spPr>
          <a:xfrm>
            <a:off x="269125" y="1290555"/>
            <a:ext cx="5022900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Booth's Algorithm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eficient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înmulțire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signed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Reduce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numărul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adunări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necesare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Funcționare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Semnul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rezultatului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= XOR(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semn_A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semn_X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/Y)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Înmulțire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absolute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Aplicare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1"/>
          <p:cNvSpPr txBox="1">
            <a:spLocks noGrp="1"/>
          </p:cNvSpPr>
          <p:nvPr>
            <p:ph type="title"/>
          </p:nvPr>
        </p:nvSpPr>
        <p:spPr>
          <a:xfrm>
            <a:off x="720000" y="289375"/>
            <a:ext cx="7704000" cy="12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A2F40"/>
                </a:solidFill>
              </a:rPr>
              <a:t>5.8. </a:t>
            </a:r>
            <a:r>
              <a:rPr lang="en-GB" dirty="0" err="1">
                <a:solidFill>
                  <a:srgbClr val="0A2F40"/>
                </a:solidFill>
              </a:rPr>
              <a:t>Împărțire</a:t>
            </a:r>
            <a:r>
              <a:rPr lang="en-GB" dirty="0">
                <a:solidFill>
                  <a:srgbClr val="0A2F40"/>
                </a:solidFill>
              </a:rPr>
              <a:t> </a:t>
            </a:r>
            <a:r>
              <a:rPr lang="en-GB" dirty="0" err="1">
                <a:solidFill>
                  <a:srgbClr val="0A2F40"/>
                </a:solidFill>
              </a:rPr>
              <a:t>și</a:t>
            </a:r>
            <a:r>
              <a:rPr lang="en-GB" dirty="0">
                <a:solidFill>
                  <a:srgbClr val="0A2F40"/>
                </a:solidFill>
              </a:rPr>
              <a:t> Modulo cu </a:t>
            </a:r>
            <a:r>
              <a:rPr lang="en-GB" dirty="0" err="1">
                <a:solidFill>
                  <a:srgbClr val="0A2F40"/>
                </a:solidFill>
              </a:rPr>
              <a:t>Semn</a:t>
            </a:r>
            <a:r>
              <a:rPr lang="en-GB" dirty="0">
                <a:solidFill>
                  <a:srgbClr val="0A2F40"/>
                </a:solidFill>
              </a:rPr>
              <a:t> (DIV/DIVI, MOD/MODI)</a:t>
            </a:r>
            <a:endParaRPr dirty="0">
              <a:solidFill>
                <a:srgbClr val="0A2F4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0" dirty="0">
                <a:solidFill>
                  <a:srgbClr val="000000"/>
                </a:solidFill>
              </a:rPr>
              <a:t> </a:t>
            </a:r>
            <a:endParaRPr b="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b="0" dirty="0">
              <a:solidFill>
                <a:srgbClr val="000000"/>
              </a:solidFill>
            </a:endParaRPr>
          </a:p>
        </p:txBody>
      </p:sp>
      <p:sp>
        <p:nvSpPr>
          <p:cNvPr id="746" name="Google Shape;746;p81"/>
          <p:cNvSpPr txBox="1">
            <a:spLocks noGrp="1"/>
          </p:cNvSpPr>
          <p:nvPr>
            <p:ph type="subTitle" idx="2"/>
          </p:nvPr>
        </p:nvSpPr>
        <p:spPr>
          <a:xfrm>
            <a:off x="9990800" y="2449275"/>
            <a:ext cx="3433500" cy="22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/>
              <a:t>Overflow Detection: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Registrul A (17 biți cu carry) capturează overflow-ul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C = 1 dacă există biți nenuli în A[16:15]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O = 1 dacă rezultatul nu poate fi reprezentat pe 16 biți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/>
          </a:p>
        </p:txBody>
      </p:sp>
      <p:sp>
        <p:nvSpPr>
          <p:cNvPr id="747" name="Google Shape;747;p81"/>
          <p:cNvSpPr txBox="1"/>
          <p:nvPr/>
        </p:nvSpPr>
        <p:spPr>
          <a:xfrm>
            <a:off x="178950" y="1558075"/>
            <a:ext cx="87861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SRT4 (Signed Radix-4) Division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Implementat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nivel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FSM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Control Unit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Divizor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radix-4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eficiență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Pipeline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împărțire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D_PRE1, D_PRE2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(2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cicluri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Extragere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conversie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absolute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D0-D10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(11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cicluri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SRT4 pe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unsigned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D_POST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ciclu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Aplicare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2"/>
          <p:cNvSpPr txBox="1">
            <a:spLocks noGrp="1"/>
          </p:cNvSpPr>
          <p:nvPr>
            <p:ph type="title"/>
          </p:nvPr>
        </p:nvSpPr>
        <p:spPr>
          <a:xfrm>
            <a:off x="720000" y="695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5.9. Flag Updates Summary</a:t>
            </a:r>
          </a:p>
        </p:txBody>
      </p:sp>
      <p:sp>
        <p:nvSpPr>
          <p:cNvPr id="753" name="Google Shape;753;p82"/>
          <p:cNvSpPr txBox="1">
            <a:spLocks noGrp="1"/>
          </p:cNvSpPr>
          <p:nvPr>
            <p:ph type="subTitle" idx="2"/>
          </p:nvPr>
        </p:nvSpPr>
        <p:spPr>
          <a:xfrm>
            <a:off x="4182696" y="1414800"/>
            <a:ext cx="4692409" cy="3136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/>
              <a:t>Operații</a:t>
            </a:r>
            <a:r>
              <a:rPr lang="en-GB" sz="1800" b="1" dirty="0"/>
              <a:t> care </a:t>
            </a:r>
            <a:r>
              <a:rPr lang="en-GB" sz="1800" b="1" dirty="0" err="1"/>
              <a:t>actualizează</a:t>
            </a:r>
            <a:r>
              <a:rPr lang="en-GB" sz="1800" b="1" dirty="0"/>
              <a:t> </a:t>
            </a:r>
            <a:r>
              <a:rPr lang="en-GB" sz="1800" b="1" dirty="0" err="1"/>
              <a:t>doar</a:t>
            </a:r>
            <a:r>
              <a:rPr lang="en-GB" sz="1800" b="1" dirty="0"/>
              <a:t> Z </a:t>
            </a:r>
            <a:r>
              <a:rPr lang="en-GB" sz="1800" b="1" dirty="0" err="1"/>
              <a:t>și</a:t>
            </a:r>
            <a:r>
              <a:rPr lang="en-GB" sz="1800" b="1" dirty="0"/>
              <a:t> N:</a:t>
            </a:r>
            <a:endParaRPr sz="18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INC, DEC</a:t>
            </a:r>
            <a:endParaRPr sz="1800" dirty="0"/>
          </a:p>
          <a:p>
            <a:pPr marL="0" lvl="0" indent="0">
              <a:lnSpc>
                <a:spcPct val="115000"/>
              </a:lnSpc>
              <a:spcBef>
                <a:spcPts val="1200"/>
              </a:spcBef>
            </a:pPr>
            <a:r>
              <a:rPr lang="en-GB" sz="1800" dirty="0"/>
              <a:t>- MOV (indirect, </a:t>
            </a:r>
            <a:r>
              <a:rPr lang="en-GB" sz="1800" dirty="0" err="1"/>
              <a:t>prin</a:t>
            </a:r>
            <a:r>
              <a:rPr lang="en-GB" sz="1800" dirty="0"/>
              <a:t> </a:t>
            </a:r>
            <a:r>
              <a:rPr lang="en-GB" sz="1800" dirty="0" err="1"/>
              <a:t>valoarea</a:t>
            </a:r>
            <a:r>
              <a:rPr lang="en-GB" sz="1800" dirty="0"/>
              <a:t> </a:t>
            </a:r>
            <a:r>
              <a:rPr lang="en-GB" sz="1800" dirty="0" err="1"/>
              <a:t>mutată</a:t>
            </a:r>
            <a:r>
              <a:rPr lang="en-GB" sz="1800" dirty="0"/>
              <a:t>)</a:t>
            </a:r>
            <a:endParaRPr lang="ro-RO" sz="1800" dirty="0"/>
          </a:p>
          <a:p>
            <a:pPr marL="0" lvl="0" indent="0">
              <a:lnSpc>
                <a:spcPct val="115000"/>
              </a:lnSpc>
              <a:spcBef>
                <a:spcPts val="1200"/>
              </a:spcBef>
            </a:pPr>
            <a:r>
              <a:rPr lang="ro-RO" sz="1800" dirty="0"/>
              <a:t>- AND, OR, XOR, NOT (+versiuni imediate)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</a:pPr>
            <a:r>
              <a:rPr lang="ro-RO" sz="1800" dirty="0"/>
              <a:t>- LSL, LSR, RSL, RSR (+versiuni imediate)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 b="1" dirty="0"/>
          </a:p>
        </p:txBody>
      </p:sp>
      <p:sp>
        <p:nvSpPr>
          <p:cNvPr id="754" name="Google Shape;754;p82"/>
          <p:cNvSpPr txBox="1"/>
          <p:nvPr/>
        </p:nvSpPr>
        <p:spPr>
          <a:xfrm>
            <a:off x="206550" y="1414800"/>
            <a:ext cx="3976146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actualizează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toate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flag-urile (Z, N, C, O):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ADD, SUB, MUL, DIV, MOD (+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versiuni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imediate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lang="ro-RO"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CMP, TST (+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versiuni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imediate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83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83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Modulul de mining</a:t>
            </a:r>
          </a:p>
        </p:txBody>
      </p:sp>
      <p:sp>
        <p:nvSpPr>
          <p:cNvPr id="761" name="Google Shape;761;p83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4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6.1. Descriere generală</a:t>
            </a:r>
          </a:p>
        </p:txBody>
      </p:sp>
      <p:sp>
        <p:nvSpPr>
          <p:cNvPr id="767" name="Google Shape;767;p84"/>
          <p:cNvSpPr txBox="1">
            <a:spLocks noGrp="1"/>
          </p:cNvSpPr>
          <p:nvPr>
            <p:ph type="subTitle" idx="2"/>
          </p:nvPr>
        </p:nvSpPr>
        <p:spPr>
          <a:xfrm>
            <a:off x="720000" y="2996475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/>
              <a:t>Acest modul funcționează sincron, pe baza unui semnal de ceas, și este controlat printr-o mașină de stări finite (FSM), care coordonează etapele procesului de hashing: inițializare, calcul, verificare și finalizare.</a:t>
            </a:r>
            <a:endParaRPr sz="2000"/>
          </a:p>
        </p:txBody>
      </p:sp>
      <p:sp>
        <p:nvSpPr>
          <p:cNvPr id="768" name="Google Shape;768;p84"/>
          <p:cNvSpPr txBox="1"/>
          <p:nvPr/>
        </p:nvSpPr>
        <p:spPr>
          <a:xfrm>
            <a:off x="720000" y="1596600"/>
            <a:ext cx="82278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 mining_core implementează un nucleu de calcul hardware, inspirat din structura algoritmului SHA-256, dar simplificat și adaptat pentru lățimea de date de 16 biți.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6.2. Rolul modulului</a:t>
            </a:r>
          </a:p>
        </p:txBody>
      </p:sp>
      <p:sp>
        <p:nvSpPr>
          <p:cNvPr id="775" name="Google Shape;775;p85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Rolurile principale ale modulului sunt: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generarea valorilor de tip </a:t>
            </a:r>
            <a:r>
              <a:rPr lang="en-GB" sz="2000" i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nonce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calcularea unui hash pentru fiecare nonce;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compararea hash-ului obținut cu o valoare țintă;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semnalizarea găsirii unei soluții valide.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6"/>
          <p:cNvSpPr txBox="1">
            <a:spLocks noGrp="1"/>
          </p:cNvSpPr>
          <p:nvPr>
            <p:ph type="title"/>
          </p:nvPr>
        </p:nvSpPr>
        <p:spPr>
          <a:xfrm>
            <a:off x="720000" y="627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6.3. Interfața modulului</a:t>
            </a:r>
          </a:p>
        </p:txBody>
      </p:sp>
      <p:sp>
        <p:nvSpPr>
          <p:cNvPr id="781" name="Google Shape;781;p86"/>
          <p:cNvSpPr txBox="1">
            <a:spLocks noGrp="1"/>
          </p:cNvSpPr>
          <p:nvPr>
            <p:ph type="subTitle" idx="2"/>
          </p:nvPr>
        </p:nvSpPr>
        <p:spPr>
          <a:xfrm>
            <a:off x="5688800" y="1331075"/>
            <a:ext cx="3455100" cy="36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600" b="1" dirty="0" err="1"/>
              <a:t>Semnale</a:t>
            </a:r>
            <a:r>
              <a:rPr lang="en-GB" sz="1600" b="1" dirty="0"/>
              <a:t> de </a:t>
            </a:r>
            <a:r>
              <a:rPr lang="en-GB" sz="1600" b="1" dirty="0" err="1"/>
              <a:t>ieșire</a:t>
            </a:r>
            <a:endParaRPr sz="16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· </a:t>
            </a:r>
            <a:r>
              <a:rPr lang="en-GB" sz="1600" b="1" dirty="0" err="1"/>
              <a:t>hash_out</a:t>
            </a:r>
            <a:r>
              <a:rPr lang="en-GB" sz="1600" b="1" dirty="0"/>
              <a:t> [15:0]</a:t>
            </a:r>
            <a:r>
              <a:rPr lang="en-GB" sz="1600" dirty="0"/>
              <a:t> – </a:t>
            </a:r>
            <a:r>
              <a:rPr lang="en-GB" sz="1600" dirty="0" err="1"/>
              <a:t>rezultatul</a:t>
            </a:r>
            <a:r>
              <a:rPr lang="en-GB" sz="1600" dirty="0"/>
              <a:t> </a:t>
            </a:r>
            <a:r>
              <a:rPr lang="en-GB" sz="1600" dirty="0" err="1"/>
              <a:t>procesului</a:t>
            </a:r>
            <a:r>
              <a:rPr lang="en-GB" sz="1600" dirty="0"/>
              <a:t> de hashing;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· </a:t>
            </a:r>
            <a:r>
              <a:rPr lang="en-GB" sz="1600" b="1" dirty="0" err="1"/>
              <a:t>result_nonce</a:t>
            </a:r>
            <a:r>
              <a:rPr lang="en-GB" sz="1600" b="1" dirty="0"/>
              <a:t> [15:0]</a:t>
            </a:r>
            <a:r>
              <a:rPr lang="en-GB" sz="1600" dirty="0"/>
              <a:t> – nonce-ul care a </a:t>
            </a:r>
            <a:r>
              <a:rPr lang="en-GB" sz="1600" dirty="0" err="1"/>
              <a:t>generat</a:t>
            </a:r>
            <a:r>
              <a:rPr lang="en-GB" sz="1600" dirty="0"/>
              <a:t> un hash valid;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· </a:t>
            </a:r>
            <a:r>
              <a:rPr lang="en-GB" sz="1600" b="1" dirty="0"/>
              <a:t>done</a:t>
            </a:r>
            <a:r>
              <a:rPr lang="en-GB" sz="1600" dirty="0"/>
              <a:t> – </a:t>
            </a:r>
            <a:r>
              <a:rPr lang="en-GB" sz="1600" dirty="0" err="1"/>
              <a:t>semnal</a:t>
            </a:r>
            <a:r>
              <a:rPr lang="en-GB" sz="1600" dirty="0"/>
              <a:t> care </a:t>
            </a:r>
            <a:r>
              <a:rPr lang="en-GB" sz="1600" dirty="0" err="1"/>
              <a:t>indică</a:t>
            </a:r>
            <a:r>
              <a:rPr lang="en-GB" sz="1600" dirty="0"/>
              <a:t> </a:t>
            </a:r>
            <a:r>
              <a:rPr lang="en-GB" sz="1600" dirty="0" err="1"/>
              <a:t>finalizarea</a:t>
            </a:r>
            <a:r>
              <a:rPr lang="en-GB" sz="1600" dirty="0"/>
              <a:t> </a:t>
            </a:r>
            <a:r>
              <a:rPr lang="en-GB" sz="1600" dirty="0" err="1"/>
              <a:t>procesului</a:t>
            </a:r>
            <a:r>
              <a:rPr lang="en-GB" sz="1600" dirty="0"/>
              <a:t> de mining.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600" b="1" dirty="0"/>
          </a:p>
        </p:txBody>
      </p:sp>
      <p:sp>
        <p:nvSpPr>
          <p:cNvPr id="782" name="Google Shape;782;p86"/>
          <p:cNvSpPr txBox="1"/>
          <p:nvPr/>
        </p:nvSpPr>
        <p:spPr>
          <a:xfrm>
            <a:off x="157100" y="913915"/>
            <a:ext cx="5531700" cy="3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Semnale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intrare</a:t>
            </a:r>
            <a:endParaRPr sz="15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clk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ceas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utilizat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sincronizarea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operațiilor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reset 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reset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asincron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activ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nivel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logic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scăzut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start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pornire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mining;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data_in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[15:0]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datele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intrare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supuse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hashing;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nonce_in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[15:0]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inițială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nonce-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target [15:0]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țintă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utilizată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validarea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hash-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5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7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6.4. Diagrama Hardware</a:t>
            </a:r>
          </a:p>
        </p:txBody>
      </p:sp>
      <p:sp>
        <p:nvSpPr>
          <p:cNvPr id="789" name="Google Shape;789;p87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90" name="Google Shape;790;p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0000" y="1596600"/>
            <a:ext cx="7703999" cy="3188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8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6.5. Procesul de Hashing</a:t>
            </a:r>
          </a:p>
        </p:txBody>
      </p:sp>
      <p:sp>
        <p:nvSpPr>
          <p:cNvPr id="797" name="Google Shape;797;p88"/>
          <p:cNvSpPr txBox="1"/>
          <p:nvPr/>
        </p:nvSpPr>
        <p:spPr>
          <a:xfrm>
            <a:off x="458100" y="1706025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Inițializarea procesului de hashing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starea INIT, modulele interne sunt inițializate cu valori constante predefinite, similare vectorilor inițiali utilizați în algoritmul SHA-256. Registrele de lucru a–h sunt încărcate cu constantele H0–H7, iar contorul de runde este resetat.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9"/>
          <p:cNvSpPr txBox="1"/>
          <p:nvPr/>
        </p:nvSpPr>
        <p:spPr>
          <a:xfrm>
            <a:off x="458100" y="736725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Calculul hash-ului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starea COMPUTE, modulul execută </a:t>
            </a: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16 runde de calcul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fiecare rundă actualizând registrele interne conform următoarei logici: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se calculează valorile intermediare T1 și T2 folosind funcții logice specifice (rotații, operații AND, XOR);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registrele a–h sunt actualizate în mod secvențial, simulând funcționarea unei structuri de hashing de tip SHA.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La finalul ultimei runde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rezultatul hash-ului este calculat și stocat în semnalul hash_out, utilizând o combinație a valorilor intermediare obținute.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0"/>
          <p:cNvSpPr txBox="1"/>
          <p:nvPr/>
        </p:nvSpPr>
        <p:spPr>
          <a:xfrm>
            <a:off x="458100" y="736725"/>
            <a:ext cx="8227800" cy="4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Verificarea rezultatului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</a:t>
            </a: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starea CHECK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hash-ul calculat este comparat cu valoarea țintă (target):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dacă hash_out &lt; target, procesul este considerat reușit, iar nonce-ul curent este salvat în result_nonce;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dacă rezultatul nu este valid, nonce-ul este incrementat și procesul de hashing este reluat.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Această etapă reflectă principiul de bază al procesului de mining, în care </a:t>
            </a: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 testează succesiv diferite valori 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ale nonce-ului până la găsirea unei soluții valide.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91"/>
          <p:cNvSpPr txBox="1"/>
          <p:nvPr/>
        </p:nvSpPr>
        <p:spPr>
          <a:xfrm>
            <a:off x="458100" y="494675"/>
            <a:ext cx="8227800" cy="19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Finalizarea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DONE_STATE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semnalizează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finalizarea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prin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activarea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semnalului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done.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rămâne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această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stare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până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dezactivarea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semnalului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start, moment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revine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IDLE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fiind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pregătit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nouă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execuție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19" name="Google Shape;819;p91"/>
          <p:cNvSpPr txBox="1"/>
          <p:nvPr/>
        </p:nvSpPr>
        <p:spPr>
          <a:xfrm>
            <a:off x="505200" y="2410475"/>
            <a:ext cx="8133600" cy="22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Concluzie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mining_core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reprezintă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implementare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structurată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hashing de tip mining,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demonstrând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utilizarea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registrelor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interne, 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funcțiilor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logice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complexe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unei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mașini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stări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finite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coordonarea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iterativ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 </a:t>
            </a: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92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92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Structura proiectului</a:t>
            </a:r>
          </a:p>
        </p:txBody>
      </p:sp>
      <p:sp>
        <p:nvSpPr>
          <p:cNvPr id="826" name="Google Shape;826;p92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7.1. Organizare Directoare</a:t>
            </a:r>
          </a:p>
        </p:txBody>
      </p:sp>
      <p:sp>
        <p:nvSpPr>
          <p:cNvPr id="833" name="Google Shape;833;p93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34" name="Google Shape;834;p9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45950" y="1531950"/>
            <a:ext cx="4675525" cy="31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9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24725" y="1302650"/>
            <a:ext cx="3835870" cy="36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7.2. Fișiere Verilog Principale</a:t>
            </a:r>
          </a:p>
        </p:txBody>
      </p:sp>
      <p:sp>
        <p:nvSpPr>
          <p:cNvPr id="842" name="Google Shape;842;p94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43" name="Google Shape;843;p9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77475" y="1596600"/>
            <a:ext cx="3048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9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77475" y="3524125"/>
            <a:ext cx="3536396" cy="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9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045026" y="1596600"/>
            <a:ext cx="2954631" cy="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05" y="2363470"/>
            <a:ext cx="5062220" cy="9956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0930" y="3385185"/>
            <a:ext cx="2229485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9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7.3. Toolchain Files</a:t>
            </a:r>
          </a:p>
        </p:txBody>
      </p:sp>
      <p:sp>
        <p:nvSpPr>
          <p:cNvPr id="854" name="Google Shape;854;p95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55" name="Google Shape;855;p9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0000" y="1596600"/>
            <a:ext cx="34099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9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64301" y="2843150"/>
            <a:ext cx="3272475" cy="11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7.4. Build și Test Files</a:t>
            </a:r>
          </a:p>
        </p:txBody>
      </p:sp>
      <p:sp>
        <p:nvSpPr>
          <p:cNvPr id="863" name="Google Shape;863;p96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65" name="Google Shape;865;p9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0000" y="3374700"/>
            <a:ext cx="38290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9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27100" y="2447262"/>
            <a:ext cx="3381375" cy="90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1203325"/>
            <a:ext cx="3556000" cy="200342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7.5. Test Files</a:t>
            </a:r>
          </a:p>
        </p:txBody>
      </p:sp>
      <p:sp>
        <p:nvSpPr>
          <p:cNvPr id="873" name="Google Shape;873;p97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74" name="Google Shape;874;p9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0002" y="3040890"/>
            <a:ext cx="3099850" cy="12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97"/>
          <p:cNvPicPr preferRelativeResize="0"/>
          <p:nvPr/>
        </p:nvPicPr>
        <p:blipFill rotWithShape="1">
          <a:blip r:embed="rId4"/>
          <a:srcRect t="129" b="129"/>
          <a:stretch>
            <a:fillRect/>
          </a:stretch>
        </p:blipFill>
        <p:spPr>
          <a:xfrm rot="-5400000">
            <a:off x="6657477" y="1448225"/>
            <a:ext cx="2822550" cy="215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9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20000" y="1501338"/>
            <a:ext cx="379095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9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7.6. Documentation Files</a:t>
            </a:r>
          </a:p>
        </p:txBody>
      </p:sp>
      <p:sp>
        <p:nvSpPr>
          <p:cNvPr id="883" name="Google Shape;883;p98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84" name="Google Shape;884;p9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0000" y="1821750"/>
            <a:ext cx="3865900" cy="8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9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419232" y="2403150"/>
            <a:ext cx="2773649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98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19988" y="3079500"/>
            <a:ext cx="368617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99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99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</a:t>
            </a:r>
          </a:p>
        </p:txBody>
      </p:sp>
      <p:sp>
        <p:nvSpPr>
          <p:cNvPr id="893" name="Google Shape;893;p99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0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</a:t>
            </a:r>
          </a:p>
        </p:txBody>
      </p:sp>
      <p:sp>
        <p:nvSpPr>
          <p:cNvPr id="900" name="Google Shape;900;p100"/>
          <p:cNvSpPr txBox="1"/>
          <p:nvPr/>
        </p:nvSpPr>
        <p:spPr>
          <a:xfrm>
            <a:off x="458100" y="1659050"/>
            <a:ext cx="8227800" cy="23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Proiectul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demonstrează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implementarea completă și funcțională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unui procesor educațional pe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16 biți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cu capabilități de extindere și un accelerator hardware specializat pentru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mining criptografic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 În versiunea 2.0, procesorul implementează </a:t>
            </a:r>
            <a:r>
              <a:rPr lang="ro-RO" alt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54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instrucțiuni complete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29 operații de bază, 9 extensii îmbunătățite (JMP, NOP, PUSH X/Y, POP X/Y, MOVR cu 6 variante, BGT, BLT, BGE, BLE) și instrucțiunea specializată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MINE 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accelerare hardware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01"/>
          <p:cNvSpPr txBox="1">
            <a:spLocks noGrp="1"/>
          </p:cNvSpPr>
          <p:nvPr>
            <p:ph type="title"/>
          </p:nvPr>
        </p:nvSpPr>
        <p:spPr>
          <a:xfrm>
            <a:off x="10281800" y="305000"/>
            <a:ext cx="3817200" cy="7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Speciale</a:t>
            </a:r>
          </a:p>
        </p:txBody>
      </p:sp>
      <p:sp>
        <p:nvSpPr>
          <p:cNvPr id="907" name="Google Shape;907;p101"/>
          <p:cNvSpPr txBox="1">
            <a:spLocks noGrp="1"/>
          </p:cNvSpPr>
          <p:nvPr>
            <p:ph type="subTitle" idx="1"/>
          </p:nvPr>
        </p:nvSpPr>
        <p:spPr>
          <a:xfrm>
            <a:off x="510675" y="1532125"/>
            <a:ext cx="6914400" cy="29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 dirty="0" err="1"/>
              <a:t>Procesorul</a:t>
            </a:r>
            <a:r>
              <a:rPr lang="en-GB" sz="1700" b="1" dirty="0"/>
              <a:t> </a:t>
            </a:r>
            <a:r>
              <a:rPr lang="en-GB" sz="1700" b="1" dirty="0" err="1"/>
              <a:t>îndeplinește</a:t>
            </a:r>
            <a:r>
              <a:rPr lang="en-GB" sz="1700" b="1" dirty="0"/>
              <a:t> </a:t>
            </a:r>
            <a:r>
              <a:rPr lang="en-GB" sz="1700" b="1" dirty="0" err="1"/>
              <a:t>toate</a:t>
            </a:r>
            <a:r>
              <a:rPr lang="en-GB" sz="1700" b="1" dirty="0"/>
              <a:t> </a:t>
            </a:r>
            <a:r>
              <a:rPr lang="en-GB" sz="1700" b="1" dirty="0" err="1"/>
              <a:t>obiectivele</a:t>
            </a:r>
            <a:r>
              <a:rPr lang="en-GB" sz="1700" b="1" dirty="0"/>
              <a:t> </a:t>
            </a:r>
            <a:r>
              <a:rPr lang="en-GB" sz="1700" b="1" dirty="0" err="1"/>
              <a:t>propuse</a:t>
            </a:r>
            <a:r>
              <a:rPr lang="en-GB" sz="1700" b="1" dirty="0"/>
              <a:t>:</a:t>
            </a:r>
            <a:endParaRPr sz="17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</a:t>
            </a:r>
            <a:r>
              <a:rPr lang="en-GB" sz="1700" dirty="0" err="1"/>
              <a:t>Arhitectură</a:t>
            </a:r>
            <a:r>
              <a:rPr lang="en-GB" sz="1700" dirty="0"/>
              <a:t> </a:t>
            </a:r>
            <a:r>
              <a:rPr lang="en-GB" sz="1700" dirty="0" err="1"/>
              <a:t>funcțională</a:t>
            </a:r>
            <a:r>
              <a:rPr lang="en-GB" sz="1700" dirty="0"/>
              <a:t> von Neumann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Set </a:t>
            </a:r>
            <a:r>
              <a:rPr lang="en-GB" sz="1700" dirty="0" err="1"/>
              <a:t>complet</a:t>
            </a:r>
            <a:r>
              <a:rPr lang="en-GB" sz="1700" dirty="0"/>
              <a:t> de </a:t>
            </a:r>
            <a:r>
              <a:rPr lang="en-GB" sz="1700" dirty="0" err="1"/>
              <a:t>instrucțiuni</a:t>
            </a:r>
            <a:r>
              <a:rPr lang="en-GB" sz="1700" dirty="0"/>
              <a:t> RISC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ALU cu </a:t>
            </a:r>
            <a:r>
              <a:rPr lang="en-GB" sz="1700" dirty="0" err="1"/>
              <a:t>operații</a:t>
            </a:r>
            <a:r>
              <a:rPr lang="en-GB" sz="1700" dirty="0"/>
              <a:t> </a:t>
            </a:r>
            <a:r>
              <a:rPr lang="en-GB" sz="1700" dirty="0" err="1"/>
              <a:t>aritmetice</a:t>
            </a:r>
            <a:r>
              <a:rPr lang="en-GB" sz="1700" dirty="0"/>
              <a:t>, </a:t>
            </a:r>
            <a:r>
              <a:rPr lang="en-GB" sz="1700" dirty="0" err="1"/>
              <a:t>logice</a:t>
            </a:r>
            <a:r>
              <a:rPr lang="en-GB" sz="1700" dirty="0"/>
              <a:t> </a:t>
            </a:r>
            <a:r>
              <a:rPr lang="en-GB" sz="1700" dirty="0" err="1"/>
              <a:t>și</a:t>
            </a:r>
            <a:r>
              <a:rPr lang="en-GB" sz="1700" dirty="0"/>
              <a:t> de </a:t>
            </a:r>
            <a:r>
              <a:rPr lang="en-GB" sz="1700" dirty="0" err="1"/>
              <a:t>comparație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</a:t>
            </a:r>
            <a:r>
              <a:rPr lang="en-GB" sz="1700" dirty="0" err="1"/>
              <a:t>Algoritmi</a:t>
            </a:r>
            <a:r>
              <a:rPr lang="en-GB" sz="1700" dirty="0"/>
              <a:t> hardware </a:t>
            </a:r>
            <a:r>
              <a:rPr lang="en-GB" sz="1700" dirty="0" err="1"/>
              <a:t>avansați</a:t>
            </a:r>
            <a:r>
              <a:rPr lang="en-GB" sz="1700" dirty="0"/>
              <a:t> (Booth </a:t>
            </a:r>
            <a:r>
              <a:rPr lang="en-GB" sz="1700" dirty="0" err="1"/>
              <a:t>pentru</a:t>
            </a:r>
            <a:r>
              <a:rPr lang="en-GB" sz="1700" dirty="0"/>
              <a:t> MUL, SRT-4 </a:t>
            </a:r>
            <a:r>
              <a:rPr lang="en-GB" sz="1700" dirty="0" err="1"/>
              <a:t>pentru</a:t>
            </a:r>
            <a:r>
              <a:rPr lang="en-GB" sz="1700" dirty="0"/>
              <a:t> DIV)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</a:t>
            </a:r>
            <a:r>
              <a:rPr lang="en-GB" sz="1700" dirty="0" err="1"/>
              <a:t>Sistem</a:t>
            </a:r>
            <a:r>
              <a:rPr lang="en-GB" sz="1700" dirty="0"/>
              <a:t> de </a:t>
            </a:r>
            <a:r>
              <a:rPr lang="en-GB" sz="1700" dirty="0" err="1"/>
              <a:t>memorie</a:t>
            </a:r>
            <a:r>
              <a:rPr lang="en-GB" sz="1700" dirty="0"/>
              <a:t> </a:t>
            </a:r>
            <a:r>
              <a:rPr lang="en-GB" sz="1700" dirty="0" err="1"/>
              <a:t>și</a:t>
            </a:r>
            <a:r>
              <a:rPr lang="en-GB" sz="1700" dirty="0"/>
              <a:t> </a:t>
            </a:r>
            <a:r>
              <a:rPr lang="en-GB" sz="1700" dirty="0" err="1"/>
              <a:t>stivă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</a:t>
            </a:r>
            <a:r>
              <a:rPr lang="en-GB" sz="1700" dirty="0" err="1"/>
              <a:t>Unitate</a:t>
            </a:r>
            <a:r>
              <a:rPr lang="en-GB" sz="1700" dirty="0"/>
              <a:t> de control FSM </a:t>
            </a:r>
            <a:r>
              <a:rPr lang="en-GB" sz="1700" dirty="0" err="1"/>
              <a:t>robustă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Mining core hardware cu </a:t>
            </a:r>
            <a:r>
              <a:rPr lang="en-GB" sz="1700" dirty="0" err="1"/>
              <a:t>interfață</a:t>
            </a:r>
            <a:r>
              <a:rPr lang="en-GB" sz="1700" dirty="0"/>
              <a:t> </a:t>
            </a:r>
            <a:r>
              <a:rPr lang="en-GB" sz="1700" dirty="0" err="1"/>
              <a:t>integrată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-  </a:t>
            </a:r>
            <a:r>
              <a:rPr lang="en-GB" sz="1700" dirty="0" err="1"/>
              <a:t>Testare</a:t>
            </a:r>
            <a:r>
              <a:rPr lang="en-GB" sz="1700" dirty="0"/>
              <a:t> </a:t>
            </a:r>
            <a:r>
              <a:rPr lang="en-GB" sz="1700" dirty="0" err="1"/>
              <a:t>comprehensivă</a:t>
            </a:r>
            <a:r>
              <a:rPr lang="en-GB" sz="1700" dirty="0"/>
              <a:t> </a:t>
            </a:r>
            <a:r>
              <a:rPr lang="en-GB" sz="1700" dirty="0" err="1"/>
              <a:t>și</a:t>
            </a:r>
            <a:r>
              <a:rPr lang="en-GB" sz="1700" dirty="0"/>
              <a:t> </a:t>
            </a:r>
            <a:r>
              <a:rPr lang="en-GB" sz="1700" dirty="0" err="1"/>
              <a:t>validare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dirty="0"/>
              <a:t> 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02"/>
          <p:cNvSpPr txBox="1">
            <a:spLocks noGrp="1"/>
          </p:cNvSpPr>
          <p:nvPr>
            <p:ph type="title"/>
          </p:nvPr>
        </p:nvSpPr>
        <p:spPr>
          <a:xfrm>
            <a:off x="720000" y="555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 Finale</a:t>
            </a:r>
          </a:p>
        </p:txBody>
      </p:sp>
      <p:sp>
        <p:nvSpPr>
          <p:cNvPr id="916" name="Google Shape;916;p102"/>
          <p:cNvSpPr txBox="1"/>
          <p:nvPr/>
        </p:nvSpPr>
        <p:spPr>
          <a:xfrm>
            <a:off x="458100" y="897745"/>
            <a:ext cx="8227800" cy="23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Proiectul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demonstrează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succes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6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Fezabilitatea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unui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design modular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extensibil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procesoare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educaționale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Integrarea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acceleratoarelor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task-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uri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specializate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Importanța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algoritmilor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avansați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(Booth, SRT-4)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performanță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Valoarea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testării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comprehensive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dezvoltarea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Potențialul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extinderi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optimizări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viitoare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Experiența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acumulată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acest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oferă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bază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solidă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înțelegerea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arhitecturilor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moderne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procesoare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tehnicilor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design hardware.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6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03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103"/>
          <p:cNvSpPr txBox="1">
            <a:spLocks noGrp="1"/>
          </p:cNvSpPr>
          <p:nvPr>
            <p:ph type="title" idx="2"/>
          </p:nvPr>
        </p:nvSpPr>
        <p:spPr>
          <a:xfrm>
            <a:off x="2142300" y="1828575"/>
            <a:ext cx="4859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Bibliografie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04"/>
          <p:cNvSpPr txBox="1">
            <a:spLocks noGrp="1"/>
          </p:cNvSpPr>
          <p:nvPr>
            <p:ph type="title"/>
          </p:nvPr>
        </p:nvSpPr>
        <p:spPr>
          <a:xfrm>
            <a:off x="720000" y="586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Bibliografie</a:t>
            </a:r>
          </a:p>
        </p:txBody>
      </p:sp>
      <p:sp>
        <p:nvSpPr>
          <p:cNvPr id="930" name="Google Shape;930;p104"/>
          <p:cNvSpPr txBox="1"/>
          <p:nvPr/>
        </p:nvSpPr>
        <p:spPr>
          <a:xfrm>
            <a:off x="720000" y="1659050"/>
            <a:ext cx="8227800" cy="23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Hennessy &amp; Patterson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"Computer Architecture: A Quantitative Approach"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Harris &amp; Harris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"Digital Design and Computer Architecture"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Booth Algorithm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A.D. Booth, "A Signed Binary Multiplication Technique" (1951)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SRT Division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D. E. Atkins, "Higher-Radix Division Using Estimates of the Divisor and Partial Remainders" (1968)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SHA-256 Specification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FIPS PUB 180-4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3461</Words>
  <Application>Microsoft Office PowerPoint</Application>
  <PresentationFormat>Expunere pe ecran (16:9)</PresentationFormat>
  <Paragraphs>655</Paragraphs>
  <Slides>74</Slides>
  <Notes>74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74</vt:i4>
      </vt:variant>
    </vt:vector>
  </HeadingPairs>
  <TitlesOfParts>
    <vt:vector size="75" baseType="lpstr">
      <vt:lpstr>Industrial Preliminary Project by Slidesgo</vt:lpstr>
      <vt:lpstr>16-BIT CPU WITH SUPORT MINING</vt:lpstr>
      <vt:lpstr>Conținut</vt:lpstr>
      <vt:lpstr>INTRODUCERE</vt:lpstr>
      <vt:lpstr>Introducere</vt:lpstr>
      <vt:lpstr>Introducere</vt:lpstr>
      <vt:lpstr>Obiectivul proiectului</vt:lpstr>
      <vt:lpstr>ARHITECTURA GENERALĂ</vt:lpstr>
      <vt:lpstr>2.1. Diagrama bloc</vt:lpstr>
      <vt:lpstr>2.2. Principii de funcționare</vt:lpstr>
      <vt:lpstr>2.2. Principii de funcționare</vt:lpstr>
      <vt:lpstr>DESCRIEREA MODULELOR</vt:lpstr>
      <vt:lpstr>3.1. Control Unit (CU)</vt:lpstr>
      <vt:lpstr>Stări principale</vt:lpstr>
      <vt:lpstr>Semnale de control generate</vt:lpstr>
      <vt:lpstr>3.2. Program Counter (PC)</vt:lpstr>
      <vt:lpstr>Multiplexare</vt:lpstr>
      <vt:lpstr>3.3. Address Register (AR)</vt:lpstr>
      <vt:lpstr>3.4. Data Register (DR)</vt:lpstr>
      <vt:lpstr>3.5. Instruction Register (IR)</vt:lpstr>
      <vt:lpstr>3.6. Registre generale (X, Y, A)</vt:lpstr>
      <vt:lpstr>3.6. Registre generale (X, Y, A)</vt:lpstr>
      <vt:lpstr>3.7. Stack Pointer (SP)</vt:lpstr>
      <vt:lpstr>3.8. Flags Register </vt:lpstr>
      <vt:lpstr>3.9. Memoria RAM</vt:lpstr>
      <vt:lpstr>3.10. ALU (Unitatea Aritmetico-Logică)</vt:lpstr>
      <vt:lpstr>3.11. Mining Core</vt:lpstr>
      <vt:lpstr>Funcționare</vt:lpstr>
      <vt:lpstr>Intrări/ Ieșiri</vt:lpstr>
      <vt:lpstr>Setul de instrucțiuni</vt:lpstr>
      <vt:lpstr>Instrucțiuni de Control</vt:lpstr>
      <vt:lpstr>Instrucțiuni de Transfer</vt:lpstr>
      <vt:lpstr>Instrucțiuni Aritmetice (cu registru)</vt:lpstr>
      <vt:lpstr>Instrucțiuni Aritmetice  (cu valoare imediată)</vt:lpstr>
      <vt:lpstr>Instrucțiuni Logice (cu registru)</vt:lpstr>
      <vt:lpstr>Instrucțiuni Logice  (cu valoare imediată)</vt:lpstr>
      <vt:lpstr>Instrucțiuni de Rotate/ Shift  (cu registru)</vt:lpstr>
      <vt:lpstr>Instrucțiuni de Rotate/ Shift  (cu valoare imediată)</vt:lpstr>
      <vt:lpstr>Instrucțiuni pentru Registre</vt:lpstr>
      <vt:lpstr>Instrucțiuni Speciale</vt:lpstr>
      <vt:lpstr> Instrucțiuni Salturi Condiționate cu Semn</vt:lpstr>
      <vt:lpstr>Instructiuni Comparații Imediate</vt:lpstr>
      <vt:lpstr>Altele</vt:lpstr>
      <vt:lpstr>ALU (Arithmetic Logic Unit)</vt:lpstr>
      <vt:lpstr>5.1. Arhitectura ALU</vt:lpstr>
      <vt:lpstr>5.2. Componente auxiliare</vt:lpstr>
      <vt:lpstr>5.3. Calculul Flag-urilor</vt:lpstr>
      <vt:lpstr>5.4. OpCode Translator</vt:lpstr>
      <vt:lpstr>5.5. Reprezentarea în Complement de 2</vt:lpstr>
      <vt:lpstr>5.6. Operații de Adunare și Scădere</vt:lpstr>
      <vt:lpstr>5.7. Înmulțire cu Semn</vt:lpstr>
      <vt:lpstr>5.8. Împărțire și Modulo cu Semn (DIV/DIVI, MOD/MODI)   </vt:lpstr>
      <vt:lpstr>5.9. Flag Updates Summary</vt:lpstr>
      <vt:lpstr>Modulul de mining</vt:lpstr>
      <vt:lpstr>6.1. Descriere generală</vt:lpstr>
      <vt:lpstr>6.2. Rolul modulului</vt:lpstr>
      <vt:lpstr>6.3. Interfața modulului</vt:lpstr>
      <vt:lpstr>6.4. Diagrama Hardware</vt:lpstr>
      <vt:lpstr>6.5. Procesul de Hashing</vt:lpstr>
      <vt:lpstr>Prezentare PowerPoint</vt:lpstr>
      <vt:lpstr>Prezentare PowerPoint</vt:lpstr>
      <vt:lpstr>Prezentare PowerPoint</vt:lpstr>
      <vt:lpstr>Structura proiectului</vt:lpstr>
      <vt:lpstr>7.1. Organizare Directoare</vt:lpstr>
      <vt:lpstr>7.2. Fișiere Verilog Principale</vt:lpstr>
      <vt:lpstr>7.3. Toolchain Files</vt:lpstr>
      <vt:lpstr>7.4. Build și Test Files</vt:lpstr>
      <vt:lpstr>7.5. Test Files</vt:lpstr>
      <vt:lpstr>7.6. Documentation Files</vt:lpstr>
      <vt:lpstr>Concluzii</vt:lpstr>
      <vt:lpstr>Concluzii</vt:lpstr>
      <vt:lpstr>Instrucțiuni Speciale</vt:lpstr>
      <vt:lpstr>Concluzii Finale</vt:lpstr>
      <vt:lpstr>Bibliografie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16-BIT CPU WITH SUPORT MINING</dc:title>
  <dc:creator>Solomon Alex</dc:creator>
  <cp:lastModifiedBy>Albert-Paul Roșca</cp:lastModifiedBy>
  <cp:revision>32</cp:revision>
  <dcterms:created xsi:type="dcterms:W3CDTF">2026-01-17T19:44:00Z</dcterms:created>
  <dcterms:modified xsi:type="dcterms:W3CDTF">2026-01-20T22:30:47Z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2127BA37D2D441ED929EFB452AF282BC_13</vt:lpwstr>
  </property>
  <property fmtid="{D5CDD505-2E9C-101B-9397-08002B2CF9AE}" pid="3" name="KSOProductBuildVer">
    <vt:lpwstr>1033-12.2.0.23155</vt:lpwstr>
  </property>
</Properties>
</file>