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01" r:id="rId47"/>
    <p:sldId id="300" r:id="rId48"/>
    <p:sldId id="299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</p:sldIdLst>
  <p:sldSz cx="9144000" cy="5143500" type="screen16x9"/>
  <p:notesSz cx="6858000" cy="9144000"/>
  <p:embeddedFontLst>
    <p:embeddedFont>
      <p:font typeface="Poppins" panose="00000500000000000000"/>
      <p:regular r:id="rId80"/>
    </p:embeddedFont>
    <p:embeddedFont>
      <p:font typeface="Nunito Light"/>
      <p:regular r:id="rId81"/>
    </p:embeddedFont>
    <p:embeddedFont>
      <p:font typeface="PT Sans" panose="020B0503020203020204"/>
      <p:regular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38" d="100"/>
          <a:sy n="138" d="100"/>
        </p:scale>
        <p:origin x="7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font" Target="fonts/font3.fntdata"/><Relationship Id="rId81" Type="http://schemas.openxmlformats.org/officeDocument/2006/relationships/font" Target="fonts/font2.fntdata"/><Relationship Id="rId80" Type="http://schemas.openxmlformats.org/officeDocument/2006/relationships/font" Target="fonts/font1.fntdata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1: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0.000 16.000 24575,'3.000'0.000'0,"5.000"0.000"0,4.000 0.000 0,3.000 0.000 0,2.000 0.000 0,2.000 0.000 0,1.000 0.000 0,-3.000-3.000 0,-1.000-1.000 0,-1.000-1.000 0,-1.000 2.000-8191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1: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33.000 1.000 24575,'-1.000'2.000'0,"1.000"0.000"0,-1.000-1.000 0,1.000 1.000 0,-1.000-1.000 0,0.000 1.000 0,0.000-1.000 0,0.000 1.000 0,0.000-1.000 0,0.000 0.000 0,0.000 1.000 0,0.000-1.000 0,0.000 0.000 0,0.000 0.000 0,0.000 0.000 0,-1.000 0.000 0,1.000 0.000 0,0.000 0.000 0,-1.000 0.000 0,-2.000 1.000 0,-6.000 5.000 0,13.000-6.000 0,1.000 0.000 0,-1.000 0.000 0,1.000 0.000 0,-1.000-1.000 0,1.000 0.000 0,-1.000 1.000 0,1.000-1.000 0,-1.000-1.000 0,0.000 1.000 0,7.000-1.000 0,31.000-16.000 0,-34.000 14.000 0,0.000-1.000 0,0.000 2.000 0,0.000-1.000 0,0.000 1.000 0,0.000 0.000 0,15.000-2.000 0,178.000 4.000 0,-168.000 0.000 0,-362.000 0.000-1365,314.000 0.000-5461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0.000 144.000 24523,'8.000'27.000'0,"449.000"-172.000"0,-466.000 119.000 0,-447.000 170.000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249.000 62.000 23619,'23.000'-62.000'0,"-295.000"124.000"0,521.000-62.000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76.000 52.000 23209,'403.000'-52.000'0,"-882.000"52.000"0,555.000 52.000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0.000 11.000 24537,'14.000'54.000'0,"232.000"-119.000"0,-506.000 76.000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1.000 1.000 8192,'1.000'0.000'18022,"3.000"0.000"-18022,1.000 0.000 0,2.000 0.000 0,1.000 0.000 0,1.000 0.000 0,-2.000 1.000 0,0.000 1.000 0,-1.000 2.000 0,0.000-1.000 0,-2.000 0.000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0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13.000 0.000 15450,'-13.000'16.000'0,"156.000"-16.000"0,-129.000-16.000 0,-158.000 16.000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2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1.000 70.000 8192,'0.000'-12.000'14824,"0.000"15.000"-9886,0.000 7.000-7509,0.000-26.000-4443,0.000 12.000 6335,0.000 1.000 1,0.000-1.000-1,0.000 1.000 1,0.000 0.000-1,1.000-1.000 1,0.000 1.000-1,-1.000-1.000 1,1.000 1.000 0,0.000 0.000-1,1.000-1.000 1,-1.000 1.000-1,1.000 0.000 1,-1.000 0.000-1,4.000-4.000 1,-4.000 29.000 8766,0.000 6.000 1350,-7.000 2.000-11739,5.000-23.000 1742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352.000 0.000 24575,'-344.000'0.000'-1365,"337.000"0.000"-5461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0.000 0.000 24575,'21.000'2.000'42,"-1.000"0.000"1,35.000 8.000-1,-34.000-5.000-539,0.000-2.000-1,26.000 2.000 1,-39.000-5.000-6329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87.000 10.000 24575,'21.000'1.000'0,"-16.000"0.000"0,0.000-1.000 0,1.000 1.000 0,-1.000-1.000 0,0.000 0.000 0,0.000 0.000 0,1.000-1.000 0,-1.000 1.000 0,0.000-1.000 0,0.000 0.000 0,0.000-1.000 0,6.000-1.000 0,-64.000-1.000 0,-62.000 4.000-1365,107.000 0.000-5461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40.000 4.000 24575,'-1.000'0.000'0,"-3.000"0.000"0,-1.000 0.000 0,-2.000 0.000 0,-1.000 0.000 0,1.000-1.000 0,0.000-1.000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2: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87.000 1.000 24575,'-63.000'0.000'0,"40.000"0.000"0,36.000 0.000 0,219.000 0.000-1365,-224.000 0.000-5461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0.000 1.000 8192,'21.000'0.000'9037,"20.000"0.000"601,1.000 1.000-7715,-1.000 2.000-7429,0.000 2.000-7142,-2.000 3.000 9593,-36.000-6.000 3360,-25.000-4.000 1,-1.000-3.000-306,41.000 1.000 0,31.000 6.000 1150,83.000 13.000 1,-100.000-13.000 3647,-10.000-2.000-6464,-7.000-1.000-3208,-8.000 1.000 4315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0.000 3.000 8192,'41.000'-1.000'13404,"-1.000"0.000"-8032,11.000 0.000-4645,65.000 4.000-4684,-37.000 6.000 6433,-72.000-9.000-2476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0.000 0.000 8192,'0.000'0.000'0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42.000 1.000 8192,'-1.000'0.000'18022,"-3.000"0.000"-18022,-1.000 0.000 0,-2.000 0.000 0,-1.000 0.000 0,-1.000 0.000 0,1.000 0.000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3: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467.000 53.000 8192,'-38.000'-9.000'12891,"-3.000"0.000"-7760,-136.000-8.000-5131,165.000 17.000-1025,-16.000 0.000-4711,4.000-5.000 7898,10.000 1.000 2693,-1.000 0.000-4419,-1.000 1.000-5618,-78.000 1.000-8350,87.000 2.000 13532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13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0.000 0.000 8192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15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1.000 0.000 8192,'5.000'0.000'18022,"0.000"0.000"-18022,2.000 0.000 0,1.000 0.000 0,-1.000 2.000 0,0.000 0.000 0,1.000 0.000 0,-1.000-1.000 0,1.000 0.000 0,9.000 0.000-18022,-8.000 0.000 18022,0.000-1.000 0,-2.000-1.000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6:34:2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4.000 66.000 8192,'0.000'-1.000'18022,"0.000"-3.000"-18022,0.000-1.000 0,0.000-2.000 0,0.000-1.000 0,0.000-1.000 0,0.000 0.000 0,0.000 0.000 0,-1.000 1.000 0,-1.000 3.000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402c2953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402c2953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54282edb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b54282edb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b54282edb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b54282edb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54282edb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54282edb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54282edb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b54282edb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54282edb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b54282edb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54282edb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54282edb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54282edb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54282edb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54282edb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b54282edb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54282edb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b54282edb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54282edb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54282edb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54282edb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b54282edb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54282edb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b54282edbd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54282edb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b54282edb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b54282edbd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b54282edbd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54282edb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b54282edb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b54282edb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b54282edb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54282edbd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b54282edbd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54282edb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54282edb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54282edb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b54282edb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54282edb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b54282edb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54282edbd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54282edbd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54282edbd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b54282edbd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54282edbd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54282edbd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54282edbd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b54282edbd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896d35dc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b896d35dc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b896d35dc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b896d35dcd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b896d35dc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b896d35dc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896d35dc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b896d35dcd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b896d35dc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b896d35dc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896d35dc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b896d35dc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896d35dc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b896d35dc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b896d35dc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b896d35dc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b896d35dc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b896d35dcd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896d35dc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b896d35dc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b896d35dcd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b896d35dcd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b896d35dcd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b896d35dcd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b896d35d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b896d35d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54282edb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b54282edb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b54282edbd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b54282edbd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b54282edbd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b54282edbd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54282edb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b54282edb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b896d35dcd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b896d35dcd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b896d35dcd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b896d35dcd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b896d35dcd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b896d35dcd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b896d35dcd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b896d35dcd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b896d35dcd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b896d35dcd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b54282edbd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b54282edbd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b896d35dcd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b896d35dcd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b896d35dcd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b896d35dcd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b896d35dcd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b896d35dcd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b896d35dcd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b896d35dcd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b896d35dc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b896d35dc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896d35dcd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b896d35dcd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b896d35dc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b896d35dc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b896d35dc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b896d35dcd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b896d35dcd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b896d35dcd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b896d35dcd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b896d35dcd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b896d35dc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b896d35dc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b896d35dcd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b896d35dcd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b896d35dc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b896d35dc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b896d35dcd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b896d35dcd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b896d35dcd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b896d35dcd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b896d35dcd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b896d35dcd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b896d35dcd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b896d35dcd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b896d35dcd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b896d35dcd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896d35dcd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b896d35dcd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b896d35dcd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b896d35dcd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b896d35dcd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b896d35dcd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hyperlink" Target="http://bit.ly/2TtBDfr" TargetMode="External"/><Relationship Id="rId8" Type="http://schemas.openxmlformats.org/officeDocument/2006/relationships/hyperlink" Target="https://bit.ly/3A1uf1Q" TargetMode="Externa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3225" y="1099175"/>
            <a:ext cx="317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5400000" flipH="1"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249350" y="3712050"/>
            <a:ext cx="1768001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>
            <a:spLocks noGrp="1"/>
          </p:cNvSpPr>
          <p:nvPr>
            <p:ph type="subTitle" idx="1"/>
          </p:nvPr>
        </p:nvSpPr>
        <p:spPr>
          <a:xfrm>
            <a:off x="713225" y="2630525"/>
            <a:ext cx="3171900" cy="16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/>
          <a:srcRect l="31651" t="130" b="18270"/>
          <a:stretch>
            <a:fillRect/>
          </a:stretch>
        </p:blipFill>
        <p:spPr>
          <a:xfrm rot="10800000" flipH="1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/>
          <a:srcRect t="129" b="129"/>
          <a:stretch>
            <a:fillRect/>
          </a:stretch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/>
          <a:srcRect b="22420"/>
          <a:stretch>
            <a:fillRect/>
          </a:stretch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/>
          <a:srcRect b="22420"/>
          <a:stretch>
            <a:fillRect/>
          </a:stretch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/>
          <a:srcRect t="129" b="129"/>
          <a:stretch>
            <a:fillRect/>
          </a:stretch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>
            <a:spLocks noGrp="1"/>
          </p:cNvSpPr>
          <p:nvPr>
            <p:ph type="subTitle" idx="3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16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49" name="Google Shape;149;p16"/>
          <p:cNvSpPr>
            <a:spLocks noGrp="1"/>
          </p:cNvSpPr>
          <p:nvPr>
            <p:ph type="pic" idx="3"/>
          </p:nvPr>
        </p:nvSpPr>
        <p:spPr>
          <a:xfrm>
            <a:off x="3595575" y="539500"/>
            <a:ext cx="2191200" cy="2328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50" name="Google Shape;150;p16"/>
          <p:cNvSpPr>
            <a:spLocks noGrp="1"/>
          </p:cNvSpPr>
          <p:nvPr>
            <p:ph type="pic" idx="4"/>
          </p:nvPr>
        </p:nvSpPr>
        <p:spPr>
          <a:xfrm>
            <a:off x="3595575" y="2953775"/>
            <a:ext cx="4835100" cy="1650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/>
          <a:srcRect l="73637" t="129" b="129"/>
          <a:stretch>
            <a:fillRect/>
          </a:stretch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720000" y="640080"/>
            <a:ext cx="32349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720000" y="2101875"/>
            <a:ext cx="3234900" cy="12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5" name="Google Shape;165;p18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72" name="Google Shape;172;p18"/>
          <p:cNvSpPr txBox="1">
            <a:spLocks noGrp="1"/>
          </p:cNvSpPr>
          <p:nvPr>
            <p:ph type="subTitle" idx="2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19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19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19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19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80" name="Google Shape;180;p19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81" name="Google Shape;181;p19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pic>
        <p:nvPicPr>
          <p:cNvPr id="182" name="Google Shape;182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" name="Google Shape;189;p20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0" name="Google Shape;190;p20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1" name="Google Shape;191;p20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0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0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94" name="Google Shape;194;p20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95" name="Google Shape;195;p20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196" name="Google Shape;196;p20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grpSp>
        <p:nvGrpSpPr>
          <p:cNvPr id="197" name="Google Shape;197;p20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21"/>
          <p:cNvSpPr txBox="1">
            <a:spLocks noGrp="1"/>
          </p:cNvSpPr>
          <p:nvPr>
            <p:ph type="subTitle" idx="1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21"/>
          <p:cNvSpPr txBox="1">
            <a:spLocks noGrp="1"/>
          </p:cNvSpPr>
          <p:nvPr>
            <p:ph type="subTitle" idx="2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21"/>
          <p:cNvSpPr txBox="1">
            <a:spLocks noGrp="1"/>
          </p:cNvSpPr>
          <p:nvPr>
            <p:ph type="subTitle" idx="3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21"/>
          <p:cNvSpPr txBox="1">
            <a:spLocks noGrp="1"/>
          </p:cNvSpPr>
          <p:nvPr>
            <p:ph type="subTitle" idx="4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21"/>
          <p:cNvSpPr txBox="1">
            <a:spLocks noGrp="1"/>
          </p:cNvSpPr>
          <p:nvPr>
            <p:ph type="subTitle" idx="5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1"/>
          <p:cNvSpPr txBox="1">
            <a:spLocks noGrp="1"/>
          </p:cNvSpPr>
          <p:nvPr>
            <p:ph type="subTitle" idx="6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21"/>
          <p:cNvSpPr txBox="1">
            <a:spLocks noGrp="1"/>
          </p:cNvSpPr>
          <p:nvPr>
            <p:ph type="subTitle" idx="7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213" name="Google Shape;213;p21"/>
          <p:cNvSpPr txBox="1">
            <a:spLocks noGrp="1"/>
          </p:cNvSpPr>
          <p:nvPr>
            <p:ph type="subTitle" idx="8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214" name="Google Shape;214;p21"/>
          <p:cNvSpPr txBox="1">
            <a:spLocks noGrp="1"/>
          </p:cNvSpPr>
          <p:nvPr>
            <p:ph type="subTitle" idx="9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215" name="Google Shape;215;p21"/>
          <p:cNvSpPr txBox="1">
            <a:spLocks noGrp="1"/>
          </p:cNvSpPr>
          <p:nvPr>
            <p:ph type="subTitle" idx="13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216" name="Google Shape;216;p21"/>
          <p:cNvSpPr txBox="1">
            <a:spLocks noGrp="1"/>
          </p:cNvSpPr>
          <p:nvPr>
            <p:ph type="subTitle" idx="14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sp>
        <p:nvSpPr>
          <p:cNvPr id="217" name="Google Shape;217;p21"/>
          <p:cNvSpPr txBox="1">
            <a:spLocks noGrp="1"/>
          </p:cNvSpPr>
          <p:nvPr>
            <p:ph type="subTitle" idx="15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/>
          <a:srcRect l="68148" b="22414"/>
          <a:stretch>
            <a:fillRect/>
          </a:stretch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>
            <a:spLocks noGrp="1"/>
          </p:cNvSpPr>
          <p:nvPr>
            <p:ph type="title" hasCustomPrompt="1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224" name="Google Shape;224;p22"/>
          <p:cNvSpPr txBox="1">
            <a:spLocks noGrp="1"/>
          </p:cNvSpPr>
          <p:nvPr>
            <p:ph type="title" idx="2" hasCustomPrompt="1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3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226" name="Google Shape;226;p22"/>
          <p:cNvSpPr txBox="1">
            <a:spLocks noGrp="1"/>
          </p:cNvSpPr>
          <p:nvPr>
            <p:ph type="title" idx="4" hasCustomPrompt="1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5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/>
          <a:srcRect t="129" b="129"/>
          <a:stretch>
            <a:fillRect/>
          </a:stretch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/>
          <a:srcRect l="14813" b="34262"/>
          <a:stretch>
            <a:fillRect/>
          </a:stretch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5" name="Google Shape;255;p2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/>
          <a:srcRect r="56111" b="41941"/>
          <a:stretch>
            <a:fillRect/>
          </a:stretch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/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/>
          <a:srcRect t="128" b="35496"/>
          <a:stretch>
            <a:fillRect/>
          </a:stretch>
        </p:blipFill>
        <p:spPr>
          <a:xfrm>
            <a:off x="6296175" y="4293872"/>
            <a:ext cx="1716701" cy="84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0" y="0"/>
            <a:ext cx="3789523" cy="3594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/>
          <a:stretch>
            <a:fillRect/>
          </a:stretch>
        </p:blipFill>
        <p:spPr>
          <a:xfrm rot="10800000" flipH="1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1" name="Google Shape;271;p27"/>
          <p:cNvGrpSpPr/>
          <p:nvPr/>
        </p:nvGrpSpPr>
        <p:grpSpPr>
          <a:xfrm rot="10800000" flipH="1">
            <a:off x="5131123" y="0"/>
            <a:ext cx="4012877" cy="3594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5400000">
            <a:off x="-25" y="0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8" name="Google Shape;278;p28"/>
          <p:cNvGrpSpPr/>
          <p:nvPr/>
        </p:nvGrpSpPr>
        <p:grpSpPr>
          <a:xfrm>
            <a:off x="0" y="12"/>
            <a:ext cx="9144000" cy="5143487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713227" y="540000"/>
            <a:ext cx="4151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29"/>
          <p:cNvSpPr txBox="1">
            <a:spLocks noGrp="1"/>
          </p:cNvSpPr>
          <p:nvPr>
            <p:ph type="subTitle" idx="1"/>
          </p:nvPr>
        </p:nvSpPr>
        <p:spPr>
          <a:xfrm>
            <a:off x="713213" y="2369350"/>
            <a:ext cx="36993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29"/>
          <p:cNvSpPr>
            <a:spLocks noGrp="1"/>
          </p:cNvSpPr>
          <p:nvPr>
            <p:ph type="pic" idx="2"/>
          </p:nvPr>
        </p:nvSpPr>
        <p:spPr>
          <a:xfrm>
            <a:off x="713225" y="539550"/>
            <a:ext cx="3072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grpSp>
        <p:nvGrpSpPr>
          <p:cNvPr id="289" name="Google Shape;289;p29"/>
          <p:cNvGrpSpPr/>
          <p:nvPr/>
        </p:nvGrpSpPr>
        <p:grpSpPr>
          <a:xfrm>
            <a:off x="-6816" y="0"/>
            <a:ext cx="9150952" cy="5153913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0" y="-11538"/>
            <a:ext cx="9143999" cy="5155025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713224" y="3542325"/>
            <a:ext cx="3425400" cy="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This presentation template was created by </a:t>
            </a:r>
            <a:r>
              <a:rPr lang="en-GB" sz="1000" b="1" u="sng">
                <a:solidFill>
                  <a:schemeClr val="hlink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8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and includes icons, infographics &amp; images by </a:t>
            </a:r>
            <a:r>
              <a:rPr lang="en-GB" sz="1000" b="1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9"/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000" b="1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/>
          <a:srcRect t="129" b="129"/>
          <a:stretch>
            <a:fillRect/>
          </a:stretch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/>
          <a:srcRect l="73637" t="129" b="129"/>
          <a:stretch>
            <a:fillRect/>
          </a:stretch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customXml" Target="../ink/ink4.xml"/><Relationship Id="rId8" Type="http://schemas.openxmlformats.org/officeDocument/2006/relationships/image" Target="../media/image27.png"/><Relationship Id="rId7" Type="http://schemas.openxmlformats.org/officeDocument/2006/relationships/customXml" Target="../ink/ink3.xml"/><Relationship Id="rId6" Type="http://schemas.openxmlformats.org/officeDocument/2006/relationships/image" Target="../media/image26.png"/><Relationship Id="rId5" Type="http://schemas.openxmlformats.org/officeDocument/2006/relationships/customXml" Target="../ink/ink2.xml"/><Relationship Id="rId48" Type="http://schemas.openxmlformats.org/officeDocument/2006/relationships/notesSlide" Target="../notesSlides/notesSlide45.xml"/><Relationship Id="rId47" Type="http://schemas.openxmlformats.org/officeDocument/2006/relationships/slideLayout" Target="../slideLayouts/slideLayout17.xml"/><Relationship Id="rId46" Type="http://schemas.openxmlformats.org/officeDocument/2006/relationships/image" Target="../media/image46.png"/><Relationship Id="rId45" Type="http://schemas.openxmlformats.org/officeDocument/2006/relationships/customXml" Target="../ink/ink22.xml"/><Relationship Id="rId44" Type="http://schemas.openxmlformats.org/officeDocument/2006/relationships/image" Target="../media/image45.png"/><Relationship Id="rId43" Type="http://schemas.openxmlformats.org/officeDocument/2006/relationships/customXml" Target="../ink/ink21.xml"/><Relationship Id="rId42" Type="http://schemas.openxmlformats.org/officeDocument/2006/relationships/image" Target="../media/image44.png"/><Relationship Id="rId41" Type="http://schemas.openxmlformats.org/officeDocument/2006/relationships/customXml" Target="../ink/ink20.xml"/><Relationship Id="rId40" Type="http://schemas.openxmlformats.org/officeDocument/2006/relationships/image" Target="../media/image43.png"/><Relationship Id="rId4" Type="http://schemas.openxmlformats.org/officeDocument/2006/relationships/image" Target="../media/image25.png"/><Relationship Id="rId39" Type="http://schemas.openxmlformats.org/officeDocument/2006/relationships/customXml" Target="../ink/ink19.xml"/><Relationship Id="rId38" Type="http://schemas.openxmlformats.org/officeDocument/2006/relationships/image" Target="../media/image42.png"/><Relationship Id="rId37" Type="http://schemas.openxmlformats.org/officeDocument/2006/relationships/customXml" Target="../ink/ink18.xml"/><Relationship Id="rId36" Type="http://schemas.openxmlformats.org/officeDocument/2006/relationships/image" Target="../media/image41.png"/><Relationship Id="rId35" Type="http://schemas.openxmlformats.org/officeDocument/2006/relationships/customXml" Target="../ink/ink17.xml"/><Relationship Id="rId34" Type="http://schemas.openxmlformats.org/officeDocument/2006/relationships/image" Target="../media/image40.png"/><Relationship Id="rId33" Type="http://schemas.openxmlformats.org/officeDocument/2006/relationships/customXml" Target="../ink/ink16.xml"/><Relationship Id="rId32" Type="http://schemas.openxmlformats.org/officeDocument/2006/relationships/image" Target="../media/image39.png"/><Relationship Id="rId31" Type="http://schemas.openxmlformats.org/officeDocument/2006/relationships/customXml" Target="../ink/ink15.xml"/><Relationship Id="rId30" Type="http://schemas.openxmlformats.org/officeDocument/2006/relationships/image" Target="../media/image38.png"/><Relationship Id="rId3" Type="http://schemas.openxmlformats.org/officeDocument/2006/relationships/customXml" Target="../ink/ink1.xml"/><Relationship Id="rId29" Type="http://schemas.openxmlformats.org/officeDocument/2006/relationships/customXml" Target="../ink/ink14.xml"/><Relationship Id="rId28" Type="http://schemas.openxmlformats.org/officeDocument/2006/relationships/image" Target="../media/image37.png"/><Relationship Id="rId27" Type="http://schemas.openxmlformats.org/officeDocument/2006/relationships/customXml" Target="../ink/ink13.xml"/><Relationship Id="rId26" Type="http://schemas.openxmlformats.org/officeDocument/2006/relationships/image" Target="../media/image36.png"/><Relationship Id="rId25" Type="http://schemas.openxmlformats.org/officeDocument/2006/relationships/customXml" Target="../ink/ink12.xml"/><Relationship Id="rId24" Type="http://schemas.openxmlformats.org/officeDocument/2006/relationships/image" Target="../media/image35.png"/><Relationship Id="rId23" Type="http://schemas.openxmlformats.org/officeDocument/2006/relationships/customXml" Target="../ink/ink11.xml"/><Relationship Id="rId22" Type="http://schemas.openxmlformats.org/officeDocument/2006/relationships/image" Target="../media/image34.png"/><Relationship Id="rId21" Type="http://schemas.openxmlformats.org/officeDocument/2006/relationships/customXml" Target="../ink/ink10.xml"/><Relationship Id="rId20" Type="http://schemas.openxmlformats.org/officeDocument/2006/relationships/image" Target="../media/image33.png"/><Relationship Id="rId2" Type="http://schemas.openxmlformats.org/officeDocument/2006/relationships/image" Target="../media/image24.png"/><Relationship Id="rId19" Type="http://schemas.openxmlformats.org/officeDocument/2006/relationships/customXml" Target="../ink/ink9.xml"/><Relationship Id="rId18" Type="http://schemas.openxmlformats.org/officeDocument/2006/relationships/image" Target="../media/image32.png"/><Relationship Id="rId17" Type="http://schemas.openxmlformats.org/officeDocument/2006/relationships/customXml" Target="../ink/ink8.xml"/><Relationship Id="rId16" Type="http://schemas.openxmlformats.org/officeDocument/2006/relationships/image" Target="../media/image31.png"/><Relationship Id="rId15" Type="http://schemas.openxmlformats.org/officeDocument/2006/relationships/customXml" Target="../ink/ink7.xml"/><Relationship Id="rId14" Type="http://schemas.openxmlformats.org/officeDocument/2006/relationships/image" Target="../media/image30.png"/><Relationship Id="rId13" Type="http://schemas.openxmlformats.org/officeDocument/2006/relationships/customXml" Target="../ink/ink6.xml"/><Relationship Id="rId12" Type="http://schemas.openxmlformats.org/officeDocument/2006/relationships/image" Target="../media/image29.png"/><Relationship Id="rId11" Type="http://schemas.openxmlformats.org/officeDocument/2006/relationships/customXml" Target="../ink/ink5.xml"/><Relationship Id="rId10" Type="http://schemas.openxmlformats.org/officeDocument/2006/relationships/image" Target="../media/image28.png"/><Relationship Id="rId1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3.xml"/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5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6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2.png"/><Relationship Id="rId2" Type="http://schemas.openxmlformats.org/officeDocument/2006/relationships/image" Target="../media/image8.png"/><Relationship Id="rId1" Type="http://schemas.openxmlformats.org/officeDocument/2006/relationships/image" Target="../media/image61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7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ctrTitle"/>
          </p:nvPr>
        </p:nvSpPr>
        <p:spPr>
          <a:xfrm>
            <a:off x="972300" y="85745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/>
              <a:t>16-BIT CPU WITH SUPORT MINING</a:t>
            </a:r>
            <a:endParaRPr sz="3500"/>
          </a:p>
        </p:txBody>
      </p:sp>
      <p:sp>
        <p:nvSpPr>
          <p:cNvPr id="324" name="Google Shape;324;p32"/>
          <p:cNvSpPr txBox="1">
            <a:spLocks noGrp="1"/>
          </p:cNvSpPr>
          <p:nvPr>
            <p:ph type="subTitle" idx="1"/>
          </p:nvPr>
        </p:nvSpPr>
        <p:spPr>
          <a:xfrm>
            <a:off x="972300" y="2959995"/>
            <a:ext cx="7199400" cy="13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Ghimpău Mihai-Vladimir</a:t>
            </a:r>
            <a:endParaRPr lang="en-GB"/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Iordăchescu Vlad-Alexandru</a:t>
            </a:r>
            <a:endParaRPr lang="en-GB"/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Roșca Albert</a:t>
            </a:r>
            <a:endParaRPr lang="en-GB"/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Solomon Alexandru-Paul</a:t>
            </a:r>
            <a:endParaRPr lang="en-GB"/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Sörös Iulia</a:t>
            </a:r>
            <a:endParaRPr lang="en-GB"/>
          </a:p>
          <a:p>
            <a:pPr marL="9144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Tămaș Cosmin</a:t>
            </a:r>
            <a:endParaRPr lang="en-GB"/>
          </a:p>
        </p:txBody>
      </p:sp>
      <p:sp>
        <p:nvSpPr>
          <p:cNvPr id="325" name="Google Shape;325;p32"/>
          <p:cNvSpPr txBox="1"/>
          <p:nvPr/>
        </p:nvSpPr>
        <p:spPr>
          <a:xfrm>
            <a:off x="1004700" y="2212200"/>
            <a:ext cx="71346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IAS-Overclockers</a:t>
            </a:r>
            <a:endParaRPr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 txBox="1">
            <a:spLocks noGrp="1"/>
          </p:cNvSpPr>
          <p:nvPr>
            <p:ph type="title"/>
          </p:nvPr>
        </p:nvSpPr>
        <p:spPr>
          <a:xfrm>
            <a:off x="1014825" y="5707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Conținut</a:t>
            </a:r>
            <a:endParaRPr lang="en-GB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2"/>
          </p:nvPr>
        </p:nvSpPr>
        <p:spPr>
          <a:xfrm>
            <a:off x="3690855" y="1370771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3"/>
          </p:nvPr>
        </p:nvSpPr>
        <p:spPr>
          <a:xfrm>
            <a:off x="5299730" y="1385558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4"/>
          </p:nvPr>
        </p:nvSpPr>
        <p:spPr>
          <a:xfrm>
            <a:off x="3690843" y="2064729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5"/>
          </p:nvPr>
        </p:nvSpPr>
        <p:spPr>
          <a:xfrm>
            <a:off x="5299718" y="2064717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335" name="Google Shape;335;p33"/>
          <p:cNvSpPr txBox="1">
            <a:spLocks noGrp="1"/>
          </p:cNvSpPr>
          <p:nvPr>
            <p:ph type="title" idx="6"/>
          </p:nvPr>
        </p:nvSpPr>
        <p:spPr>
          <a:xfrm>
            <a:off x="3690857" y="27595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336" name="Google Shape;336;p33"/>
          <p:cNvSpPr txBox="1">
            <a:spLocks noGrp="1"/>
          </p:cNvSpPr>
          <p:nvPr>
            <p:ph type="title" idx="7"/>
          </p:nvPr>
        </p:nvSpPr>
        <p:spPr>
          <a:xfrm>
            <a:off x="5299732" y="27595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07</a:t>
            </a:r>
            <a:endParaRPr lang="en-GB"/>
          </a:p>
        </p:txBody>
      </p:sp>
      <p:sp>
        <p:nvSpPr>
          <p:cNvPr id="337" name="Google Shape;337;p33"/>
          <p:cNvSpPr txBox="1">
            <a:spLocks noGrp="1"/>
          </p:cNvSpPr>
          <p:nvPr>
            <p:ph type="subTitle" idx="1"/>
          </p:nvPr>
        </p:nvSpPr>
        <p:spPr>
          <a:xfrm>
            <a:off x="1139900" y="1370775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  <a:endParaRPr lang="en-GB"/>
          </a:p>
        </p:txBody>
      </p:sp>
      <p:sp>
        <p:nvSpPr>
          <p:cNvPr id="338" name="Google Shape;338;p33"/>
          <p:cNvSpPr txBox="1">
            <a:spLocks noGrp="1"/>
          </p:cNvSpPr>
          <p:nvPr>
            <p:ph type="subTitle" idx="8"/>
          </p:nvPr>
        </p:nvSpPr>
        <p:spPr>
          <a:xfrm>
            <a:off x="1139900" y="206472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ARHITECTURA GENERALĂ</a:t>
            </a:r>
            <a:endParaRPr lang="en-GB"/>
          </a:p>
        </p:txBody>
      </p:sp>
      <p:sp>
        <p:nvSpPr>
          <p:cNvPr id="339" name="Google Shape;339;p33"/>
          <p:cNvSpPr txBox="1">
            <a:spLocks noGrp="1"/>
          </p:cNvSpPr>
          <p:nvPr>
            <p:ph type="subTitle" idx="9"/>
          </p:nvPr>
        </p:nvSpPr>
        <p:spPr>
          <a:xfrm>
            <a:off x="1139900" y="275953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DESCRIEREA MODULELOR</a:t>
            </a:r>
            <a:endParaRPr lang="en-GB"/>
          </a:p>
        </p:txBody>
      </p:sp>
      <p:sp>
        <p:nvSpPr>
          <p:cNvPr id="340" name="Google Shape;340;p33"/>
          <p:cNvSpPr txBox="1">
            <a:spLocks noGrp="1"/>
          </p:cNvSpPr>
          <p:nvPr>
            <p:ph type="subTitle" idx="13"/>
          </p:nvPr>
        </p:nvSpPr>
        <p:spPr>
          <a:xfrm>
            <a:off x="6135900" y="1385558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ALU</a:t>
            </a:r>
            <a:endParaRPr lang="en-GB"/>
          </a:p>
        </p:txBody>
      </p:sp>
      <p:sp>
        <p:nvSpPr>
          <p:cNvPr id="341" name="Google Shape;341;p33"/>
          <p:cNvSpPr txBox="1">
            <a:spLocks noGrp="1"/>
          </p:cNvSpPr>
          <p:nvPr>
            <p:ph type="subTitle" idx="14"/>
          </p:nvPr>
        </p:nvSpPr>
        <p:spPr>
          <a:xfrm>
            <a:off x="6135900" y="20803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 MINING</a:t>
            </a:r>
            <a:endParaRPr lang="en-GB"/>
          </a:p>
        </p:txBody>
      </p:sp>
      <p:sp>
        <p:nvSpPr>
          <p:cNvPr id="342" name="Google Shape;342;p33"/>
          <p:cNvSpPr txBox="1">
            <a:spLocks noGrp="1"/>
          </p:cNvSpPr>
          <p:nvPr>
            <p:ph type="subTitle" idx="15"/>
          </p:nvPr>
        </p:nvSpPr>
        <p:spPr>
          <a:xfrm>
            <a:off x="6135900" y="27595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STRUCTURA PROIECTULUI</a:t>
            </a:r>
            <a:endParaRPr lang="en-GB"/>
          </a:p>
        </p:txBody>
      </p:sp>
      <p:pic>
        <p:nvPicPr>
          <p:cNvPr id="343" name="Google Shape;343;p3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6200" y="3712050"/>
            <a:ext cx="1768000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>
            <a:spLocks noGrp="1"/>
          </p:cNvSpPr>
          <p:nvPr>
            <p:ph type="title" idx="6"/>
          </p:nvPr>
        </p:nvSpPr>
        <p:spPr>
          <a:xfrm>
            <a:off x="3690857" y="34543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345" name="Google Shape;345;p33"/>
          <p:cNvSpPr txBox="1">
            <a:spLocks noGrp="1"/>
          </p:cNvSpPr>
          <p:nvPr>
            <p:ph type="title" idx="6"/>
          </p:nvPr>
        </p:nvSpPr>
        <p:spPr>
          <a:xfrm>
            <a:off x="5299732" y="3454313"/>
            <a:ext cx="6948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08</a:t>
            </a:r>
            <a:endParaRPr lang="en-GB"/>
          </a:p>
        </p:txBody>
      </p:sp>
      <p:sp>
        <p:nvSpPr>
          <p:cNvPr id="346" name="Google Shape;346;p33"/>
          <p:cNvSpPr txBox="1">
            <a:spLocks noGrp="1"/>
          </p:cNvSpPr>
          <p:nvPr>
            <p:ph type="subTitle" idx="8"/>
          </p:nvPr>
        </p:nvSpPr>
        <p:spPr>
          <a:xfrm>
            <a:off x="1139900" y="345432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SETUL DE INSTRUCȚIUNI</a:t>
            </a:r>
            <a:endParaRPr lang="en-GB"/>
          </a:p>
        </p:txBody>
      </p:sp>
      <p:sp>
        <p:nvSpPr>
          <p:cNvPr id="347" name="Google Shape;347;p33"/>
          <p:cNvSpPr txBox="1">
            <a:spLocks noGrp="1"/>
          </p:cNvSpPr>
          <p:nvPr>
            <p:ph type="subTitle" idx="8"/>
          </p:nvPr>
        </p:nvSpPr>
        <p:spPr>
          <a:xfrm>
            <a:off x="-3019925" y="3712049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8" name="Google Shape;348;p33"/>
          <p:cNvSpPr txBox="1">
            <a:spLocks noGrp="1"/>
          </p:cNvSpPr>
          <p:nvPr>
            <p:ph type="subTitle" idx="15"/>
          </p:nvPr>
        </p:nvSpPr>
        <p:spPr>
          <a:xfrm>
            <a:off x="6135900" y="34543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4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4"/>
          <p:cNvSpPr txBox="1">
            <a:spLocks noGrp="1"/>
          </p:cNvSpPr>
          <p:nvPr>
            <p:ph type="title"/>
          </p:nvPr>
        </p:nvSpPr>
        <p:spPr>
          <a:xfrm>
            <a:off x="1093950" y="2879075"/>
            <a:ext cx="69561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  <a:endParaRPr lang="en-GB"/>
          </a:p>
        </p:txBody>
      </p:sp>
      <p:sp>
        <p:nvSpPr>
          <p:cNvPr id="355" name="Google Shape;355;p34"/>
          <p:cNvSpPr txBox="1">
            <a:spLocks noGrp="1"/>
          </p:cNvSpPr>
          <p:nvPr>
            <p:ph type="title" idx="2"/>
          </p:nvPr>
        </p:nvSpPr>
        <p:spPr>
          <a:xfrm>
            <a:off x="4023300" y="1781675"/>
            <a:ext cx="1097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  <a:endParaRPr lang="en-GB"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dirty="0" err="1"/>
              <a:t>Acest</a:t>
            </a:r>
            <a:r>
              <a:rPr lang="en-GB" sz="2000" dirty="0"/>
              <a:t> </a:t>
            </a:r>
            <a:r>
              <a:rPr lang="en-GB" sz="2000" dirty="0" err="1"/>
              <a:t>proiect</a:t>
            </a:r>
            <a:r>
              <a:rPr lang="en-GB" sz="2000" dirty="0"/>
              <a:t> </a:t>
            </a:r>
            <a:r>
              <a:rPr lang="en-GB" sz="2000" dirty="0" err="1"/>
              <a:t>implementează</a:t>
            </a:r>
            <a:r>
              <a:rPr lang="en-GB" sz="2000" dirty="0"/>
              <a:t> un </a:t>
            </a:r>
            <a:r>
              <a:rPr lang="en-GB" sz="2000" dirty="0" err="1"/>
              <a:t>procesor</a:t>
            </a:r>
            <a:r>
              <a:rPr lang="en-GB" sz="2000" dirty="0"/>
              <a:t> RISC pe 16 </a:t>
            </a:r>
            <a:r>
              <a:rPr lang="en-GB" sz="2000" dirty="0" err="1"/>
              <a:t>biți</a:t>
            </a:r>
            <a:r>
              <a:rPr lang="en-GB" sz="2000" dirty="0"/>
              <a:t> cu </a:t>
            </a:r>
            <a:r>
              <a:rPr lang="en-GB" sz="2000" dirty="0" err="1"/>
              <a:t>arhitectură</a:t>
            </a:r>
            <a:r>
              <a:rPr lang="en-GB" sz="2000" dirty="0"/>
              <a:t> von Neumann, </a:t>
            </a:r>
            <a:r>
              <a:rPr lang="en-GB" sz="2000" dirty="0" err="1"/>
              <a:t>proiectat</a:t>
            </a:r>
            <a:r>
              <a:rPr lang="en-GB" sz="2000" dirty="0"/>
              <a:t> </a:t>
            </a:r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aplicații</a:t>
            </a:r>
            <a:r>
              <a:rPr lang="en-GB" sz="2000" dirty="0"/>
              <a:t> embedded </a:t>
            </a:r>
            <a:r>
              <a:rPr lang="en-GB" sz="2000" dirty="0" err="1"/>
              <a:t>și</a:t>
            </a:r>
            <a:r>
              <a:rPr lang="en-GB" sz="2000" dirty="0"/>
              <a:t> </a:t>
            </a:r>
            <a:r>
              <a:rPr lang="en-GB" sz="2000" dirty="0" err="1"/>
              <a:t>operații</a:t>
            </a:r>
            <a:r>
              <a:rPr lang="en-GB" sz="2000" dirty="0"/>
              <a:t> de mining </a:t>
            </a:r>
            <a:r>
              <a:rPr lang="en-GB" sz="2000" dirty="0" err="1"/>
              <a:t>simplificat</a:t>
            </a:r>
            <a:r>
              <a:rPr lang="en-GB" sz="2000" dirty="0"/>
              <a:t>. </a:t>
            </a:r>
            <a:endParaRPr sz="2000" dirty="0"/>
          </a:p>
        </p:txBody>
      </p:sp>
      <p:sp>
        <p:nvSpPr>
          <p:cNvPr id="362" name="Google Shape;362;p35"/>
          <p:cNvSpPr txBox="1"/>
          <p:nvPr/>
        </p:nvSpPr>
        <p:spPr>
          <a:xfrm>
            <a:off x="2662950" y="2922200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Introducere</a:t>
            </a:r>
            <a:endParaRPr lang="en-GB"/>
          </a:p>
        </p:txBody>
      </p:sp>
      <p:sp>
        <p:nvSpPr>
          <p:cNvPr id="368" name="Google Shape;368;p36"/>
          <p:cNvSpPr txBox="1">
            <a:spLocks noGrp="1"/>
          </p:cNvSpPr>
          <p:nvPr>
            <p:ph type="subTitle" idx="2"/>
          </p:nvPr>
        </p:nvSpPr>
        <p:spPr>
          <a:xfrm>
            <a:off x="644750" y="1503025"/>
            <a:ext cx="3034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u="sng"/>
              <a:t>Procesorul suportă</a:t>
            </a:r>
            <a:r>
              <a:rPr lang="en-GB" sz="1900"/>
              <a:t>: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69" name="Google Shape;369;p36"/>
          <p:cNvSpPr txBox="1"/>
          <p:nvPr/>
        </p:nvSpPr>
        <p:spPr>
          <a:xfrm>
            <a:off x="1030925" y="2152225"/>
            <a:ext cx="6363000" cy="22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Spațiul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adresare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 KB RAM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 generale: 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X, Y, A (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acumulator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speciale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PC (Program Counter), SP (Stack Pointer), AR (Address Register), DR (Data Register), IR (Instruction Register)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Flags: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Z (Zero), N (Negative), C (Carry), O (Overflow)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 panose="00000500000000000000"/>
              <a:buChar char="-"/>
            </a:pP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Caracteristici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speciale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Mining core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integrat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SHA-256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simplificate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/>
          <p:nvPr/>
        </p:nvSpPr>
        <p:spPr>
          <a:xfrm>
            <a:off x="1256839" y="2119799"/>
            <a:ext cx="903900" cy="90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75" name="Google Shape;375;p37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376" name="Google Shape;376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Obiectivul proiectului</a:t>
            </a:r>
            <a:endParaRPr lang="en-GB"/>
          </a:p>
        </p:txBody>
      </p:sp>
      <p:sp>
        <p:nvSpPr>
          <p:cNvPr id="377" name="Google Shape;377;p37"/>
          <p:cNvSpPr txBox="1">
            <a:spLocks noGrp="1"/>
          </p:cNvSpPr>
          <p:nvPr>
            <p:ph type="subTitle" idx="1"/>
          </p:nvPr>
        </p:nvSpPr>
        <p:spPr>
          <a:xfrm>
            <a:off x="2990675" y="1710025"/>
            <a:ext cx="4787100" cy="19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Procesorul este conceput să execute operații aritmetice, logice, de control al fluxului și operații specializate de mining, oferind un echilibru între complexitate și funcționalitate pentru aplicații educaționale și demonstrative.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78" name="Google Shape;378;p37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9" name="Google Shape;379;p37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80" name="Google Shape;380;p37"/>
          <p:cNvGrpSpPr/>
          <p:nvPr/>
        </p:nvGrpSpPr>
        <p:grpSpPr>
          <a:xfrm>
            <a:off x="1545110" y="2361296"/>
            <a:ext cx="327366" cy="420913"/>
            <a:chOff x="2353331" y="2090612"/>
            <a:chExt cx="333298" cy="376791"/>
          </a:xfrm>
        </p:grpSpPr>
        <p:sp>
          <p:nvSpPr>
            <p:cNvPr id="381" name="Google Shape;381;p37"/>
            <p:cNvSpPr/>
            <p:nvPr/>
          </p:nvSpPr>
          <p:spPr>
            <a:xfrm>
              <a:off x="2353331" y="2098864"/>
              <a:ext cx="123298" cy="184623"/>
            </a:xfrm>
            <a:custGeom>
              <a:avLst/>
              <a:gdLst/>
              <a:ahLst/>
              <a:cxnLst/>
              <a:rect l="l" t="t" r="r" b="b"/>
              <a:pathLst>
                <a:path w="4363" h="6533" extrusionOk="0">
                  <a:moveTo>
                    <a:pt x="2318" y="1"/>
                  </a:moveTo>
                  <a:lnTo>
                    <a:pt x="153" y="2167"/>
                  </a:lnTo>
                  <a:cubicBezTo>
                    <a:pt x="20" y="2299"/>
                    <a:pt x="0" y="2504"/>
                    <a:pt x="104" y="2660"/>
                  </a:cubicBezTo>
                  <a:lnTo>
                    <a:pt x="2668" y="6533"/>
                  </a:lnTo>
                  <a:cubicBezTo>
                    <a:pt x="2824" y="6339"/>
                    <a:pt x="3037" y="6193"/>
                    <a:pt x="3279" y="6129"/>
                  </a:cubicBezTo>
                  <a:cubicBezTo>
                    <a:pt x="3379" y="6102"/>
                    <a:pt x="3481" y="6089"/>
                    <a:pt x="3582" y="6089"/>
                  </a:cubicBezTo>
                  <a:cubicBezTo>
                    <a:pt x="3712" y="6089"/>
                    <a:pt x="3841" y="6111"/>
                    <a:pt x="3965" y="6154"/>
                  </a:cubicBezTo>
                  <a:cubicBezTo>
                    <a:pt x="4017" y="5884"/>
                    <a:pt x="4161" y="5649"/>
                    <a:pt x="4363" y="5480"/>
                  </a:cubicBezTo>
                  <a:lnTo>
                    <a:pt x="2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2563303" y="2098864"/>
              <a:ext cx="123327" cy="184623"/>
            </a:xfrm>
            <a:custGeom>
              <a:avLst/>
              <a:gdLst/>
              <a:ahLst/>
              <a:cxnLst/>
              <a:rect l="l" t="t" r="r" b="b"/>
              <a:pathLst>
                <a:path w="4364" h="6533" extrusionOk="0">
                  <a:moveTo>
                    <a:pt x="2045" y="1"/>
                  </a:moveTo>
                  <a:lnTo>
                    <a:pt x="1" y="5480"/>
                  </a:lnTo>
                  <a:cubicBezTo>
                    <a:pt x="202" y="5649"/>
                    <a:pt x="348" y="5884"/>
                    <a:pt x="399" y="6154"/>
                  </a:cubicBezTo>
                  <a:cubicBezTo>
                    <a:pt x="524" y="6110"/>
                    <a:pt x="655" y="6089"/>
                    <a:pt x="783" y="6089"/>
                  </a:cubicBezTo>
                  <a:cubicBezTo>
                    <a:pt x="885" y="6089"/>
                    <a:pt x="986" y="6102"/>
                    <a:pt x="1082" y="6128"/>
                  </a:cubicBezTo>
                  <a:cubicBezTo>
                    <a:pt x="1326" y="6193"/>
                    <a:pt x="1539" y="6339"/>
                    <a:pt x="1695" y="6533"/>
                  </a:cubicBezTo>
                  <a:lnTo>
                    <a:pt x="4260" y="2659"/>
                  </a:lnTo>
                  <a:cubicBezTo>
                    <a:pt x="4363" y="2504"/>
                    <a:pt x="4343" y="2299"/>
                    <a:pt x="4212" y="2167"/>
                  </a:cubicBezTo>
                  <a:lnTo>
                    <a:pt x="2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2439326" y="2090612"/>
              <a:ext cx="161308" cy="66270"/>
            </a:xfrm>
            <a:custGeom>
              <a:avLst/>
              <a:gdLst/>
              <a:ahLst/>
              <a:cxnLst/>
              <a:rect l="l" t="t" r="r" b="b"/>
              <a:pathLst>
                <a:path w="5708" h="2345" extrusionOk="0">
                  <a:moveTo>
                    <a:pt x="0" y="1"/>
                  </a:moveTo>
                  <a:lnTo>
                    <a:pt x="879" y="2344"/>
                  </a:lnTo>
                  <a:lnTo>
                    <a:pt x="4829" y="2344"/>
                  </a:lnTo>
                  <a:lnTo>
                    <a:pt x="57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2419827" y="2267972"/>
              <a:ext cx="200279" cy="199431"/>
            </a:xfrm>
            <a:custGeom>
              <a:avLst/>
              <a:gdLst/>
              <a:ahLst/>
              <a:cxnLst/>
              <a:rect l="l" t="t" r="r" b="b"/>
              <a:pathLst>
                <a:path w="7087" h="7057" extrusionOk="0">
                  <a:moveTo>
                    <a:pt x="3544" y="2344"/>
                  </a:moveTo>
                  <a:cubicBezTo>
                    <a:pt x="4190" y="2344"/>
                    <a:pt x="4716" y="2869"/>
                    <a:pt x="4716" y="3516"/>
                  </a:cubicBezTo>
                  <a:cubicBezTo>
                    <a:pt x="4716" y="4162"/>
                    <a:pt x="4190" y="4687"/>
                    <a:pt x="3544" y="4687"/>
                  </a:cubicBezTo>
                  <a:cubicBezTo>
                    <a:pt x="2898" y="4687"/>
                    <a:pt x="2371" y="4162"/>
                    <a:pt x="2371" y="3516"/>
                  </a:cubicBezTo>
                  <a:cubicBezTo>
                    <a:pt x="2371" y="2869"/>
                    <a:pt x="2898" y="2344"/>
                    <a:pt x="3544" y="2344"/>
                  </a:cubicBezTo>
                  <a:close/>
                  <a:moveTo>
                    <a:pt x="2762" y="1"/>
                  </a:moveTo>
                  <a:cubicBezTo>
                    <a:pt x="2546" y="1"/>
                    <a:pt x="2371" y="176"/>
                    <a:pt x="2371" y="391"/>
                  </a:cubicBezTo>
                  <a:lnTo>
                    <a:pt x="2371" y="1056"/>
                  </a:lnTo>
                  <a:cubicBezTo>
                    <a:pt x="2243" y="1118"/>
                    <a:pt x="2119" y="1190"/>
                    <a:pt x="2001" y="1272"/>
                  </a:cubicBezTo>
                  <a:lnTo>
                    <a:pt x="1424" y="938"/>
                  </a:lnTo>
                  <a:cubicBezTo>
                    <a:pt x="1363" y="904"/>
                    <a:pt x="1295" y="886"/>
                    <a:pt x="1226" y="886"/>
                  </a:cubicBezTo>
                  <a:cubicBezTo>
                    <a:pt x="1193" y="886"/>
                    <a:pt x="1160" y="890"/>
                    <a:pt x="1128" y="899"/>
                  </a:cubicBezTo>
                  <a:cubicBezTo>
                    <a:pt x="1027" y="927"/>
                    <a:pt x="942" y="992"/>
                    <a:pt x="890" y="1081"/>
                  </a:cubicBezTo>
                  <a:lnTo>
                    <a:pt x="108" y="2434"/>
                  </a:lnTo>
                  <a:cubicBezTo>
                    <a:pt x="0" y="2621"/>
                    <a:pt x="65" y="2860"/>
                    <a:pt x="253" y="2968"/>
                  </a:cubicBezTo>
                  <a:lnTo>
                    <a:pt x="820" y="3296"/>
                  </a:lnTo>
                  <a:cubicBezTo>
                    <a:pt x="813" y="3369"/>
                    <a:pt x="810" y="3442"/>
                    <a:pt x="810" y="3516"/>
                  </a:cubicBezTo>
                  <a:cubicBezTo>
                    <a:pt x="810" y="3589"/>
                    <a:pt x="813" y="3663"/>
                    <a:pt x="820" y="3735"/>
                  </a:cubicBezTo>
                  <a:lnTo>
                    <a:pt x="253" y="4063"/>
                  </a:lnTo>
                  <a:cubicBezTo>
                    <a:pt x="65" y="4171"/>
                    <a:pt x="0" y="4410"/>
                    <a:pt x="108" y="4597"/>
                  </a:cubicBezTo>
                  <a:lnTo>
                    <a:pt x="890" y="5950"/>
                  </a:lnTo>
                  <a:cubicBezTo>
                    <a:pt x="963" y="6076"/>
                    <a:pt x="1094" y="6144"/>
                    <a:pt x="1228" y="6144"/>
                  </a:cubicBezTo>
                  <a:cubicBezTo>
                    <a:pt x="1295" y="6144"/>
                    <a:pt x="1362" y="6127"/>
                    <a:pt x="1424" y="6093"/>
                  </a:cubicBezTo>
                  <a:lnTo>
                    <a:pt x="2001" y="5760"/>
                  </a:lnTo>
                  <a:cubicBezTo>
                    <a:pt x="2119" y="5842"/>
                    <a:pt x="2243" y="5913"/>
                    <a:pt x="2371" y="5974"/>
                  </a:cubicBezTo>
                  <a:lnTo>
                    <a:pt x="2371" y="6667"/>
                  </a:lnTo>
                  <a:cubicBezTo>
                    <a:pt x="2371" y="6883"/>
                    <a:pt x="2546" y="7056"/>
                    <a:pt x="2762" y="7056"/>
                  </a:cubicBezTo>
                  <a:lnTo>
                    <a:pt x="4325" y="7056"/>
                  </a:lnTo>
                  <a:cubicBezTo>
                    <a:pt x="4541" y="7056"/>
                    <a:pt x="4716" y="6883"/>
                    <a:pt x="4716" y="6667"/>
                  </a:cubicBezTo>
                  <a:lnTo>
                    <a:pt x="4716" y="5974"/>
                  </a:lnTo>
                  <a:cubicBezTo>
                    <a:pt x="4844" y="5913"/>
                    <a:pt x="4968" y="5842"/>
                    <a:pt x="5086" y="5760"/>
                  </a:cubicBezTo>
                  <a:lnTo>
                    <a:pt x="5664" y="6093"/>
                  </a:lnTo>
                  <a:cubicBezTo>
                    <a:pt x="5725" y="6128"/>
                    <a:pt x="5792" y="6145"/>
                    <a:pt x="5859" y="6145"/>
                  </a:cubicBezTo>
                  <a:cubicBezTo>
                    <a:pt x="5992" y="6145"/>
                    <a:pt x="6124" y="6077"/>
                    <a:pt x="6197" y="5950"/>
                  </a:cubicBezTo>
                  <a:lnTo>
                    <a:pt x="6979" y="4597"/>
                  </a:lnTo>
                  <a:cubicBezTo>
                    <a:pt x="7087" y="4410"/>
                    <a:pt x="7023" y="4171"/>
                    <a:pt x="6836" y="4063"/>
                  </a:cubicBezTo>
                  <a:lnTo>
                    <a:pt x="6267" y="3735"/>
                  </a:lnTo>
                  <a:cubicBezTo>
                    <a:pt x="6275" y="3663"/>
                    <a:pt x="6278" y="3589"/>
                    <a:pt x="6278" y="3516"/>
                  </a:cubicBezTo>
                  <a:cubicBezTo>
                    <a:pt x="6278" y="3442"/>
                    <a:pt x="6275" y="3369"/>
                    <a:pt x="6267" y="3296"/>
                  </a:cubicBezTo>
                  <a:lnTo>
                    <a:pt x="6836" y="2968"/>
                  </a:lnTo>
                  <a:cubicBezTo>
                    <a:pt x="7023" y="2860"/>
                    <a:pt x="7087" y="2622"/>
                    <a:pt x="6979" y="2434"/>
                  </a:cubicBezTo>
                  <a:lnTo>
                    <a:pt x="6197" y="1081"/>
                  </a:lnTo>
                  <a:cubicBezTo>
                    <a:pt x="6124" y="955"/>
                    <a:pt x="5993" y="886"/>
                    <a:pt x="5858" y="886"/>
                  </a:cubicBezTo>
                  <a:cubicBezTo>
                    <a:pt x="5792" y="886"/>
                    <a:pt x="5725" y="903"/>
                    <a:pt x="5664" y="938"/>
                  </a:cubicBezTo>
                  <a:lnTo>
                    <a:pt x="5086" y="1272"/>
                  </a:lnTo>
                  <a:cubicBezTo>
                    <a:pt x="4968" y="1190"/>
                    <a:pt x="4844" y="1118"/>
                    <a:pt x="4716" y="1056"/>
                  </a:cubicBezTo>
                  <a:lnTo>
                    <a:pt x="4716" y="391"/>
                  </a:lnTo>
                  <a:cubicBezTo>
                    <a:pt x="4716" y="176"/>
                    <a:pt x="4541" y="1"/>
                    <a:pt x="43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8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8"/>
          <p:cNvSpPr txBox="1">
            <a:spLocks noGrp="1"/>
          </p:cNvSpPr>
          <p:nvPr>
            <p:ph type="title"/>
          </p:nvPr>
        </p:nvSpPr>
        <p:spPr>
          <a:xfrm>
            <a:off x="1093950" y="2879075"/>
            <a:ext cx="69561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ARHITECTURA GENERALĂ</a:t>
            </a:r>
            <a:endParaRPr lang="en-GB"/>
          </a:p>
        </p:txBody>
      </p:sp>
      <p:sp>
        <p:nvSpPr>
          <p:cNvPr id="391" name="Google Shape;391;p38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9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2.1. Diagrama bloc</a:t>
            </a:r>
            <a:endParaRPr lang="en-GB"/>
          </a:p>
        </p:txBody>
      </p:sp>
      <p:sp>
        <p:nvSpPr>
          <p:cNvPr id="397" name="Google Shape;397;p39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398" name="Google Shape;398;p39"/>
          <p:cNvSpPr txBox="1"/>
          <p:nvPr/>
        </p:nvSpPr>
        <p:spPr>
          <a:xfrm>
            <a:off x="2662950" y="2922200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399" name="Google Shape;399;p3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271925" y="1456125"/>
            <a:ext cx="4600162" cy="34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2.2. Principii de funcționare</a:t>
            </a:r>
            <a:endParaRPr lang="en-GB"/>
          </a:p>
        </p:txBody>
      </p:sp>
      <p:sp>
        <p:nvSpPr>
          <p:cNvPr id="405" name="Google Shape;405;p40"/>
          <p:cNvSpPr txBox="1">
            <a:spLocks noGrp="1"/>
          </p:cNvSpPr>
          <p:nvPr>
            <p:ph type="subTitle" idx="2"/>
          </p:nvPr>
        </p:nvSpPr>
        <p:spPr>
          <a:xfrm>
            <a:off x="113225" y="1331075"/>
            <a:ext cx="485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 u="sng"/>
              <a:t>Ciclul Fetch-Decode-Execute: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406" name="Google Shape;406;p40"/>
          <p:cNvSpPr txBox="1"/>
          <p:nvPr/>
        </p:nvSpPr>
        <p:spPr>
          <a:xfrm>
            <a:off x="984025" y="1997575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FETCH: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PC –» AR -» Memory -» DR -» IR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DECODE: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analizează opcode-ul din IR[15:10]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EXECUTE: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generează semnalele de control pentru execuția instrucțiunii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1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2.2. Principii de funcționare</a:t>
            </a:r>
            <a:endParaRPr lang="en-GB"/>
          </a:p>
        </p:txBody>
      </p:sp>
      <p:sp>
        <p:nvSpPr>
          <p:cNvPr id="412" name="Google Shape;412;p41"/>
          <p:cNvSpPr txBox="1">
            <a:spLocks noGrp="1"/>
          </p:cNvSpPr>
          <p:nvPr>
            <p:ph type="subTitle" idx="2"/>
          </p:nvPr>
        </p:nvSpPr>
        <p:spPr>
          <a:xfrm>
            <a:off x="9850100" y="1815725"/>
            <a:ext cx="485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413" name="Google Shape;413;p41"/>
          <p:cNvSpPr txBox="1"/>
          <p:nvPr/>
        </p:nvSpPr>
        <p:spPr>
          <a:xfrm>
            <a:off x="984025" y="1815725"/>
            <a:ext cx="6363000" cy="25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Execuția unei instrucțiuni durează 3-5 cicluri 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funcție de tipul instrucțiunii: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Instrucțiuni simple (MOV, INC, DEC): 3-4 cicluri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Instrucțiuni aritmetice (ADD, SUB): 4-6 cicluri  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Instrucțiuni complexe (MUL, DIV): 10-25 cicluri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Operații de mining (MINE): 100+ cicluri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2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2"/>
          <p:cNvSpPr txBox="1">
            <a:spLocks noGrp="1"/>
          </p:cNvSpPr>
          <p:nvPr>
            <p:ph type="title"/>
          </p:nvPr>
        </p:nvSpPr>
        <p:spPr>
          <a:xfrm>
            <a:off x="1093950" y="2879075"/>
            <a:ext cx="69561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DESCRIEREA MODULELOR</a:t>
            </a:r>
            <a:endParaRPr lang="en-GB"/>
          </a:p>
        </p:txBody>
      </p:sp>
      <p:sp>
        <p:nvSpPr>
          <p:cNvPr id="420" name="Google Shape;420;p42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3.1. Control Unit (CU)</a:t>
            </a:r>
            <a:endParaRPr lang="en-GB"/>
          </a:p>
        </p:txBody>
      </p:sp>
      <p:sp>
        <p:nvSpPr>
          <p:cNvPr id="426" name="Google Shape;426;p43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427" name="Google Shape;427;p43"/>
          <p:cNvSpPr txBox="1"/>
          <p:nvPr/>
        </p:nvSpPr>
        <p:spPr>
          <a:xfrm>
            <a:off x="1390500" y="1878000"/>
            <a:ext cx="63630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 Unit este inima procesorului, implementată ca o mașină cu stări finite (FSM) cu </a:t>
            </a:r>
            <a:r>
              <a:rPr lang="ro-RO" alt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72</a:t>
            </a: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stări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distincte.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Stări principale</a:t>
            </a:r>
            <a:endParaRPr lang="en-GB"/>
          </a:p>
        </p:txBody>
      </p:sp>
      <p:sp>
        <p:nvSpPr>
          <p:cNvPr id="434" name="Google Shape;434;p44"/>
          <p:cNvSpPr txBox="1">
            <a:spLocks noGrp="1"/>
          </p:cNvSpPr>
          <p:nvPr>
            <p:ph type="subTitle" idx="1"/>
          </p:nvPr>
        </p:nvSpPr>
        <p:spPr>
          <a:xfrm>
            <a:off x="896325" y="1245475"/>
            <a:ext cx="7895100" cy="355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LOAD_ADDR</a:t>
            </a:r>
            <a:r>
              <a:rPr lang="en-GB" sz="1600"/>
              <a:t>, </a:t>
            </a:r>
            <a:r>
              <a:rPr lang="en-GB" sz="1600" b="1"/>
              <a:t> LOAD_INSTR</a:t>
            </a:r>
            <a:r>
              <a:rPr lang="en-GB" sz="1600"/>
              <a:t>,  </a:t>
            </a:r>
            <a:r>
              <a:rPr lang="en-GB" sz="1600" b="1"/>
              <a:t>DECODE </a:t>
            </a:r>
            <a:r>
              <a:rPr lang="en-GB" sz="1600"/>
              <a:t> - ciclul de fetch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HALT_STATE</a:t>
            </a:r>
            <a:r>
              <a:rPr lang="en-GB" sz="1600"/>
              <a:t>  - oprirea procesorului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LOAD_1/2/3</a:t>
            </a:r>
            <a:r>
              <a:rPr lang="en-GB" sz="1600"/>
              <a:t>  - încărcarea datelor din memorie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STORE_1/2/3 </a:t>
            </a:r>
            <a:r>
              <a:rPr lang="en-GB" sz="1600"/>
              <a:t> - salvarea datelor în memorie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BRA_1</a:t>
            </a:r>
            <a:r>
              <a:rPr lang="en-GB" sz="1600"/>
              <a:t>,  </a:t>
            </a:r>
            <a:r>
              <a:rPr lang="en-GB" sz="1600" b="1"/>
              <a:t>BRZ_CHECK/TAKE/SKIP</a:t>
            </a:r>
            <a:r>
              <a:rPr lang="en-GB" sz="1600"/>
              <a:t>  - instrucțiuni de salt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PUSH_1/2/3</a:t>
            </a:r>
            <a:r>
              <a:rPr lang="en-GB" sz="1600"/>
              <a:t>,  </a:t>
            </a:r>
            <a:r>
              <a:rPr lang="en-GB" sz="1600" b="1"/>
              <a:t>RET_1/2/3/4/5</a:t>
            </a:r>
            <a:r>
              <a:rPr lang="en-GB" sz="1600"/>
              <a:t>  - operații cu stiva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ALU_LOAD_OPC/OP1/OP2</a:t>
            </a:r>
            <a:r>
              <a:rPr lang="en-GB" sz="1600"/>
              <a:t>,  </a:t>
            </a:r>
            <a:r>
              <a:rPr lang="en-GB" sz="1600" b="1"/>
              <a:t>ALU_WAIT</a:t>
            </a:r>
            <a:r>
              <a:rPr lang="en-GB" sz="1600"/>
              <a:t>,  </a:t>
            </a:r>
            <a:r>
              <a:rPr lang="en-GB" sz="1600" b="1"/>
              <a:t>ALU_GET_RESULT</a:t>
            </a:r>
            <a:r>
              <a:rPr lang="en-GB" sz="1600"/>
              <a:t>  - operații ALU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MINE_START</a:t>
            </a:r>
            <a:r>
              <a:rPr lang="en-GB" sz="1600"/>
              <a:t>,  </a:t>
            </a:r>
            <a:r>
              <a:rPr lang="en-GB" sz="1600" b="1"/>
              <a:t>MINE_WAIT</a:t>
            </a:r>
            <a:r>
              <a:rPr lang="en-GB" sz="1600"/>
              <a:t>,  </a:t>
            </a:r>
            <a:r>
              <a:rPr lang="en-GB" sz="1600" b="1"/>
              <a:t>MINE_GET_RESULT</a:t>
            </a:r>
            <a:r>
              <a:rPr lang="en-GB" sz="1600"/>
              <a:t>  - operații de mining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35" name="Google Shape;435;p44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6" name="Google Shape;436;p44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442" name="Google Shape;442;p45"/>
          <p:cNvSpPr txBox="1">
            <a:spLocks noGrp="1"/>
          </p:cNvSpPr>
          <p:nvPr>
            <p:ph type="title"/>
          </p:nvPr>
        </p:nvSpPr>
        <p:spPr>
          <a:xfrm>
            <a:off x="720000" y="2581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Semnale de control generate</a:t>
            </a:r>
            <a:endParaRPr lang="en-GB"/>
          </a:p>
        </p:txBody>
      </p:sp>
      <p:sp>
        <p:nvSpPr>
          <p:cNvPr id="443" name="Google Shape;443;p45"/>
          <p:cNvSpPr txBox="1">
            <a:spLocks noGrp="1"/>
          </p:cNvSpPr>
          <p:nvPr>
            <p:ph type="subTitle" idx="1"/>
          </p:nvPr>
        </p:nvSpPr>
        <p:spPr>
          <a:xfrm>
            <a:off x="896300" y="1034025"/>
            <a:ext cx="7895100" cy="41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ldAR</a:t>
            </a:r>
            <a:r>
              <a:rPr lang="en-GB" sz="1600"/>
              <a:t>,  </a:t>
            </a:r>
            <a:r>
              <a:rPr lang="en-GB" sz="1600" b="1"/>
              <a:t>condAR[1:0]</a:t>
            </a:r>
            <a:r>
              <a:rPr lang="en-GB" sz="1600"/>
              <a:t>  - control pentru Address Register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ldDR</a:t>
            </a:r>
            <a:r>
              <a:rPr lang="en-GB" sz="1600"/>
              <a:t>,  </a:t>
            </a:r>
            <a:r>
              <a:rPr lang="en-GB" sz="1600" b="1"/>
              <a:t>condDR[2:0]</a:t>
            </a:r>
            <a:r>
              <a:rPr lang="en-GB" sz="1600"/>
              <a:t>  - control pentru Data Register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ldIR</a:t>
            </a:r>
            <a:r>
              <a:rPr lang="en-GB" sz="1600"/>
              <a:t>,  </a:t>
            </a:r>
            <a:r>
              <a:rPr lang="en-GB" sz="1600" b="1"/>
              <a:t>incPC</a:t>
            </a:r>
            <a:r>
              <a:rPr lang="en-GB" sz="1600"/>
              <a:t>, </a:t>
            </a:r>
            <a:r>
              <a:rPr lang="en-GB" sz="1600" b="1"/>
              <a:t> ldPC</a:t>
            </a:r>
            <a:r>
              <a:rPr lang="en-GB" sz="1600"/>
              <a:t>,  </a:t>
            </a:r>
            <a:r>
              <a:rPr lang="en-GB" sz="1600" b="1"/>
              <a:t>ldPCfromDR</a:t>
            </a:r>
            <a:r>
              <a:rPr lang="en-GB" sz="1600"/>
              <a:t>  - control pentru Program Counter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ldX</a:t>
            </a:r>
            <a:r>
              <a:rPr lang="en-GB" sz="1600"/>
              <a:t>,  </a:t>
            </a:r>
            <a:r>
              <a:rPr lang="en-GB" sz="1600" b="1"/>
              <a:t>ldY</a:t>
            </a:r>
            <a:r>
              <a:rPr lang="en-GB" sz="1600"/>
              <a:t>, </a:t>
            </a:r>
            <a:r>
              <a:rPr lang="en-GB" sz="1600" b="1"/>
              <a:t> ldA</a:t>
            </a:r>
            <a:r>
              <a:rPr lang="en-GB" sz="1600"/>
              <a:t>  - control pentru registrele generale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memWR</a:t>
            </a:r>
            <a:r>
              <a:rPr lang="en-GB" sz="1600"/>
              <a:t>  - scriere în memorie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ldFLAG</a:t>
            </a:r>
            <a:r>
              <a:rPr lang="en-GB" sz="1600"/>
              <a:t>  - actualizare flags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incSP</a:t>
            </a:r>
            <a:r>
              <a:rPr lang="en-GB" sz="1600"/>
              <a:t>,  </a:t>
            </a:r>
            <a:r>
              <a:rPr lang="en-GB" sz="1600" b="1"/>
              <a:t>decSP</a:t>
            </a:r>
            <a:r>
              <a:rPr lang="en-GB" sz="1600"/>
              <a:t>  - control pentru Stack Pointer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alu_start</a:t>
            </a:r>
            <a:r>
              <a:rPr lang="en-GB" sz="1600"/>
              <a:t>,  </a:t>
            </a:r>
            <a:r>
              <a:rPr lang="en-GB" sz="1600" b="1"/>
              <a:t>condALU[1:0]</a:t>
            </a:r>
            <a:r>
              <a:rPr lang="en-GB" sz="1600"/>
              <a:t>  - control pentru ALU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mining_start</a:t>
            </a:r>
            <a:r>
              <a:rPr lang="en-GB" sz="1600"/>
              <a:t>,  </a:t>
            </a:r>
            <a:r>
              <a:rPr lang="en-GB" sz="1600" b="1"/>
              <a:t>use_mining_result</a:t>
            </a:r>
            <a:r>
              <a:rPr lang="en-GB" sz="1600"/>
              <a:t>  - control pentru mining core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444" name="Google Shape;444;p45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5" name="Google Shape;445;p45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3.2. Program Counter (PC)</a:t>
            </a:r>
            <a:endParaRPr lang="en-GB"/>
          </a:p>
        </p:txBody>
      </p:sp>
      <p:sp>
        <p:nvSpPr>
          <p:cNvPr id="451" name="Google Shape;451;p46"/>
          <p:cNvSpPr txBox="1">
            <a:spLocks noGrp="1"/>
          </p:cNvSpPr>
          <p:nvPr>
            <p:ph type="subTitle" idx="2"/>
          </p:nvPr>
        </p:nvSpPr>
        <p:spPr>
          <a:xfrm>
            <a:off x="1245450" y="1996025"/>
            <a:ext cx="6653100" cy="33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Operații: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Incrementare automată după fetch:  PC = PC + 1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Încărcare directă pentru salturi:  PC = imm[9:0]  (extins la 16 biți)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Încărcare din DR pentru RET:  PC = DR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Menținere valoare pentru alte operații</a:t>
            </a: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 </a:t>
            </a:r>
            <a:endParaRPr sz="2000"/>
          </a:p>
        </p:txBody>
      </p:sp>
      <p:sp>
        <p:nvSpPr>
          <p:cNvPr id="452" name="Google Shape;452;p46"/>
          <p:cNvSpPr txBox="1"/>
          <p:nvPr/>
        </p:nvSpPr>
        <p:spPr>
          <a:xfrm>
            <a:off x="289650" y="1455925"/>
            <a:ext cx="85647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ține evidența adresei instrucțiunii curente.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7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458" name="Google Shape;458;p47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Multiplexare</a:t>
            </a:r>
            <a:endParaRPr lang="en-GB"/>
          </a:p>
        </p:txBody>
      </p:sp>
      <p:sp>
        <p:nvSpPr>
          <p:cNvPr id="459" name="Google Shape;459;p47"/>
          <p:cNvSpPr txBox="1">
            <a:spLocks noGrp="1"/>
          </p:cNvSpPr>
          <p:nvPr>
            <p:ph type="subTitle" idx="1"/>
          </p:nvPr>
        </p:nvSpPr>
        <p:spPr>
          <a:xfrm>
            <a:off x="624450" y="1620700"/>
            <a:ext cx="7895100" cy="22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/>
              <a:t>verilog</a:t>
            </a: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00: PC_hold (menține valoarea)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01: PC_inc (incrementare)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10: PC_imm (salt cu valoare imediată)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condPC = 11: PC_dr (salt cu valoare din DR)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460" name="Google Shape;460;p47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1" name="Google Shape;461;p47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8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3.3. Address Register (AR)</a:t>
            </a:r>
            <a:endParaRPr lang="en-GB"/>
          </a:p>
        </p:txBody>
      </p:sp>
      <p:sp>
        <p:nvSpPr>
          <p:cNvPr id="467" name="Google Shape;467;p48"/>
          <p:cNvSpPr txBox="1">
            <a:spLocks noGrp="1"/>
          </p:cNvSpPr>
          <p:nvPr>
            <p:ph type="subTitle" idx="2"/>
          </p:nvPr>
        </p:nvSpPr>
        <p:spPr>
          <a:xfrm>
            <a:off x="1406100" y="2840100"/>
            <a:ext cx="6331800" cy="21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Surse de adrese: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PC - pentru fetch instrucțiuni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SP - pentru operații cu stiva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Valoare imediată - pentru LD/ST</a:t>
            </a: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u="sng"/>
          </a:p>
        </p:txBody>
      </p:sp>
      <p:sp>
        <p:nvSpPr>
          <p:cNvPr id="468" name="Google Shape;468;p48"/>
          <p:cNvSpPr txBox="1"/>
          <p:nvPr/>
        </p:nvSpPr>
        <p:spPr>
          <a:xfrm>
            <a:off x="289650" y="1455925"/>
            <a:ext cx="85647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care ține adresa curentă pentru accesul în memorie. Doar cei 10 biți inferiori </a:t>
            </a: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(AR[9:0])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sunt </a:t>
            </a: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folosiți efectiv pentru adresare.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3.4. Data Register (DR)</a:t>
            </a:r>
            <a:endParaRPr lang="en-GB"/>
          </a:p>
        </p:txBody>
      </p:sp>
      <p:sp>
        <p:nvSpPr>
          <p:cNvPr id="474" name="Google Shape;474;p49"/>
          <p:cNvSpPr txBox="1">
            <a:spLocks noGrp="1"/>
          </p:cNvSpPr>
          <p:nvPr>
            <p:ph type="subTitle" idx="2"/>
          </p:nvPr>
        </p:nvSpPr>
        <p:spPr>
          <a:xfrm>
            <a:off x="1406100" y="2153475"/>
            <a:ext cx="6331800" cy="25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Funcții: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Primește date din memorie (read)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Furnizează date către memorie (write)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Transferă date între registre (X, Y, PC)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- Buffer pentru valori imediate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u="sng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u="sng"/>
          </a:p>
        </p:txBody>
      </p:sp>
      <p:sp>
        <p:nvSpPr>
          <p:cNvPr id="475" name="Google Shape;475;p49"/>
          <p:cNvSpPr txBox="1"/>
          <p:nvPr/>
        </p:nvSpPr>
        <p:spPr>
          <a:xfrm>
            <a:off x="289650" y="1455925"/>
            <a:ext cx="8564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Buffer de 16 biți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între memorie și procesor.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3.5. Instruction Register (IR)</a:t>
            </a:r>
            <a:endParaRPr lang="en-GB"/>
          </a:p>
        </p:txBody>
      </p:sp>
      <p:sp>
        <p:nvSpPr>
          <p:cNvPr id="481" name="Google Shape;481;p50"/>
          <p:cNvSpPr txBox="1">
            <a:spLocks noGrp="1"/>
          </p:cNvSpPr>
          <p:nvPr>
            <p:ph type="subTitle" idx="2"/>
          </p:nvPr>
        </p:nvSpPr>
        <p:spPr>
          <a:xfrm>
            <a:off x="1223250" y="2028625"/>
            <a:ext cx="6697500" cy="3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Format instrucțiune: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|OpCode|RegAddr|Data|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Opcode [15:10]: 6 biți pentru cod operație (64 instrucțiuni posibile)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RegAddr [9]: Selector registru (0 = X, 1 = Y)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Data [8:0]: Valoare imediată sau adresă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482" name="Google Shape;482;p50"/>
          <p:cNvSpPr txBox="1"/>
          <p:nvPr/>
        </p:nvSpPr>
        <p:spPr>
          <a:xfrm>
            <a:off x="289650" y="1455925"/>
            <a:ext cx="876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păstrează instrucțiunea curentă în execuție.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1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3.6. Registre generale (X, Y, A)</a:t>
            </a:r>
            <a:endParaRPr lang="en-GB"/>
          </a:p>
        </p:txBody>
      </p:sp>
      <p:sp>
        <p:nvSpPr>
          <p:cNvPr id="488" name="Google Shape;488;p51"/>
          <p:cNvSpPr txBox="1">
            <a:spLocks noGrp="1"/>
          </p:cNvSpPr>
          <p:nvPr>
            <p:ph type="subTitle" idx="2"/>
          </p:nvPr>
        </p:nvSpPr>
        <p:spPr>
          <a:xfrm>
            <a:off x="9745025" y="2872850"/>
            <a:ext cx="583200" cy="28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489" name="Google Shape;489;p51"/>
          <p:cNvSpPr txBox="1"/>
          <p:nvPr/>
        </p:nvSpPr>
        <p:spPr>
          <a:xfrm>
            <a:off x="258400" y="1596650"/>
            <a:ext cx="8767500" cy="26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Registrul X și Y: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Registre general-purpose de 16 biți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Suportă  operații de incrementare/decrementare directă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Folosite ca operanzi pentru ALU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X și Y pot fi folosiți pentru operații de mining (data și nonce)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3.6. Registre generale (X, Y, A)</a:t>
            </a:r>
            <a:endParaRPr lang="en-GB"/>
          </a:p>
        </p:txBody>
      </p:sp>
      <p:sp>
        <p:nvSpPr>
          <p:cNvPr id="495" name="Google Shape;495;p52"/>
          <p:cNvSpPr txBox="1">
            <a:spLocks noGrp="1"/>
          </p:cNvSpPr>
          <p:nvPr>
            <p:ph type="subTitle" idx="2"/>
          </p:nvPr>
        </p:nvSpPr>
        <p:spPr>
          <a:xfrm>
            <a:off x="9745025" y="2872850"/>
            <a:ext cx="583200" cy="28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496" name="Google Shape;496;p52"/>
          <p:cNvSpPr txBox="1"/>
          <p:nvPr/>
        </p:nvSpPr>
        <p:spPr>
          <a:xfrm>
            <a:off x="258400" y="1596650"/>
            <a:ext cx="8767500" cy="26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Registrul A (Acumulator):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Primește rezultatele operațiilor ALU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Poate fi încărcat cu valori imediate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Folosit ca target pentru operațiile de mining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3.7. Stack Pointer (SP)</a:t>
            </a:r>
            <a:endParaRPr lang="en-GB"/>
          </a:p>
        </p:txBody>
      </p:sp>
      <p:sp>
        <p:nvSpPr>
          <p:cNvPr id="502" name="Google Shape;502;p53"/>
          <p:cNvSpPr txBox="1">
            <a:spLocks noGrp="1"/>
          </p:cNvSpPr>
          <p:nvPr>
            <p:ph type="subTitle" idx="2"/>
          </p:nvPr>
        </p:nvSpPr>
        <p:spPr>
          <a:xfrm>
            <a:off x="9745025" y="2872850"/>
            <a:ext cx="583200" cy="28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503" name="Google Shape;503;p53"/>
          <p:cNvSpPr txBox="1"/>
          <p:nvPr/>
        </p:nvSpPr>
        <p:spPr>
          <a:xfrm>
            <a:off x="258400" y="1596650"/>
            <a:ext cx="8767500" cy="8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Registru de 16 biți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care indică vârful stivei, inițializat la 0x3FF (sfârșitul memoriei).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04" name="Google Shape;504;p53"/>
          <p:cNvSpPr txBox="1"/>
          <p:nvPr/>
        </p:nvSpPr>
        <p:spPr>
          <a:xfrm>
            <a:off x="1366900" y="2522250"/>
            <a:ext cx="6550500" cy="23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Operații:</a:t>
            </a:r>
            <a:endParaRPr sz="2000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 incSP : SP = SP + 1 (la POP/RET)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 decSP : SP = SP - 1 (la PUSH)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Convenție: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Stiva crește în jos (de la adrese mari către adrese mici).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3.8. Flags Register </a:t>
            </a:r>
            <a:endParaRPr lang="en-GB"/>
          </a:p>
        </p:txBody>
      </p:sp>
      <p:sp>
        <p:nvSpPr>
          <p:cNvPr id="510" name="Google Shape;510;p54"/>
          <p:cNvSpPr txBox="1">
            <a:spLocks noGrp="1"/>
          </p:cNvSpPr>
          <p:nvPr>
            <p:ph type="subTitle" idx="2"/>
          </p:nvPr>
        </p:nvSpPr>
        <p:spPr>
          <a:xfrm>
            <a:off x="5194225" y="6064200"/>
            <a:ext cx="6697500" cy="35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/>
              <a:t>Format instrucțiune:</a:t>
            </a:r>
            <a:endParaRPr sz="20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|OpCode|RegAddr|Data|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Opcode [15:10]: 6 biți pentru cod operație (64 instrucțiuni posibile)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RegAddr [9]: Selector registru (0 = X, 1 = Y)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/>
              <a:t>Data [8:0]: Valoare imediată sau adresă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511" name="Google Shape;511;p54"/>
          <p:cNvSpPr txBox="1"/>
          <p:nvPr/>
        </p:nvSpPr>
        <p:spPr>
          <a:xfrm>
            <a:off x="376500" y="1706275"/>
            <a:ext cx="8767500" cy="3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 flag-uri de stare (1 bit fiecare):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Z (Zero): 1 dacă rezultatul este 0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N (Negative): 1 dacă bit-ul de semn (MSB) este 1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 (Carry): 1 dacă există transport la adunare/împrumut la scădere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O (Overflow): 1 dacă există overflow aritmetic în complement 2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3.9. Memoria RAM</a:t>
            </a:r>
            <a:endParaRPr lang="en-GB"/>
          </a:p>
        </p:txBody>
      </p:sp>
      <p:sp>
        <p:nvSpPr>
          <p:cNvPr id="517" name="Google Shape;517;p55"/>
          <p:cNvSpPr txBox="1">
            <a:spLocks noGrp="1"/>
          </p:cNvSpPr>
          <p:nvPr>
            <p:ph type="subTitle" idx="2"/>
          </p:nvPr>
        </p:nvSpPr>
        <p:spPr>
          <a:xfrm>
            <a:off x="720000" y="1565575"/>
            <a:ext cx="4566300" cy="29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 dirty="0" err="1"/>
              <a:t>Specificații</a:t>
            </a:r>
            <a:r>
              <a:rPr lang="en-GB" sz="2000" u="sng" dirty="0"/>
              <a:t>:</a:t>
            </a:r>
            <a:endParaRPr sz="2000" u="sng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Capacitate: 2 KB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</a:t>
            </a:r>
            <a:r>
              <a:rPr lang="en-GB" sz="2000" dirty="0" err="1"/>
              <a:t>Adresare</a:t>
            </a:r>
            <a:r>
              <a:rPr lang="en-GB" sz="2000" dirty="0"/>
              <a:t>: 10 </a:t>
            </a:r>
            <a:r>
              <a:rPr lang="en-GB" sz="2000" dirty="0" err="1"/>
              <a:t>biți</a:t>
            </a:r>
            <a:r>
              <a:rPr lang="en-GB" sz="2000" dirty="0"/>
              <a:t> (</a:t>
            </a:r>
            <a:r>
              <a:rPr lang="en-GB" sz="2000" dirty="0" err="1"/>
              <a:t>addr</a:t>
            </a:r>
            <a:r>
              <a:rPr lang="en-GB" sz="2000" dirty="0"/>
              <a:t>[9:0])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</a:t>
            </a:r>
            <a:r>
              <a:rPr lang="en-GB" sz="2000" dirty="0" err="1"/>
              <a:t>Acces</a:t>
            </a:r>
            <a:r>
              <a:rPr lang="en-GB" sz="2000" dirty="0"/>
              <a:t>: </a:t>
            </a:r>
            <a:r>
              <a:rPr lang="en-GB" sz="2000" dirty="0" err="1"/>
              <a:t>Sincron</a:t>
            </a:r>
            <a:r>
              <a:rPr lang="en-GB" sz="2000" dirty="0"/>
              <a:t> cu clock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/>
              <a:t>- </a:t>
            </a:r>
            <a:r>
              <a:rPr lang="en-GB" sz="2000" dirty="0" err="1"/>
              <a:t>Inițializare</a:t>
            </a:r>
            <a:r>
              <a:rPr lang="en-GB" sz="2000" dirty="0"/>
              <a:t>: din </a:t>
            </a:r>
            <a:r>
              <a:rPr lang="en-GB" sz="2000" dirty="0" err="1"/>
              <a:t>fișier</a:t>
            </a:r>
            <a:r>
              <a:rPr lang="en-GB" sz="2000" dirty="0"/>
              <a:t>  </a:t>
            </a:r>
            <a:r>
              <a:rPr lang="en-GB" sz="2000" dirty="0" err="1"/>
              <a:t>data_bin.txt</a:t>
            </a:r>
            <a:r>
              <a:rPr lang="en-GB" sz="2000" dirty="0"/>
              <a:t> 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u="sng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sp>
        <p:nvSpPr>
          <p:cNvPr id="518" name="Google Shape;518;p55"/>
          <p:cNvSpPr txBox="1"/>
          <p:nvPr/>
        </p:nvSpPr>
        <p:spPr>
          <a:xfrm>
            <a:off x="2431475" y="5333075"/>
            <a:ext cx="876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19" name="Google Shape;519;p55"/>
          <p:cNvSpPr txBox="1"/>
          <p:nvPr/>
        </p:nvSpPr>
        <p:spPr>
          <a:xfrm>
            <a:off x="10213950" y="2112750"/>
            <a:ext cx="4151700" cy="29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Organizare:</a:t>
            </a:r>
            <a:endParaRPr sz="2000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0x000-0x03F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Zona de program (64 cuvinte)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0x040-0x3EF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Zona de date (944 cuvinte)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0x3F0-0x3FF: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Zona de stack (16 cuvinte)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</a:t>
            </a:r>
            <a:endParaRPr sz="17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 txBox="1">
            <a:spLocks noGrp="1"/>
          </p:cNvSpPr>
          <p:nvPr>
            <p:ph type="title"/>
          </p:nvPr>
        </p:nvSpPr>
        <p:spPr>
          <a:xfrm>
            <a:off x="720000" y="508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3.10. ALU (Unitatea Aritmetico-Logică)</a:t>
            </a:r>
            <a:endParaRPr lang="en-GB"/>
          </a:p>
        </p:txBody>
      </p:sp>
      <p:sp>
        <p:nvSpPr>
          <p:cNvPr id="525" name="Google Shape;525;p56"/>
          <p:cNvSpPr txBox="1">
            <a:spLocks noGrp="1"/>
          </p:cNvSpPr>
          <p:nvPr>
            <p:ph type="subTitle" idx="2"/>
          </p:nvPr>
        </p:nvSpPr>
        <p:spPr>
          <a:xfrm>
            <a:off x="9745025" y="2872850"/>
            <a:ext cx="583200" cy="28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526" name="Google Shape;526;p56"/>
          <p:cNvSpPr txBox="1"/>
          <p:nvPr/>
        </p:nvSpPr>
        <p:spPr>
          <a:xfrm>
            <a:off x="258400" y="1135563"/>
            <a:ext cx="87675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ALU complexă cu suport pentru operații pe 16 biți.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27" name="Google Shape;527;p56"/>
          <p:cNvSpPr txBox="1"/>
          <p:nvPr/>
        </p:nvSpPr>
        <p:spPr>
          <a:xfrm>
            <a:off x="1078600" y="1454907"/>
            <a:ext cx="7127100" cy="3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Componente</a:t>
            </a:r>
            <a:r>
              <a:rPr lang="en-GB" sz="2000" u="sng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interne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(17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carry), Q (16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), M (16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), Q0 (1 bit)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Counter-e: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CNTM (3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), CNTD (4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Unități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specializate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PBO (Parallel Bit Operations), Shifter Unit, SRT4_PLA (division)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 Unit intern: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mașină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stări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</a:t>
            </a:r>
            <a:r>
              <a:rPr lang="en-GB" sz="20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complexe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u="sng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2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7"/>
          <p:cNvSpPr txBox="1">
            <a:spLocks noGrp="1"/>
          </p:cNvSpPr>
          <p:nvPr>
            <p:ph type="title"/>
          </p:nvPr>
        </p:nvSpPr>
        <p:spPr>
          <a:xfrm>
            <a:off x="720000" y="5082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3.11. Mining Core</a:t>
            </a:r>
            <a:endParaRPr lang="en-GB"/>
          </a:p>
        </p:txBody>
      </p:sp>
      <p:sp>
        <p:nvSpPr>
          <p:cNvPr id="533" name="Google Shape;533;p57"/>
          <p:cNvSpPr txBox="1">
            <a:spLocks noGrp="1"/>
          </p:cNvSpPr>
          <p:nvPr>
            <p:ph type="subTitle" idx="2"/>
          </p:nvPr>
        </p:nvSpPr>
        <p:spPr>
          <a:xfrm>
            <a:off x="9745025" y="2872850"/>
            <a:ext cx="583200" cy="28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sp>
        <p:nvSpPr>
          <p:cNvPr id="534" name="Google Shape;534;p57"/>
          <p:cNvSpPr txBox="1"/>
          <p:nvPr/>
        </p:nvSpPr>
        <p:spPr>
          <a:xfrm>
            <a:off x="258400" y="1260651"/>
            <a:ext cx="87675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 specializat 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 operații de mining bazate pe SHA-256 simplificat.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1078600" y="2339775"/>
            <a:ext cx="7127100" cy="2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Arhitectură:</a:t>
            </a:r>
            <a:endParaRPr sz="2000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- 8 registre de stare: a, b, c, d, e, f, g, h (16 biți fiecare)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- 16 constante K[0:15] (inspirate din SHA-256)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- 16 cuvinte de mesaj W[0:15]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2000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541" name="Google Shape;541;p58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Funcționare</a:t>
            </a:r>
            <a:endParaRPr lang="en-GB"/>
          </a:p>
        </p:txBody>
      </p:sp>
      <p:sp>
        <p:nvSpPr>
          <p:cNvPr id="542" name="Google Shape;542;p58"/>
          <p:cNvSpPr txBox="1">
            <a:spLocks noGrp="1"/>
          </p:cNvSpPr>
          <p:nvPr>
            <p:ph type="subTitle" idx="1"/>
          </p:nvPr>
        </p:nvSpPr>
        <p:spPr>
          <a:xfrm>
            <a:off x="624450" y="1252900"/>
            <a:ext cx="7895100" cy="32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1. </a:t>
            </a:r>
            <a:r>
              <a:rPr lang="en-GB" sz="1600" b="1"/>
              <a:t>INIT: </a:t>
            </a:r>
            <a:r>
              <a:rPr lang="en-GB" sz="1600"/>
              <a:t>Inițializează registrele cu constante H0-H7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2. </a:t>
            </a:r>
            <a:r>
              <a:rPr lang="en-GB" sz="1600" b="1"/>
              <a:t>COMPUTE:</a:t>
            </a:r>
            <a:r>
              <a:rPr lang="en-GB" sz="1600"/>
              <a:t> Execută 16 runde de compresie SHA-256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3. </a:t>
            </a:r>
            <a:r>
              <a:rPr lang="en-GB" sz="1600" b="1"/>
              <a:t>CHECK: </a:t>
            </a:r>
            <a:r>
              <a:rPr lang="en-GB" sz="1600"/>
              <a:t>Verifică dacă hash &lt; target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4. </a:t>
            </a:r>
            <a:r>
              <a:rPr lang="en-GB" sz="1600" b="1"/>
              <a:t>DONE: </a:t>
            </a:r>
            <a:r>
              <a:rPr lang="en-GB" sz="1600"/>
              <a:t>Returnează hash și nonce găsit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u="sng"/>
              <a:t>Formula hash:</a:t>
            </a:r>
            <a:endParaRPr sz="1600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   </a:t>
            </a:r>
            <a:r>
              <a:rPr lang="en-GB" sz="1600" b="1"/>
              <a:t>verilog</a:t>
            </a: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hash_out = (H0 + a) ^ (H4 + e)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/>
          </a:p>
        </p:txBody>
      </p:sp>
      <p:sp>
        <p:nvSpPr>
          <p:cNvPr id="543" name="Google Shape;543;p58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4" name="Google Shape;544;p58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9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550" name="Google Shape;550;p59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Intrări/ Ieșiri</a:t>
            </a:r>
            <a:endParaRPr lang="en-GB"/>
          </a:p>
        </p:txBody>
      </p:sp>
      <p:sp>
        <p:nvSpPr>
          <p:cNvPr id="551" name="Google Shape;551;p59"/>
          <p:cNvSpPr txBox="1">
            <a:spLocks noGrp="1"/>
          </p:cNvSpPr>
          <p:nvPr>
            <p:ph type="subTitle" idx="1"/>
          </p:nvPr>
        </p:nvSpPr>
        <p:spPr>
          <a:xfrm>
            <a:off x="624450" y="1391425"/>
            <a:ext cx="7895100" cy="25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data_in </a:t>
            </a:r>
            <a:r>
              <a:rPr lang="en-GB" sz="1600"/>
              <a:t>: Date de hash-uit (din X)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nonce_in</a:t>
            </a:r>
            <a:r>
              <a:rPr lang="en-GB" sz="1600"/>
              <a:t> : Nonce inițial (din Y)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target</a:t>
            </a:r>
            <a:r>
              <a:rPr lang="en-GB" sz="1600"/>
              <a:t> : Valoarea țintă (din A)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hash_out</a:t>
            </a:r>
            <a:r>
              <a:rPr lang="en-GB" sz="1600"/>
              <a:t> : Hash rezultat (către A)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-  </a:t>
            </a:r>
            <a:r>
              <a:rPr lang="en-GB" sz="1600" b="1"/>
              <a:t>result_nonce</a:t>
            </a:r>
            <a:r>
              <a:rPr lang="en-GB" sz="1600"/>
              <a:t> : Nonce găsit (către X)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552" name="Google Shape;552;p59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3" name="Google Shape;553;p59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60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60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Setul de instrucțiuni</a:t>
            </a:r>
            <a:endParaRPr lang="en-GB"/>
          </a:p>
        </p:txBody>
      </p:sp>
      <p:sp>
        <p:nvSpPr>
          <p:cNvPr id="560" name="Google Shape;560;p60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1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566" name="Google Shape;566;p61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de Control</a:t>
            </a:r>
            <a:endParaRPr lang="en-GB"/>
          </a:p>
        </p:txBody>
      </p:sp>
      <p:sp>
        <p:nvSpPr>
          <p:cNvPr id="567" name="Google Shape;567;p61"/>
          <p:cNvSpPr txBox="1">
            <a:spLocks noGrp="1"/>
          </p:cNvSpPr>
          <p:nvPr>
            <p:ph type="subTitle" idx="1"/>
          </p:nvPr>
        </p:nvSpPr>
        <p:spPr>
          <a:xfrm>
            <a:off x="624450" y="1391425"/>
            <a:ext cx="7895100" cy="25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568" name="Google Shape;568;p61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Google Shape;569;p61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70" name="Google Shape;570;p6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0000" y="1312043"/>
            <a:ext cx="8424000" cy="2725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2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576" name="Google Shape;576;p62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de Transfer Date</a:t>
            </a:r>
            <a:endParaRPr lang="en-GB"/>
          </a:p>
        </p:txBody>
      </p:sp>
      <p:sp>
        <p:nvSpPr>
          <p:cNvPr id="577" name="Google Shape;577;p62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578" name="Google Shape;578;p62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9" name="Google Shape;579;p62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80" name="Google Shape;580;p6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21638" y="1667625"/>
            <a:ext cx="8500724" cy="22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3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586" name="Google Shape;586;p63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Aritmetice (cu registru)</a:t>
            </a:r>
            <a:endParaRPr lang="en-GB"/>
          </a:p>
        </p:txBody>
      </p:sp>
      <p:sp>
        <p:nvSpPr>
          <p:cNvPr id="587" name="Google Shape;587;p63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588" name="Google Shape;588;p63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9" name="Google Shape;589;p63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707515"/>
            <a:ext cx="8128000" cy="23780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596" name="Google Shape;596;p64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Aritmetice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(cu valoare imediată)</a:t>
            </a:r>
            <a:endParaRPr lang="en-GB"/>
          </a:p>
        </p:txBody>
      </p:sp>
      <p:sp>
        <p:nvSpPr>
          <p:cNvPr id="597" name="Google Shape;597;p64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598" name="Google Shape;598;p64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9" name="Google Shape;599;p64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00" name="Google Shape;600;p6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9999" y="1589575"/>
            <a:ext cx="7704000" cy="2867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5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06" name="Google Shape;606;p65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Logice (cu registru)</a:t>
            </a:r>
            <a:endParaRPr lang="en-GB"/>
          </a:p>
        </p:txBody>
      </p:sp>
      <p:sp>
        <p:nvSpPr>
          <p:cNvPr id="607" name="Google Shape;607;p65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08" name="Google Shape;608;p65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9" name="Google Shape;609;p65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10" name="Google Shape;610;p6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3237" y="1762450"/>
            <a:ext cx="7837525" cy="20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6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16" name="Google Shape;616;p66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1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Logice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(cu valoare imediată)</a:t>
            </a:r>
            <a:endParaRPr lang="en-GB"/>
          </a:p>
        </p:txBody>
      </p:sp>
      <p:sp>
        <p:nvSpPr>
          <p:cNvPr id="617" name="Google Shape;617;p66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18" name="Google Shape;618;p66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9" name="Google Shape;619;p66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20" name="Google Shape;620;p6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2387" y="1698850"/>
            <a:ext cx="7539225" cy="26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7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26" name="Google Shape;626;p67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1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de Rotate/ Shift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(cu registru)</a:t>
            </a:r>
            <a:endParaRPr lang="en-GB"/>
          </a:p>
        </p:txBody>
      </p:sp>
      <p:sp>
        <p:nvSpPr>
          <p:cNvPr id="627" name="Google Shape;627;p67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28" name="Google Shape;628;p67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9" name="Google Shape;629;p67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30" name="Google Shape;630;p6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1700" y="1609975"/>
            <a:ext cx="9040600" cy="19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8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36" name="Google Shape;636;p68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10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de Rotate/ Shift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(cu valoare imediată)</a:t>
            </a:r>
            <a:endParaRPr lang="en-GB"/>
          </a:p>
        </p:txBody>
      </p:sp>
      <p:sp>
        <p:nvSpPr>
          <p:cNvPr id="637" name="Google Shape;637;p68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38" name="Google Shape;638;p68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9" name="Google Shape;639;p68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40" name="Google Shape;640;p6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20389" y="1825000"/>
            <a:ext cx="7903224" cy="2016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9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46" name="Google Shape;646;p69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7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pentru Registre</a:t>
            </a:r>
            <a:endParaRPr lang="en-GB"/>
          </a:p>
        </p:txBody>
      </p:sp>
      <p:sp>
        <p:nvSpPr>
          <p:cNvPr id="647" name="Google Shape;647;p69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48" name="Google Shape;648;p69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9" name="Google Shape;649;p69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50" name="Google Shape;650;p6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879413"/>
            <a:ext cx="8839200" cy="1384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0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56" name="Google Shape;656;p70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7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Speciale</a:t>
            </a:r>
            <a:endParaRPr lang="en-GB"/>
          </a:p>
        </p:txBody>
      </p:sp>
      <p:sp>
        <p:nvSpPr>
          <p:cNvPr id="657" name="Google Shape;657;p70"/>
          <p:cNvSpPr txBox="1">
            <a:spLocks noGrp="1"/>
          </p:cNvSpPr>
          <p:nvPr>
            <p:ph type="subTitle" idx="1"/>
          </p:nvPr>
        </p:nvSpPr>
        <p:spPr>
          <a:xfrm>
            <a:off x="10182800" y="1723325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58" name="Google Shape;658;p70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9" name="Google Shape;659;p70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60" name="Google Shape;660;p7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11259" y="1888050"/>
            <a:ext cx="8721490" cy="11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1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66" name="Google Shape;666;p71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Transfer Direct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între Registre</a:t>
            </a:r>
            <a:endParaRPr lang="en-GB"/>
          </a:p>
        </p:txBody>
      </p:sp>
      <p:sp>
        <p:nvSpPr>
          <p:cNvPr id="667" name="Google Shape;667;p71"/>
          <p:cNvSpPr txBox="1">
            <a:spLocks noGrp="1"/>
          </p:cNvSpPr>
          <p:nvPr>
            <p:ph type="subTitle" idx="1"/>
          </p:nvPr>
        </p:nvSpPr>
        <p:spPr>
          <a:xfrm>
            <a:off x="2647325" y="200475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68" name="Google Shape;668;p71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9" name="Google Shape;669;p71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70" name="Google Shape;670;p7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5037" y="1745750"/>
            <a:ext cx="8413926" cy="22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2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676" name="Google Shape;676;p72"/>
          <p:cNvSpPr txBox="1">
            <a:spLocks noGrp="1"/>
          </p:cNvSpPr>
          <p:nvPr>
            <p:ph type="title"/>
          </p:nvPr>
        </p:nvSpPr>
        <p:spPr>
          <a:xfrm>
            <a:off x="720000" y="367525"/>
            <a:ext cx="77040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Salturi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Condiționate Avansate</a:t>
            </a:r>
            <a:endParaRPr lang="en-GB"/>
          </a:p>
        </p:txBody>
      </p:sp>
      <p:sp>
        <p:nvSpPr>
          <p:cNvPr id="677" name="Google Shape;677;p72"/>
          <p:cNvSpPr txBox="1">
            <a:spLocks noGrp="1"/>
          </p:cNvSpPr>
          <p:nvPr>
            <p:ph type="subTitle" idx="1"/>
          </p:nvPr>
        </p:nvSpPr>
        <p:spPr>
          <a:xfrm>
            <a:off x="9838950" y="1848400"/>
            <a:ext cx="4793400" cy="11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b="1"/>
          </a:p>
        </p:txBody>
      </p:sp>
      <p:sp>
        <p:nvSpPr>
          <p:cNvPr id="678" name="Google Shape;678;p72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9" name="Google Shape;679;p72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0" name="Google Shape;680;p7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653925"/>
            <a:ext cx="8839199" cy="1971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73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73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ALU (Arithmetic Logic Unit)</a:t>
            </a:r>
            <a:endParaRPr lang="en-GB"/>
          </a:p>
        </p:txBody>
      </p:sp>
      <p:sp>
        <p:nvSpPr>
          <p:cNvPr id="687" name="Google Shape;687;p73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4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5.1. </a:t>
            </a:r>
            <a:r>
              <a:rPr lang="en-GB" dirty="0" err="1"/>
              <a:t>Arhitectura</a:t>
            </a:r>
            <a:r>
              <a:rPr lang="en-GB" dirty="0"/>
              <a:t> ALU</a:t>
            </a:r>
            <a:endParaRPr lang="en-GB" dirty="0"/>
          </a:p>
        </p:txBody>
      </p:sp>
      <p:sp>
        <p:nvSpPr>
          <p:cNvPr id="693" name="Google Shape;693;p74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7806" y="1445209"/>
            <a:ext cx="4268388" cy="3649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7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</a:t>
            </a:r>
            <a:r>
              <a:rPr lang="ro-RO" dirty="0"/>
              <a:t>2</a:t>
            </a:r>
            <a:r>
              <a:rPr lang="en-GB" dirty="0"/>
              <a:t>. </a:t>
            </a:r>
            <a:r>
              <a:rPr lang="en-GB" dirty="0" err="1"/>
              <a:t>Componente</a:t>
            </a:r>
            <a:r>
              <a:rPr lang="en-GB" dirty="0"/>
              <a:t> </a:t>
            </a:r>
            <a:r>
              <a:rPr lang="en-GB" dirty="0" err="1"/>
              <a:t>auxiliare</a:t>
            </a:r>
            <a:endParaRPr lang="en-GB" dirty="0"/>
          </a:p>
        </p:txBody>
      </p:sp>
      <p:sp>
        <p:nvSpPr>
          <p:cNvPr id="718" name="Google Shape;718;p77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719" name="Google Shape;719;p77"/>
          <p:cNvSpPr txBox="1"/>
          <p:nvPr/>
        </p:nvSpPr>
        <p:spPr>
          <a:xfrm>
            <a:off x="481650" y="1956199"/>
            <a:ext cx="8180700" cy="2373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Avem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3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componente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auxiliare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 panose="00000500000000000000"/>
              <a:buChar char="-"/>
            </a:pPr>
            <a:r>
              <a:rPr lang="ro-RO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Calculator ZNCO flags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 panose="00000500000000000000"/>
              <a:buChar char="-"/>
            </a:pPr>
            <a:r>
              <a:rPr lang="ro-RO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Translator cod de operație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 panose="00000500000000000000"/>
              <a:buChar char="-"/>
            </a:pPr>
            <a:r>
              <a:rPr lang="ro-RO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Convertor C2</a:t>
            </a:r>
            <a:endParaRPr sz="20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6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5.3. Calculul Flag-urilor</a:t>
            </a:r>
            <a:endParaRPr lang="en-GB"/>
          </a:p>
        </p:txBody>
      </p:sp>
      <p:sp>
        <p:nvSpPr>
          <p:cNvPr id="709" name="Google Shape;709;p76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710" name="Google Shape;710;p76"/>
          <p:cNvSpPr txBox="1"/>
          <p:nvPr/>
        </p:nvSpPr>
        <p:spPr>
          <a:xfrm>
            <a:off x="481650" y="1440250"/>
            <a:ext cx="81807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711" name="Google Shape;711;p7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05551" y="1580627"/>
            <a:ext cx="4247751" cy="26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7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788295" y="2064082"/>
            <a:ext cx="3635700" cy="16996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Ink 3"/>
              <p14:cNvContentPartPr/>
              <p14:nvPr/>
            </p14:nvContentPartPr>
            <p14:xfrm>
              <a:off x="1378527" y="2744335"/>
              <a:ext cx="56160" cy="57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1378527" y="2744335"/>
                <a:ext cx="56160" cy="5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Ink 4"/>
              <p14:cNvContentPartPr/>
              <p14:nvPr/>
            </p14:nvContentPartPr>
            <p14:xfrm>
              <a:off x="1387527" y="2749735"/>
              <a:ext cx="137520" cy="14400"/>
            </p14:xfrm>
          </p:contentPart>
        </mc:Choice>
        <mc:Fallback xmlns="">
          <p:pic>
            <p:nvPicPr>
              <p:cNvPr id="5" name="Ink 4"/>
            </p:nvPicPr>
            <p:blipFill>
              <a:blip r:embed="rId6"/>
            </p:blipFill>
            <p:spPr>
              <a:xfrm>
                <a:off x="1387527" y="2749735"/>
                <a:ext cx="137520" cy="14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Ink 6"/>
              <p14:cNvContentPartPr/>
              <p14:nvPr/>
            </p14:nvContentPartPr>
            <p14:xfrm>
              <a:off x="1354860" y="2723365"/>
              <a:ext cx="167760" cy="61920"/>
            </p14:xfrm>
          </p:contentPart>
        </mc:Choice>
        <mc:Fallback xmlns="">
          <p:pic>
            <p:nvPicPr>
              <p:cNvPr id="7" name="Ink 6"/>
            </p:nvPicPr>
            <p:blipFill>
              <a:blip r:embed="rId8"/>
            </p:blipFill>
            <p:spPr>
              <a:xfrm>
                <a:off x="1354860" y="2723365"/>
                <a:ext cx="167760" cy="61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9" name="Ink 8"/>
              <p14:cNvContentPartPr/>
              <p14:nvPr/>
            </p14:nvContentPartPr>
            <p14:xfrm rot="-309438">
              <a:off x="1488845" y="2749624"/>
              <a:ext cx="98870" cy="23442"/>
            </p14:xfrm>
          </p:contentPart>
        </mc:Choice>
        <mc:Fallback xmlns="">
          <p:pic>
            <p:nvPicPr>
              <p:cNvPr id="9" name="Ink 8"/>
            </p:nvPicPr>
            <p:blipFill>
              <a:blip r:embed="rId10"/>
            </p:blipFill>
            <p:spPr>
              <a:xfrm rot="-309438">
                <a:off x="1488845" y="2749624"/>
                <a:ext cx="98870" cy="2344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1" name="Ink 10"/>
              <p14:cNvContentPartPr/>
              <p14:nvPr/>
            </p14:nvContentPartPr>
            <p14:xfrm rot="93000">
              <a:off x="1557688" y="2746318"/>
              <a:ext cx="173584" cy="19614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12"/>
            </p:blipFill>
            <p:spPr>
              <a:xfrm rot="93000">
                <a:off x="1557688" y="2746318"/>
                <a:ext cx="173584" cy="1961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3" name="Ink 22"/>
              <p14:cNvContentPartPr/>
              <p14:nvPr/>
            </p14:nvContentPartPr>
            <p14:xfrm>
              <a:off x="1782180" y="2738845"/>
              <a:ext cx="93960" cy="23760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14"/>
            </p:blipFill>
            <p:spPr>
              <a:xfrm>
                <a:off x="1782180" y="2738845"/>
                <a:ext cx="93960" cy="23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3" name="Ink 32"/>
              <p14:cNvContentPartPr/>
              <p14:nvPr/>
            </p14:nvContentPartPr>
            <p14:xfrm>
              <a:off x="2053980" y="2765125"/>
              <a:ext cx="23760" cy="5040"/>
            </p14:xfrm>
          </p:contentPart>
        </mc:Choice>
        <mc:Fallback xmlns="">
          <p:pic>
            <p:nvPicPr>
              <p:cNvPr id="33" name="Ink 32"/>
            </p:nvPicPr>
            <p:blipFill>
              <a:blip r:embed="rId16"/>
            </p:blipFill>
            <p:spPr>
              <a:xfrm>
                <a:off x="2053980" y="2765125"/>
                <a:ext cx="23760" cy="5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40" name="Ink 39"/>
              <p14:cNvContentPartPr/>
              <p14:nvPr/>
            </p14:nvContentPartPr>
            <p14:xfrm>
              <a:off x="2091780" y="2750005"/>
              <a:ext cx="56880" cy="6120"/>
            </p14:xfrm>
          </p:contentPart>
        </mc:Choice>
        <mc:Fallback xmlns="">
          <p:pic>
            <p:nvPicPr>
              <p:cNvPr id="40" name="Ink 39"/>
            </p:nvPicPr>
            <p:blipFill>
              <a:blip r:embed="rId18"/>
            </p:blipFill>
            <p:spPr>
              <a:xfrm>
                <a:off x="2091780" y="2750005"/>
                <a:ext cx="56880" cy="6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45" name="Ink 44"/>
              <p14:cNvContentPartPr/>
              <p14:nvPr/>
            </p14:nvContentPartPr>
            <p14:xfrm>
              <a:off x="2155500" y="2733805"/>
              <a:ext cx="6840" cy="31680"/>
            </p14:xfrm>
          </p:contentPart>
        </mc:Choice>
        <mc:Fallback xmlns="">
          <p:pic>
            <p:nvPicPr>
              <p:cNvPr id="45" name="Ink 44"/>
            </p:nvPicPr>
            <p:blipFill>
              <a:blip r:embed="rId20"/>
            </p:blipFill>
            <p:spPr>
              <a:xfrm>
                <a:off x="2155500" y="2733805"/>
                <a:ext cx="6840" cy="31680"/>
              </a:xfrm>
              <a:prstGeom prst="rect"/>
            </p:spPr>
          </p:pic>
        </mc:Fallback>
      </mc:AlternateContent>
      <p:grpSp>
        <p:nvGrpSpPr>
          <p:cNvPr id="48" name="Group 47"/>
          <p:cNvGrpSpPr/>
          <p:nvPr/>
        </p:nvGrpSpPr>
        <p:grpSpPr>
          <a:xfrm>
            <a:off x="1376100" y="2743165"/>
            <a:ext cx="776880" cy="32040"/>
            <a:chOff x="1376100" y="2743165"/>
            <a:chExt cx="776880" cy="3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r:id="rId21" p14:bwMode="auto">
              <p14:nvContentPartPr>
                <p14:cNvPr id="12" name="Ink 11"/>
                <p14:cNvContentPartPr/>
                <p14:nvPr/>
              </p14:nvContentPartPr>
              <p14:xfrm>
                <a:off x="1651140" y="2752525"/>
                <a:ext cx="127080" cy="360"/>
              </p14:xfrm>
            </p:contentPart>
          </mc:Choice>
          <mc:Fallback xmlns="">
            <p:pic>
              <p:nvPicPr>
                <p:cNvPr id="12" name="Ink 11"/>
              </p:nvPicPr>
              <p:blipFill>
                <a:blip r:embed="rId22"/>
              </p:blipFill>
              <p:spPr>
                <a:xfrm>
                  <a:off x="1651140" y="2752525"/>
                  <a:ext cx="12708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3" p14:bwMode="auto">
              <p14:nvContentPartPr>
                <p14:cNvPr id="13" name="Ink 12"/>
                <p14:cNvContentPartPr/>
                <p14:nvPr/>
              </p14:nvContentPartPr>
              <p14:xfrm>
                <a:off x="1536660" y="2755765"/>
                <a:ext cx="69840" cy="10080"/>
              </p14:xfrm>
            </p:contentPart>
          </mc:Choice>
          <mc:Fallback xmlns="">
            <p:pic>
              <p:nvPicPr>
                <p:cNvPr id="13" name="Ink 12"/>
              </p:nvPicPr>
              <p:blipFill>
                <a:blip r:embed="rId24"/>
              </p:blipFill>
              <p:spPr>
                <a:xfrm>
                  <a:off x="1536660" y="2755765"/>
                  <a:ext cx="69840" cy="10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5" p14:bwMode="auto">
              <p14:nvContentPartPr>
                <p14:cNvPr id="14" name="Ink 13"/>
                <p14:cNvContentPartPr/>
                <p14:nvPr/>
              </p14:nvContentPartPr>
              <p14:xfrm>
                <a:off x="1448100" y="2761885"/>
                <a:ext cx="63720" cy="4680"/>
              </p14:xfrm>
            </p:contentPart>
          </mc:Choice>
          <mc:Fallback xmlns="">
            <p:pic>
              <p:nvPicPr>
                <p:cNvPr id="14" name="Ink 13"/>
              </p:nvPicPr>
              <p:blipFill>
                <a:blip r:embed="rId26"/>
              </p:blipFill>
              <p:spPr>
                <a:xfrm>
                  <a:off x="1448100" y="2761885"/>
                  <a:ext cx="63720" cy="46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7" p14:bwMode="auto">
              <p14:nvContentPartPr>
                <p14:cNvPr id="16" name="Ink 15"/>
                <p14:cNvContentPartPr/>
                <p14:nvPr/>
              </p14:nvContentPartPr>
              <p14:xfrm>
                <a:off x="1376100" y="2757565"/>
                <a:ext cx="14760" cy="1440"/>
              </p14:xfrm>
            </p:contentPart>
          </mc:Choice>
          <mc:Fallback xmlns="">
            <p:pic>
              <p:nvPicPr>
                <p:cNvPr id="16" name="Ink 15"/>
              </p:nvPicPr>
              <p:blipFill>
                <a:blip r:embed="rId28"/>
              </p:blipFill>
              <p:spPr>
                <a:xfrm>
                  <a:off x="1376100" y="2757565"/>
                  <a:ext cx="14760" cy="14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9" p14:bwMode="auto">
              <p14:nvContentPartPr>
                <p14:cNvPr id="18" name="Ink 17"/>
                <p14:cNvContentPartPr/>
                <p14:nvPr/>
              </p14:nvContentPartPr>
              <p14:xfrm>
                <a:off x="1505340" y="2746045"/>
                <a:ext cx="91440" cy="360"/>
              </p14:xfrm>
            </p:contentPart>
          </mc:Choice>
          <mc:Fallback xmlns="">
            <p:pic>
              <p:nvPicPr>
                <p:cNvPr id="18" name="Ink 17"/>
              </p:nvPicPr>
              <p:blipFill>
                <a:blip r:embed="rId30"/>
              </p:blipFill>
              <p:spPr>
                <a:xfrm>
                  <a:off x="1505340" y="2746045"/>
                  <a:ext cx="9144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1" p14:bwMode="auto">
              <p14:nvContentPartPr>
                <p14:cNvPr id="24" name="Ink 23"/>
                <p14:cNvContentPartPr/>
                <p14:nvPr/>
              </p14:nvContentPartPr>
              <p14:xfrm>
                <a:off x="1844460" y="2765125"/>
                <a:ext cx="165240" cy="10080"/>
              </p14:xfrm>
            </p:contentPart>
          </mc:Choice>
          <mc:Fallback xmlns="">
            <p:pic>
              <p:nvPicPr>
                <p:cNvPr id="24" name="Ink 23"/>
              </p:nvPicPr>
              <p:blipFill>
                <a:blip r:embed="rId32"/>
              </p:blipFill>
              <p:spPr>
                <a:xfrm>
                  <a:off x="1844460" y="2765125"/>
                  <a:ext cx="165240" cy="10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3" p14:bwMode="auto">
              <p14:nvContentPartPr>
                <p14:cNvPr id="25" name="Ink 24"/>
                <p14:cNvContentPartPr/>
                <p14:nvPr/>
              </p14:nvContentPartPr>
              <p14:xfrm>
                <a:off x="1917540" y="2767645"/>
                <a:ext cx="120600" cy="4680"/>
              </p14:xfrm>
            </p:contentPart>
          </mc:Choice>
          <mc:Fallback xmlns="">
            <p:pic>
              <p:nvPicPr>
                <p:cNvPr id="25" name="Ink 24"/>
              </p:nvPicPr>
              <p:blipFill>
                <a:blip r:embed="rId34"/>
              </p:blipFill>
              <p:spPr>
                <a:xfrm>
                  <a:off x="1917540" y="2767645"/>
                  <a:ext cx="120600" cy="46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5" p14:bwMode="auto">
              <p14:nvContentPartPr>
                <p14:cNvPr id="27" name="Ink 26"/>
                <p14:cNvContentPartPr/>
                <p14:nvPr/>
              </p14:nvContentPartPr>
              <p14:xfrm>
                <a:off x="1924020" y="2762245"/>
                <a:ext cx="360" cy="360"/>
              </p14:xfrm>
            </p:contentPart>
          </mc:Choice>
          <mc:Fallback xmlns="">
            <p:pic>
              <p:nvPicPr>
                <p:cNvPr id="27" name="Ink 26"/>
              </p:nvPicPr>
              <p:blipFill>
                <a:blip r:embed="rId36"/>
              </p:blipFill>
              <p:spPr>
                <a:xfrm>
                  <a:off x="1924020" y="2762245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7" p14:bwMode="auto">
              <p14:nvContentPartPr>
                <p14:cNvPr id="29" name="Ink 28"/>
                <p14:cNvContentPartPr/>
                <p14:nvPr/>
              </p14:nvContentPartPr>
              <p14:xfrm>
                <a:off x="1908900" y="2746045"/>
                <a:ext cx="15480" cy="360"/>
              </p14:xfrm>
            </p:contentPart>
          </mc:Choice>
          <mc:Fallback xmlns="">
            <p:pic>
              <p:nvPicPr>
                <p:cNvPr id="29" name="Ink 28"/>
              </p:nvPicPr>
              <p:blipFill>
                <a:blip r:embed="rId38"/>
              </p:blipFill>
              <p:spPr>
                <a:xfrm>
                  <a:off x="1908900" y="2746045"/>
                  <a:ext cx="1548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9" p14:bwMode="auto">
              <p14:nvContentPartPr>
                <p14:cNvPr id="31" name="Ink 30"/>
                <p14:cNvContentPartPr/>
                <p14:nvPr/>
              </p14:nvContentPartPr>
              <p14:xfrm>
                <a:off x="1686060" y="2743165"/>
                <a:ext cx="168480" cy="19440"/>
              </p14:xfrm>
            </p:contentPart>
          </mc:Choice>
          <mc:Fallback xmlns="">
            <p:pic>
              <p:nvPicPr>
                <p:cNvPr id="31" name="Ink 30"/>
              </p:nvPicPr>
              <p:blipFill>
                <a:blip r:embed="rId40"/>
              </p:blipFill>
              <p:spPr>
                <a:xfrm>
                  <a:off x="1686060" y="2743165"/>
                  <a:ext cx="168480" cy="194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1" p14:bwMode="auto">
              <p14:nvContentPartPr>
                <p14:cNvPr id="42" name="Ink 41"/>
                <p14:cNvContentPartPr/>
                <p14:nvPr/>
              </p14:nvContentPartPr>
              <p14:xfrm>
                <a:off x="2117700" y="2752525"/>
                <a:ext cx="360" cy="360"/>
              </p14:xfrm>
            </p:contentPart>
          </mc:Choice>
          <mc:Fallback xmlns="">
            <p:pic>
              <p:nvPicPr>
                <p:cNvPr id="42" name="Ink 41"/>
              </p:nvPicPr>
              <p:blipFill>
                <a:blip r:embed="rId42"/>
              </p:blipFill>
              <p:spPr>
                <a:xfrm>
                  <a:off x="2117700" y="2752525"/>
                  <a:ext cx="360" cy="3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3" p14:bwMode="auto">
              <p14:nvContentPartPr>
                <p14:cNvPr id="43" name="Ink 42"/>
                <p14:cNvContentPartPr/>
                <p14:nvPr/>
              </p14:nvContentPartPr>
              <p14:xfrm>
                <a:off x="2104740" y="2759005"/>
                <a:ext cx="38160" cy="3600"/>
              </p14:xfrm>
            </p:contentPart>
          </mc:Choice>
          <mc:Fallback xmlns="">
            <p:pic>
              <p:nvPicPr>
                <p:cNvPr id="43" name="Ink 42"/>
              </p:nvPicPr>
              <p:blipFill>
                <a:blip r:embed="rId44"/>
              </p:blipFill>
              <p:spPr>
                <a:xfrm>
                  <a:off x="2104740" y="2759005"/>
                  <a:ext cx="38160" cy="36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5" p14:bwMode="auto">
              <p14:nvContentPartPr>
                <p14:cNvPr id="47" name="Ink 46"/>
                <p14:cNvContentPartPr/>
                <p14:nvPr/>
              </p14:nvContentPartPr>
              <p14:xfrm>
                <a:off x="2151180" y="2751085"/>
                <a:ext cx="1800" cy="23760"/>
              </p14:xfrm>
            </p:contentPart>
          </mc:Choice>
          <mc:Fallback xmlns="">
            <p:pic>
              <p:nvPicPr>
                <p:cNvPr id="47" name="Ink 46"/>
              </p:nvPicPr>
              <p:blipFill>
                <a:blip r:embed="rId46"/>
              </p:blipFill>
              <p:spPr>
                <a:xfrm>
                  <a:off x="2151180" y="2751085"/>
                  <a:ext cx="1800" cy="23760"/>
                </a:xfrm>
                <a:prstGeom prst="rect"/>
              </p:spPr>
            </p:pic>
          </mc:Fallback>
        </mc:AlternateContent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</a:t>
            </a:r>
            <a:r>
              <a:rPr lang="ro-RO" dirty="0"/>
              <a:t>4</a:t>
            </a:r>
            <a:r>
              <a:rPr lang="en-GB" dirty="0"/>
              <a:t>. </a:t>
            </a:r>
            <a:r>
              <a:rPr lang="en-GB" dirty="0" err="1"/>
              <a:t>OpCode</a:t>
            </a:r>
            <a:r>
              <a:rPr lang="en-GB" dirty="0"/>
              <a:t> Translator</a:t>
            </a:r>
            <a:endParaRPr lang="en-GB" dirty="0"/>
          </a:p>
        </p:txBody>
      </p:sp>
      <p:sp>
        <p:nvSpPr>
          <p:cNvPr id="701" name="Google Shape;701;p75"/>
          <p:cNvSpPr txBox="1">
            <a:spLocks noGrp="1"/>
          </p:cNvSpPr>
          <p:nvPr>
            <p:ph type="subTitle" idx="2"/>
          </p:nvPr>
        </p:nvSpPr>
        <p:spPr>
          <a:xfrm>
            <a:off x="2145600" y="1643750"/>
            <a:ext cx="4852800" cy="27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. </a:t>
            </a:r>
            <a:endParaRPr sz="2000"/>
          </a:p>
        </p:txBody>
      </p:sp>
      <p:sp>
        <p:nvSpPr>
          <p:cNvPr id="702" name="Google Shape;702;p75"/>
          <p:cNvSpPr txBox="1"/>
          <p:nvPr/>
        </p:nvSpPr>
        <p:spPr>
          <a:xfrm>
            <a:off x="481650" y="1440250"/>
            <a:ext cx="81807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Convertește opcode-urile externe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(de la CPU) în opcode-uri interne ale ALU: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703" name="Google Shape;703;p7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425050" y="2339625"/>
            <a:ext cx="4293899" cy="25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8"/>
          <p:cNvSpPr txBox="1">
            <a:spLocks noGrp="1"/>
          </p:cNvSpPr>
          <p:nvPr>
            <p:ph type="title"/>
          </p:nvPr>
        </p:nvSpPr>
        <p:spPr>
          <a:xfrm>
            <a:off x="601004" y="596004"/>
            <a:ext cx="79419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5.5. </a:t>
            </a:r>
            <a:r>
              <a:rPr lang="en-GB" dirty="0" err="1"/>
              <a:t>Reprezentarea</a:t>
            </a:r>
            <a:r>
              <a:rPr lang="en-GB" dirty="0"/>
              <a:t> </a:t>
            </a:r>
            <a:r>
              <a:rPr lang="ro-RO" dirty="0"/>
              <a:t>în Complement de 2</a:t>
            </a:r>
            <a:endParaRPr lang="en-GB" dirty="0"/>
          </a:p>
        </p:txBody>
      </p:sp>
      <p:sp>
        <p:nvSpPr>
          <p:cNvPr id="726" name="Google Shape;726;p78"/>
          <p:cNvSpPr txBox="1"/>
          <p:nvPr/>
        </p:nvSpPr>
        <p:spPr>
          <a:xfrm>
            <a:off x="720000" y="1313874"/>
            <a:ext cx="8227800" cy="3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operațiile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aritmetice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folosesc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reprezentarea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complement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față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2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numerele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Interval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16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pozitive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0 la 32767 (0x0000 la 0x7FFF)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negative: -32768 la -1 (0x8000 la 0xFFFF)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Conversie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Pozitiv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→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Negativ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inversare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biți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+ 1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Exemplu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5 = 0x0005 → -5 = 0xFFFB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9"/>
          <p:cNvSpPr txBox="1">
            <a:spLocks noGrp="1"/>
          </p:cNvSpPr>
          <p:nvPr>
            <p:ph type="title"/>
          </p:nvPr>
        </p:nvSpPr>
        <p:spPr>
          <a:xfrm>
            <a:off x="720000" y="4769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5.6. </a:t>
            </a:r>
            <a:r>
              <a:rPr lang="en-GB" dirty="0" err="1"/>
              <a:t>Operații</a:t>
            </a:r>
            <a:r>
              <a:rPr lang="en-GB" dirty="0"/>
              <a:t> de </a:t>
            </a:r>
            <a:r>
              <a:rPr lang="en-GB" dirty="0" err="1"/>
              <a:t>Adunare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Scădere</a:t>
            </a:r>
            <a:endParaRPr lang="en-GB" dirty="0"/>
          </a:p>
        </p:txBody>
      </p:sp>
      <p:sp>
        <p:nvSpPr>
          <p:cNvPr id="732" name="Google Shape;732;p79"/>
          <p:cNvSpPr txBox="1">
            <a:spLocks noGrp="1"/>
          </p:cNvSpPr>
          <p:nvPr>
            <p:ph type="subTitle" idx="2"/>
          </p:nvPr>
        </p:nvSpPr>
        <p:spPr>
          <a:xfrm>
            <a:off x="4617050" y="1796250"/>
            <a:ext cx="4221300" cy="28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/>
              <a:t>Overflow Flag (O):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O = 1 când rezultatul depășește intervalul signed [-32768, 32767]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Calculat: `O = carry_in_to_MSB XOR carry_out_from_MSB`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/>
          </a:p>
        </p:txBody>
      </p:sp>
      <p:sp>
        <p:nvSpPr>
          <p:cNvPr id="733" name="Google Shape;733;p79"/>
          <p:cNvSpPr txBox="1"/>
          <p:nvPr/>
        </p:nvSpPr>
        <p:spPr>
          <a:xfrm>
            <a:off x="305650" y="872219"/>
            <a:ext cx="4569300" cy="39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ADD/ADDI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SUB/SUBI: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Adunare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/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scădere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nativă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complement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față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2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ALU-ul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tratează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valorile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 signed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Carry Flag (C):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 = 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unsigned overflow (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depășire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adunare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 = 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unsigned borrow (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împrumut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scădere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5.7. </a:t>
            </a:r>
            <a:r>
              <a:rPr lang="en-GB" dirty="0" err="1"/>
              <a:t>Înmulțire</a:t>
            </a:r>
            <a:r>
              <a:rPr lang="en-GB" dirty="0"/>
              <a:t> cu </a:t>
            </a:r>
            <a:r>
              <a:rPr lang="en-GB" dirty="0" err="1"/>
              <a:t>Semn</a:t>
            </a:r>
            <a:endParaRPr lang="en-GB" dirty="0"/>
          </a:p>
        </p:txBody>
      </p:sp>
      <p:sp>
        <p:nvSpPr>
          <p:cNvPr id="739" name="Google Shape;739;p80"/>
          <p:cNvSpPr txBox="1">
            <a:spLocks noGrp="1"/>
          </p:cNvSpPr>
          <p:nvPr>
            <p:ph type="subTitle" idx="2"/>
          </p:nvPr>
        </p:nvSpPr>
        <p:spPr>
          <a:xfrm>
            <a:off x="5441375" y="1433100"/>
            <a:ext cx="3433500" cy="3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/>
              <a:t>Overflow Detection:</a:t>
            </a:r>
            <a:endParaRPr sz="18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</a:t>
            </a:r>
            <a:r>
              <a:rPr lang="en-GB" sz="1800" dirty="0" err="1"/>
              <a:t>Registrul</a:t>
            </a:r>
            <a:r>
              <a:rPr lang="en-GB" sz="1800" dirty="0"/>
              <a:t> A (17 </a:t>
            </a:r>
            <a:r>
              <a:rPr lang="en-GB" sz="1800" dirty="0" err="1"/>
              <a:t>biți</a:t>
            </a:r>
            <a:r>
              <a:rPr lang="en-GB" sz="1800" dirty="0"/>
              <a:t> cu carry) </a:t>
            </a:r>
            <a:r>
              <a:rPr lang="en-GB" sz="1800" dirty="0" err="1"/>
              <a:t>capturează</a:t>
            </a:r>
            <a:r>
              <a:rPr lang="en-GB" sz="1800" dirty="0"/>
              <a:t> overflow-ul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C = 1 </a:t>
            </a:r>
            <a:r>
              <a:rPr lang="en-GB" sz="1800" dirty="0" err="1"/>
              <a:t>dacă</a:t>
            </a:r>
            <a:r>
              <a:rPr lang="en-GB" sz="1800" dirty="0"/>
              <a:t> </a:t>
            </a:r>
            <a:r>
              <a:rPr lang="en-GB" sz="1800" dirty="0" err="1"/>
              <a:t>există</a:t>
            </a:r>
            <a:r>
              <a:rPr lang="en-GB" sz="1800" dirty="0"/>
              <a:t> </a:t>
            </a:r>
            <a:r>
              <a:rPr lang="en-GB" sz="1800" dirty="0" err="1"/>
              <a:t>biți</a:t>
            </a:r>
            <a:r>
              <a:rPr lang="en-GB" sz="1800" dirty="0"/>
              <a:t> </a:t>
            </a:r>
            <a:r>
              <a:rPr lang="en-GB" sz="1800" dirty="0" err="1"/>
              <a:t>nenuli</a:t>
            </a:r>
            <a:r>
              <a:rPr lang="en-GB" sz="1800" dirty="0"/>
              <a:t> </a:t>
            </a:r>
            <a:r>
              <a:rPr lang="en-GB" sz="1800" dirty="0" err="1"/>
              <a:t>în</a:t>
            </a:r>
            <a:r>
              <a:rPr lang="en-GB" sz="1800" dirty="0"/>
              <a:t> A[16:15]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O = 1 </a:t>
            </a:r>
            <a:r>
              <a:rPr lang="en-GB" sz="1800" dirty="0" err="1"/>
              <a:t>dacă</a:t>
            </a:r>
            <a:r>
              <a:rPr lang="en-GB" sz="1800" dirty="0"/>
              <a:t> </a:t>
            </a:r>
            <a:r>
              <a:rPr lang="en-GB" sz="1800" dirty="0" err="1"/>
              <a:t>rezultatul</a:t>
            </a:r>
            <a:r>
              <a:rPr lang="en-GB" sz="1800" dirty="0"/>
              <a:t> nu </a:t>
            </a:r>
            <a:r>
              <a:rPr lang="en-GB" sz="1800" dirty="0" err="1"/>
              <a:t>poate</a:t>
            </a:r>
            <a:r>
              <a:rPr lang="en-GB" sz="1800" dirty="0"/>
              <a:t> fi </a:t>
            </a:r>
            <a:r>
              <a:rPr lang="en-GB" sz="1800" dirty="0" err="1"/>
              <a:t>reprezentat</a:t>
            </a:r>
            <a:r>
              <a:rPr lang="en-GB" sz="1800" dirty="0"/>
              <a:t> pe 16 </a:t>
            </a:r>
            <a:r>
              <a:rPr lang="en-GB" sz="1800" dirty="0" err="1"/>
              <a:t>biți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 dirty="0"/>
          </a:p>
        </p:txBody>
      </p:sp>
      <p:sp>
        <p:nvSpPr>
          <p:cNvPr id="740" name="Google Shape;740;p80"/>
          <p:cNvSpPr txBox="1"/>
          <p:nvPr/>
        </p:nvSpPr>
        <p:spPr>
          <a:xfrm>
            <a:off x="269125" y="1290555"/>
            <a:ext cx="5022900" cy="3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Booth's Algorithm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eficient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înmulțire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signed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Reduce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numărul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adunări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necesare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Funcționare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Semnul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rezultatului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= XOR(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semn_A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semn_X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/Y)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Înmulțire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absolute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Aplicare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1"/>
          <p:cNvSpPr txBox="1">
            <a:spLocks noGrp="1"/>
          </p:cNvSpPr>
          <p:nvPr>
            <p:ph type="title"/>
          </p:nvPr>
        </p:nvSpPr>
        <p:spPr>
          <a:xfrm>
            <a:off x="720000" y="289375"/>
            <a:ext cx="7704000" cy="12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A2F40"/>
                </a:solidFill>
              </a:rPr>
              <a:t>5.8. </a:t>
            </a:r>
            <a:r>
              <a:rPr lang="en-GB" dirty="0" err="1">
                <a:solidFill>
                  <a:srgbClr val="0A2F40"/>
                </a:solidFill>
              </a:rPr>
              <a:t>Împărțire</a:t>
            </a:r>
            <a:r>
              <a:rPr lang="en-GB" dirty="0">
                <a:solidFill>
                  <a:srgbClr val="0A2F40"/>
                </a:solidFill>
              </a:rPr>
              <a:t> </a:t>
            </a:r>
            <a:r>
              <a:rPr lang="en-GB" dirty="0" err="1">
                <a:solidFill>
                  <a:srgbClr val="0A2F40"/>
                </a:solidFill>
              </a:rPr>
              <a:t>și</a:t>
            </a:r>
            <a:r>
              <a:rPr lang="en-GB" dirty="0">
                <a:solidFill>
                  <a:srgbClr val="0A2F40"/>
                </a:solidFill>
              </a:rPr>
              <a:t> Modulo cu </a:t>
            </a:r>
            <a:r>
              <a:rPr lang="en-GB" dirty="0" err="1">
                <a:solidFill>
                  <a:srgbClr val="0A2F40"/>
                </a:solidFill>
              </a:rPr>
              <a:t>Semn</a:t>
            </a:r>
            <a:r>
              <a:rPr lang="en-GB" dirty="0">
                <a:solidFill>
                  <a:srgbClr val="0A2F40"/>
                </a:solidFill>
              </a:rPr>
              <a:t> (DIV/DIVI, MOD/MODI)</a:t>
            </a:r>
            <a:endParaRPr dirty="0">
              <a:solidFill>
                <a:srgbClr val="0A2F4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0" dirty="0">
                <a:solidFill>
                  <a:srgbClr val="000000"/>
                </a:solidFill>
              </a:rPr>
              <a:t> </a:t>
            </a:r>
            <a:endParaRPr b="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b="0" dirty="0">
              <a:solidFill>
                <a:srgbClr val="000000"/>
              </a:solidFill>
            </a:endParaRPr>
          </a:p>
        </p:txBody>
      </p:sp>
      <p:sp>
        <p:nvSpPr>
          <p:cNvPr id="746" name="Google Shape;746;p81"/>
          <p:cNvSpPr txBox="1">
            <a:spLocks noGrp="1"/>
          </p:cNvSpPr>
          <p:nvPr>
            <p:ph type="subTitle" idx="2"/>
          </p:nvPr>
        </p:nvSpPr>
        <p:spPr>
          <a:xfrm>
            <a:off x="9990800" y="2449275"/>
            <a:ext cx="3433500" cy="22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/>
              <a:t>Overflow Detection: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Registrul A (17 biți cu carry) capturează overflow-ul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C = 1 dacă există biți nenuli în A[16:15]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/>
              <a:t>- O = 1 dacă rezultatul nu poate fi reprezentat pe 16 biți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/>
          </a:p>
        </p:txBody>
      </p:sp>
      <p:sp>
        <p:nvSpPr>
          <p:cNvPr id="747" name="Google Shape;747;p81"/>
          <p:cNvSpPr txBox="1"/>
          <p:nvPr/>
        </p:nvSpPr>
        <p:spPr>
          <a:xfrm>
            <a:off x="178950" y="1558075"/>
            <a:ext cx="87861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SRT4 (Signed Radix-4) Division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Implementat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nivel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FSM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Control Unit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Divizor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radix-4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eficiență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Pipeline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împărțire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D_PRE1, D_PRE2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(2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cicluri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Extragere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conversie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absolute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D0-D10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(11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cicluri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SRT4 pe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valori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unsigned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D_POST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(1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ciclu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):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Aplicare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2"/>
          <p:cNvSpPr txBox="1">
            <a:spLocks noGrp="1"/>
          </p:cNvSpPr>
          <p:nvPr>
            <p:ph type="title"/>
          </p:nvPr>
        </p:nvSpPr>
        <p:spPr>
          <a:xfrm>
            <a:off x="720000" y="695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5.9. Flag Updates Summary</a:t>
            </a:r>
            <a:endParaRPr lang="en-GB"/>
          </a:p>
        </p:txBody>
      </p:sp>
      <p:sp>
        <p:nvSpPr>
          <p:cNvPr id="753" name="Google Shape;753;p82"/>
          <p:cNvSpPr txBox="1">
            <a:spLocks noGrp="1"/>
          </p:cNvSpPr>
          <p:nvPr>
            <p:ph type="subTitle" idx="2"/>
          </p:nvPr>
        </p:nvSpPr>
        <p:spPr>
          <a:xfrm>
            <a:off x="4182696" y="1414800"/>
            <a:ext cx="4692409" cy="3136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/>
              <a:t>Operații</a:t>
            </a:r>
            <a:r>
              <a:rPr lang="en-GB" sz="1800" b="1" dirty="0"/>
              <a:t> care </a:t>
            </a:r>
            <a:r>
              <a:rPr lang="en-GB" sz="1800" b="1" dirty="0" err="1"/>
              <a:t>actualizează</a:t>
            </a:r>
            <a:r>
              <a:rPr lang="en-GB" sz="1800" b="1" dirty="0"/>
              <a:t> </a:t>
            </a:r>
            <a:r>
              <a:rPr lang="en-GB" sz="1800" b="1" dirty="0" err="1"/>
              <a:t>doar</a:t>
            </a:r>
            <a:r>
              <a:rPr lang="en-GB" sz="1800" b="1" dirty="0"/>
              <a:t> Z </a:t>
            </a:r>
            <a:r>
              <a:rPr lang="en-GB" sz="1800" b="1" dirty="0" err="1"/>
              <a:t>și</a:t>
            </a:r>
            <a:r>
              <a:rPr lang="en-GB" sz="1800" b="1" dirty="0"/>
              <a:t> N:</a:t>
            </a:r>
            <a:endParaRPr sz="18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dirty="0"/>
              <a:t>- INC, DEC</a:t>
            </a:r>
            <a:endParaRPr sz="1800" dirty="0"/>
          </a:p>
          <a:p>
            <a:pPr marL="0" lvl="0" indent="0">
              <a:lnSpc>
                <a:spcPct val="115000"/>
              </a:lnSpc>
              <a:spcBef>
                <a:spcPts val="1200"/>
              </a:spcBef>
            </a:pPr>
            <a:r>
              <a:rPr lang="en-GB" sz="1800" dirty="0"/>
              <a:t>- MOV (indirect, </a:t>
            </a:r>
            <a:r>
              <a:rPr lang="en-GB" sz="1800" dirty="0" err="1"/>
              <a:t>prin</a:t>
            </a:r>
            <a:r>
              <a:rPr lang="en-GB" sz="1800" dirty="0"/>
              <a:t> </a:t>
            </a:r>
            <a:r>
              <a:rPr lang="en-GB" sz="1800" dirty="0" err="1"/>
              <a:t>valoarea</a:t>
            </a:r>
            <a:r>
              <a:rPr lang="en-GB" sz="1800" dirty="0"/>
              <a:t> </a:t>
            </a:r>
            <a:r>
              <a:rPr lang="en-GB" sz="1800" dirty="0" err="1"/>
              <a:t>mutată</a:t>
            </a:r>
            <a:r>
              <a:rPr lang="en-GB" sz="1800" dirty="0"/>
              <a:t>)</a:t>
            </a:r>
            <a:endParaRPr lang="ro-RO" sz="1800" dirty="0"/>
          </a:p>
          <a:p>
            <a:pPr marL="0" lvl="0" indent="0">
              <a:lnSpc>
                <a:spcPct val="115000"/>
              </a:lnSpc>
              <a:spcBef>
                <a:spcPts val="1200"/>
              </a:spcBef>
            </a:pPr>
            <a:r>
              <a:rPr lang="ro-RO" sz="1800" dirty="0"/>
              <a:t>- AND, OR, XOR, NOT (+versiuni imediate)</a:t>
            </a:r>
            <a:endParaRPr lang="ro-RO" sz="1800" dirty="0"/>
          </a:p>
          <a:p>
            <a:pPr marL="0" lvl="0" indent="0">
              <a:lnSpc>
                <a:spcPct val="115000"/>
              </a:lnSpc>
              <a:spcBef>
                <a:spcPts val="1200"/>
              </a:spcBef>
            </a:pPr>
            <a:r>
              <a:rPr lang="ro-RO" sz="1800" dirty="0"/>
              <a:t>- LSL, LSR, RSL, RSR (+versiuni imediate)</a:t>
            </a:r>
            <a:endParaRPr lang="ro-RO"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800" b="1" dirty="0"/>
          </a:p>
        </p:txBody>
      </p:sp>
      <p:sp>
        <p:nvSpPr>
          <p:cNvPr id="754" name="Google Shape;754;p82"/>
          <p:cNvSpPr txBox="1"/>
          <p:nvPr/>
        </p:nvSpPr>
        <p:spPr>
          <a:xfrm>
            <a:off x="206550" y="1414800"/>
            <a:ext cx="3976146" cy="3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actualizează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toate</a:t>
            </a:r>
            <a:r>
              <a:rPr lang="en-GB" sz="18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flag-urile (Z, N, C, O):</a:t>
            </a: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ADD, SUB, MUL, DIV, MOD (+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versiuni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imediate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lang="ro-RO"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Tx/>
              <a:buChar char="-"/>
            </a:pP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 CMP, TST (+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versiuni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imediate</a:t>
            </a:r>
            <a:r>
              <a:rPr lang="en-GB" sz="18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)</a:t>
            </a:r>
            <a:endParaRPr sz="18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83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83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Modulul de mining</a:t>
            </a:r>
            <a:endParaRPr lang="en-GB"/>
          </a:p>
        </p:txBody>
      </p:sp>
      <p:sp>
        <p:nvSpPr>
          <p:cNvPr id="761" name="Google Shape;761;p83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 lang="en-GB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4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6.1. Descriere generală</a:t>
            </a:r>
            <a:endParaRPr lang="en-GB"/>
          </a:p>
        </p:txBody>
      </p:sp>
      <p:sp>
        <p:nvSpPr>
          <p:cNvPr id="767" name="Google Shape;767;p84"/>
          <p:cNvSpPr txBox="1">
            <a:spLocks noGrp="1"/>
          </p:cNvSpPr>
          <p:nvPr>
            <p:ph type="subTitle" idx="2"/>
          </p:nvPr>
        </p:nvSpPr>
        <p:spPr>
          <a:xfrm>
            <a:off x="720000" y="2996475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GB" sz="2000"/>
              <a:t>Acest modul funcționează sincron, pe baza unui semnal de ceas, și este controlat printr-o mașină de stări finite (FSM), care coordonează etapele procesului de hashing: inițializare, calcul, verificare și finalizare.</a:t>
            </a:r>
            <a:endParaRPr sz="2000"/>
          </a:p>
        </p:txBody>
      </p:sp>
      <p:sp>
        <p:nvSpPr>
          <p:cNvPr id="768" name="Google Shape;768;p84"/>
          <p:cNvSpPr txBox="1"/>
          <p:nvPr/>
        </p:nvSpPr>
        <p:spPr>
          <a:xfrm>
            <a:off x="720000" y="1596600"/>
            <a:ext cx="82278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 mining_core implementează un nucleu de calcul hardware, inspirat din structura algoritmului SHA-256, dar simplificat și adaptat pentru lățimea de date de 16 biți.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5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6.2. Rolul modulului</a:t>
            </a:r>
            <a:endParaRPr lang="en-GB"/>
          </a:p>
        </p:txBody>
      </p:sp>
      <p:sp>
        <p:nvSpPr>
          <p:cNvPr id="774" name="Google Shape;774;p85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775" name="Google Shape;775;p85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Rolurile principale ale modulului sunt: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generarea valorilor de tip </a:t>
            </a:r>
            <a:r>
              <a:rPr lang="en-GB" sz="2000" i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nonce</a:t>
            </a: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calcularea unui hash pentru fiecare nonce;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compararea hash-ului obținut cu o valoare țintă;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semnalizarea găsirii unei soluții valide.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6"/>
          <p:cNvSpPr txBox="1">
            <a:spLocks noGrp="1"/>
          </p:cNvSpPr>
          <p:nvPr>
            <p:ph type="title"/>
          </p:nvPr>
        </p:nvSpPr>
        <p:spPr>
          <a:xfrm>
            <a:off x="720000" y="6275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6.3. Interfața modulului</a:t>
            </a:r>
            <a:endParaRPr lang="en-GB"/>
          </a:p>
        </p:txBody>
      </p:sp>
      <p:sp>
        <p:nvSpPr>
          <p:cNvPr id="781" name="Google Shape;781;p86"/>
          <p:cNvSpPr txBox="1">
            <a:spLocks noGrp="1"/>
          </p:cNvSpPr>
          <p:nvPr>
            <p:ph type="subTitle" idx="2"/>
          </p:nvPr>
        </p:nvSpPr>
        <p:spPr>
          <a:xfrm>
            <a:off x="5688800" y="1331075"/>
            <a:ext cx="3455100" cy="36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600" b="1" dirty="0" err="1"/>
              <a:t>Semnale</a:t>
            </a:r>
            <a:r>
              <a:rPr lang="en-GB" sz="1600" b="1" dirty="0"/>
              <a:t> de </a:t>
            </a:r>
            <a:r>
              <a:rPr lang="en-GB" sz="1600" b="1" dirty="0" err="1"/>
              <a:t>ieșire</a:t>
            </a:r>
            <a:endParaRPr sz="1600" b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· </a:t>
            </a:r>
            <a:r>
              <a:rPr lang="en-GB" sz="1600" b="1" dirty="0" err="1"/>
              <a:t>hash_out</a:t>
            </a:r>
            <a:r>
              <a:rPr lang="en-GB" sz="1600" b="1" dirty="0"/>
              <a:t> [15:0]</a:t>
            </a:r>
            <a:r>
              <a:rPr lang="en-GB" sz="1600" dirty="0"/>
              <a:t> – </a:t>
            </a:r>
            <a:r>
              <a:rPr lang="en-GB" sz="1600" dirty="0" err="1"/>
              <a:t>rezultatul</a:t>
            </a:r>
            <a:r>
              <a:rPr lang="en-GB" sz="1600" dirty="0"/>
              <a:t> </a:t>
            </a:r>
            <a:r>
              <a:rPr lang="en-GB" sz="1600" dirty="0" err="1"/>
              <a:t>procesului</a:t>
            </a:r>
            <a:r>
              <a:rPr lang="en-GB" sz="1600" dirty="0"/>
              <a:t> de hashing;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· </a:t>
            </a:r>
            <a:r>
              <a:rPr lang="en-GB" sz="1600" b="1" dirty="0" err="1"/>
              <a:t>result_nonce</a:t>
            </a:r>
            <a:r>
              <a:rPr lang="en-GB" sz="1600" b="1" dirty="0"/>
              <a:t> [15:0]</a:t>
            </a:r>
            <a:r>
              <a:rPr lang="en-GB" sz="1600" dirty="0"/>
              <a:t> – nonce-ul care a </a:t>
            </a:r>
            <a:r>
              <a:rPr lang="en-GB" sz="1600" dirty="0" err="1"/>
              <a:t>generat</a:t>
            </a:r>
            <a:r>
              <a:rPr lang="en-GB" sz="1600" dirty="0"/>
              <a:t> un hash valid;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/>
              <a:t>· </a:t>
            </a:r>
            <a:r>
              <a:rPr lang="en-GB" sz="1600" b="1" dirty="0"/>
              <a:t>done</a:t>
            </a:r>
            <a:r>
              <a:rPr lang="en-GB" sz="1600" dirty="0"/>
              <a:t> – </a:t>
            </a:r>
            <a:r>
              <a:rPr lang="en-GB" sz="1600" dirty="0" err="1"/>
              <a:t>semnal</a:t>
            </a:r>
            <a:r>
              <a:rPr lang="en-GB" sz="1600" dirty="0"/>
              <a:t> care </a:t>
            </a:r>
            <a:r>
              <a:rPr lang="en-GB" sz="1600" dirty="0" err="1"/>
              <a:t>indică</a:t>
            </a:r>
            <a:r>
              <a:rPr lang="en-GB" sz="1600" dirty="0"/>
              <a:t> </a:t>
            </a:r>
            <a:r>
              <a:rPr lang="en-GB" sz="1600" dirty="0" err="1"/>
              <a:t>finalizarea</a:t>
            </a:r>
            <a:r>
              <a:rPr lang="en-GB" sz="1600" dirty="0"/>
              <a:t> </a:t>
            </a:r>
            <a:r>
              <a:rPr lang="en-GB" sz="1600" dirty="0" err="1"/>
              <a:t>procesului</a:t>
            </a:r>
            <a:r>
              <a:rPr lang="en-GB" sz="1600" dirty="0"/>
              <a:t> de mining.</a:t>
            </a:r>
            <a:endParaRPr sz="1600" dirty="0"/>
          </a:p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1600" b="1" dirty="0"/>
          </a:p>
        </p:txBody>
      </p:sp>
      <p:sp>
        <p:nvSpPr>
          <p:cNvPr id="782" name="Google Shape;782;p86"/>
          <p:cNvSpPr txBox="1"/>
          <p:nvPr/>
        </p:nvSpPr>
        <p:spPr>
          <a:xfrm>
            <a:off x="157100" y="913915"/>
            <a:ext cx="5531700" cy="3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Semnale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intrare</a:t>
            </a:r>
            <a:endParaRPr sz="15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clk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ceas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utilizat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sincronizarea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operațiilor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reset 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reset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asincron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activ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nivel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logic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scăzut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start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pornire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mining;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data_in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[15:0]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datele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intrare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supuse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hashing;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nonce_in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[15:0]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inițială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nonce-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;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</a:t>
            </a:r>
            <a:r>
              <a:rPr lang="en-GB" sz="15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target [15:0]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țintă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utilizată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validarea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hash-</a:t>
            </a:r>
            <a:r>
              <a:rPr lang="en-GB" sz="15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ului</a:t>
            </a:r>
            <a:r>
              <a:rPr lang="en-GB" sz="15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sz="15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5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7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6.4. Diagrama Hardware</a:t>
            </a:r>
            <a:endParaRPr lang="en-GB"/>
          </a:p>
        </p:txBody>
      </p:sp>
      <p:sp>
        <p:nvSpPr>
          <p:cNvPr id="788" name="Google Shape;788;p87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789" name="Google Shape;789;p87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790" name="Google Shape;790;p8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20000" y="1596600"/>
            <a:ext cx="7703999" cy="3188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8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6.5. Procesul de Hashing</a:t>
            </a:r>
            <a:endParaRPr lang="en-GB"/>
          </a:p>
        </p:txBody>
      </p:sp>
      <p:sp>
        <p:nvSpPr>
          <p:cNvPr id="796" name="Google Shape;796;p88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797" name="Google Shape;797;p88"/>
          <p:cNvSpPr txBox="1"/>
          <p:nvPr/>
        </p:nvSpPr>
        <p:spPr>
          <a:xfrm>
            <a:off x="458100" y="1706025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Inițializarea procesului de hashing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starea INIT, modulele interne sunt inițializate cu valori constante predefinite, similare vectorilor inițiali utilizați în algoritmul SHA-256. Registrele de lucru a–h sunt încărcate cu constantele H0–H7, iar contorul de runde este resetat.</a:t>
            </a: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9"/>
          <p:cNvSpPr txBox="1">
            <a:spLocks noGrp="1"/>
          </p:cNvSpPr>
          <p:nvPr>
            <p:ph type="title"/>
          </p:nvPr>
        </p:nvSpPr>
        <p:spPr>
          <a:xfrm>
            <a:off x="97094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3" name="Google Shape;803;p89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04" name="Google Shape;804;p89"/>
          <p:cNvSpPr txBox="1"/>
          <p:nvPr/>
        </p:nvSpPr>
        <p:spPr>
          <a:xfrm>
            <a:off x="458100" y="736725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Calculul hash-ului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starea COMPUTE, modulul execută </a:t>
            </a: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16 runde de calcul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fiecare rundă actualizând registrele interne conform următoarei logici: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se calculează valorile intermediare T1 și T2 folosind funcții logice specifice (rotații, operații AND, XOR);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registrele a–h sunt actualizate în mod secvențial, simulând funcționarea unei structuri de hashing de tip SHA.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La finalul ultimei runde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rezultatul hash-ului este calculat și stocat în semnalul hash_out, utilizând o combinație a valorilor intermediare obținute.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0"/>
          <p:cNvSpPr txBox="1">
            <a:spLocks noGrp="1"/>
          </p:cNvSpPr>
          <p:nvPr>
            <p:ph type="title"/>
          </p:nvPr>
        </p:nvSpPr>
        <p:spPr>
          <a:xfrm>
            <a:off x="97094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0" name="Google Shape;810;p90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11" name="Google Shape;811;p90"/>
          <p:cNvSpPr txBox="1"/>
          <p:nvPr/>
        </p:nvSpPr>
        <p:spPr>
          <a:xfrm>
            <a:off x="458100" y="736725"/>
            <a:ext cx="8227800" cy="4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Verificarea rezultatului</a:t>
            </a: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 </a:t>
            </a: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starea CHECK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hash-ul calculat este comparat cu valoarea țintă (target):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dacă hash_out &lt; target, procesul este considerat reușit, iar nonce-ul curent este salvat în result_nonce;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· dacă rezultatul nu este valid, nonce-ul este incrementat și procesul de hashing este reluat.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Această etapă reflectă principiul de bază al procesului de mining, în care </a:t>
            </a:r>
            <a:r>
              <a:rPr lang="en-GB" sz="19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 testează succesiv diferite valori </a:t>
            </a:r>
            <a:r>
              <a:rPr lang="en-GB" sz="19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ale nonce-ului până la găsirea unei soluții valide.</a:t>
            </a: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9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1"/>
          <p:cNvSpPr txBox="1">
            <a:spLocks noGrp="1"/>
          </p:cNvSpPr>
          <p:nvPr>
            <p:ph type="title"/>
          </p:nvPr>
        </p:nvSpPr>
        <p:spPr>
          <a:xfrm>
            <a:off x="97094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7" name="Google Shape;817;p91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18" name="Google Shape;818;p91"/>
          <p:cNvSpPr txBox="1"/>
          <p:nvPr/>
        </p:nvSpPr>
        <p:spPr>
          <a:xfrm>
            <a:off x="458100" y="494675"/>
            <a:ext cx="8227800" cy="19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Finalizarea</a:t>
            </a:r>
            <a:r>
              <a:rPr lang="en-GB" sz="20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DONE_STATE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semnalizează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finalizarea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procesului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prin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activarea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semnalului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done.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rămâne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această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stare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până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dezactivarea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semnalului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start, moment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care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revine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IDLE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fiind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pregătit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nouă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execuție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19" name="Google Shape;819;p91"/>
          <p:cNvSpPr txBox="1"/>
          <p:nvPr/>
        </p:nvSpPr>
        <p:spPr>
          <a:xfrm>
            <a:off x="505200" y="2410475"/>
            <a:ext cx="8133600" cy="22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Concluzie</a:t>
            </a:r>
            <a:endParaRPr sz="20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Modulul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mining_core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reprezintă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implementare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structurată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hashing de tip mining,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demonstrând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utilizarea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registrelor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interne, 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funcțiilor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logice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complexe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unei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mașini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stări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finite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coordonarea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unui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9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iterativ</a:t>
            </a:r>
            <a:r>
              <a:rPr lang="en-GB" sz="19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 </a:t>
            </a: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9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92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92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Structura proiectului</a:t>
            </a:r>
            <a:endParaRPr lang="en-GB"/>
          </a:p>
        </p:txBody>
      </p:sp>
      <p:sp>
        <p:nvSpPr>
          <p:cNvPr id="826" name="Google Shape;826;p92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07</a:t>
            </a:r>
            <a:endParaRPr lang="en-GB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7.1. Organizare Directoare</a:t>
            </a:r>
            <a:endParaRPr lang="en-GB"/>
          </a:p>
        </p:txBody>
      </p:sp>
      <p:sp>
        <p:nvSpPr>
          <p:cNvPr id="832" name="Google Shape;832;p93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33" name="Google Shape;833;p93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34" name="Google Shape;834;p9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5950" y="1531950"/>
            <a:ext cx="4675525" cy="31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9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24725" y="1302650"/>
            <a:ext cx="3835870" cy="36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7.2. Fișiere Verilog Principale</a:t>
            </a:r>
            <a:endParaRPr lang="en-GB"/>
          </a:p>
        </p:txBody>
      </p:sp>
      <p:sp>
        <p:nvSpPr>
          <p:cNvPr id="841" name="Google Shape;841;p94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42" name="Google Shape;842;p94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43" name="Google Shape;843;p9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77475" y="1596600"/>
            <a:ext cx="30480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9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7475" y="3524125"/>
            <a:ext cx="3536396" cy="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9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045026" y="1596600"/>
            <a:ext cx="2954631" cy="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9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045025" y="3335948"/>
            <a:ext cx="2199691" cy="7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05" y="2363470"/>
            <a:ext cx="5062220" cy="9956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9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7.3. Toolchain Files</a:t>
            </a:r>
            <a:endParaRPr lang="en-GB"/>
          </a:p>
        </p:txBody>
      </p:sp>
      <p:sp>
        <p:nvSpPr>
          <p:cNvPr id="853" name="Google Shape;853;p95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54" name="Google Shape;854;p95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55" name="Google Shape;855;p9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20000" y="1596600"/>
            <a:ext cx="34099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9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964301" y="2843150"/>
            <a:ext cx="3272475" cy="11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7.4. Build și Test Files</a:t>
            </a:r>
            <a:endParaRPr lang="en-GB"/>
          </a:p>
        </p:txBody>
      </p:sp>
      <p:sp>
        <p:nvSpPr>
          <p:cNvPr id="862" name="Google Shape;862;p96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63" name="Google Shape;863;p96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65" name="Google Shape;865;p9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20000" y="3374700"/>
            <a:ext cx="38290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9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27100" y="2447262"/>
            <a:ext cx="3381375" cy="90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1203325"/>
            <a:ext cx="3556000" cy="200342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7.5. Test Files</a:t>
            </a:r>
            <a:endParaRPr lang="en-GB"/>
          </a:p>
        </p:txBody>
      </p:sp>
      <p:sp>
        <p:nvSpPr>
          <p:cNvPr id="872" name="Google Shape;872;p97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73" name="Google Shape;873;p97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74" name="Google Shape;874;p9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20002" y="3040890"/>
            <a:ext cx="3099850" cy="12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97"/>
          <p:cNvPicPr preferRelativeResize="0"/>
          <p:nvPr/>
        </p:nvPicPr>
        <p:blipFill rotWithShape="1">
          <a:blip r:embed="rId2"/>
          <a:srcRect t="129" b="129"/>
          <a:stretch>
            <a:fillRect/>
          </a:stretch>
        </p:blipFill>
        <p:spPr>
          <a:xfrm rot="-5400000">
            <a:off x="6657477" y="1448225"/>
            <a:ext cx="2822550" cy="215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9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0000" y="1501338"/>
            <a:ext cx="379095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9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7.6. Documentation Files</a:t>
            </a:r>
            <a:endParaRPr lang="en-GB"/>
          </a:p>
        </p:txBody>
      </p:sp>
      <p:sp>
        <p:nvSpPr>
          <p:cNvPr id="882" name="Google Shape;882;p98"/>
          <p:cNvSpPr txBox="1">
            <a:spLocks noGrp="1"/>
          </p:cNvSpPr>
          <p:nvPr>
            <p:ph type="subTitle" idx="2"/>
          </p:nvPr>
        </p:nvSpPr>
        <p:spPr>
          <a:xfrm>
            <a:off x="9334200" y="291830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 b="1"/>
          </a:p>
        </p:txBody>
      </p:sp>
      <p:sp>
        <p:nvSpPr>
          <p:cNvPr id="883" name="Google Shape;883;p98"/>
          <p:cNvSpPr txBox="1"/>
          <p:nvPr/>
        </p:nvSpPr>
        <p:spPr>
          <a:xfrm>
            <a:off x="720000" y="1596600"/>
            <a:ext cx="8227800" cy="26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884" name="Google Shape;884;p9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20000" y="1821750"/>
            <a:ext cx="3865900" cy="8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9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19232" y="2403150"/>
            <a:ext cx="2773649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9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19988" y="3079500"/>
            <a:ext cx="368617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99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99"/>
          <p:cNvSpPr txBox="1">
            <a:spLocks noGrp="1"/>
          </p:cNvSpPr>
          <p:nvPr>
            <p:ph type="title"/>
          </p:nvPr>
        </p:nvSpPr>
        <p:spPr>
          <a:xfrm>
            <a:off x="965550" y="2879075"/>
            <a:ext cx="72129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</a:t>
            </a:r>
            <a:endParaRPr lang="en-GB"/>
          </a:p>
        </p:txBody>
      </p:sp>
      <p:sp>
        <p:nvSpPr>
          <p:cNvPr id="893" name="Google Shape;893;p99"/>
          <p:cNvSpPr txBox="1">
            <a:spLocks noGrp="1"/>
          </p:cNvSpPr>
          <p:nvPr>
            <p:ph type="title" idx="2"/>
          </p:nvPr>
        </p:nvSpPr>
        <p:spPr>
          <a:xfrm>
            <a:off x="3868500" y="1781675"/>
            <a:ext cx="1407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08</a:t>
            </a:r>
            <a:endParaRPr lang="en-GB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00"/>
          <p:cNvSpPr txBox="1">
            <a:spLocks noGrp="1"/>
          </p:cNvSpPr>
          <p:nvPr>
            <p:ph type="title"/>
          </p:nvPr>
        </p:nvSpPr>
        <p:spPr>
          <a:xfrm>
            <a:off x="720000" y="7583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</a:t>
            </a:r>
            <a:endParaRPr lang="en-GB"/>
          </a:p>
        </p:txBody>
      </p:sp>
      <p:sp>
        <p:nvSpPr>
          <p:cNvPr id="899" name="Google Shape;899;p100"/>
          <p:cNvSpPr txBox="1">
            <a:spLocks noGrp="1"/>
          </p:cNvSpPr>
          <p:nvPr>
            <p:ph type="subTitle" idx="2"/>
          </p:nvPr>
        </p:nvSpPr>
        <p:spPr>
          <a:xfrm>
            <a:off x="9427975" y="396575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/>
          </a:p>
        </p:txBody>
      </p:sp>
      <p:sp>
        <p:nvSpPr>
          <p:cNvPr id="900" name="Google Shape;900;p100"/>
          <p:cNvSpPr txBox="1"/>
          <p:nvPr/>
        </p:nvSpPr>
        <p:spPr>
          <a:xfrm>
            <a:off x="458100" y="1659050"/>
            <a:ext cx="8227800" cy="23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Proiectul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demonstrează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implementarea completă și funcțională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unui procesor educațional pe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16 biți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cu capabilități de extindere și un accelerator hardware specializat pentru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mining criptografic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 În versiunea 2.0, procesorul implementează </a:t>
            </a:r>
            <a:r>
              <a:rPr lang="ro-RO" alt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54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instrucțiuni complete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 29 operații de bază, 9 extensii îmbunătățite (JMP, NOP, PUSH X/Y, POP X/Y, MOVR cu 6 variante, BGT, BLT, BGE, BLE) și instrucțiunea specializată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MINE 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 </a:t>
            </a:r>
            <a:r>
              <a:rPr lang="en-GB" sz="1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accelerare hardware</a:t>
            </a:r>
            <a:r>
              <a:rPr lang="en-GB" sz="1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01"/>
          <p:cNvSpPr txBox="1">
            <a:spLocks noGrp="1"/>
          </p:cNvSpPr>
          <p:nvPr>
            <p:ph type="subTitle" idx="4"/>
          </p:nvPr>
        </p:nvSpPr>
        <p:spPr>
          <a:xfrm>
            <a:off x="-2486500" y="2223024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GOAL</a:t>
            </a:r>
            <a:endParaRPr lang="en-GB"/>
          </a:p>
        </p:txBody>
      </p:sp>
      <p:sp>
        <p:nvSpPr>
          <p:cNvPr id="906" name="Google Shape;906;p101"/>
          <p:cNvSpPr txBox="1">
            <a:spLocks noGrp="1"/>
          </p:cNvSpPr>
          <p:nvPr>
            <p:ph type="title"/>
          </p:nvPr>
        </p:nvSpPr>
        <p:spPr>
          <a:xfrm>
            <a:off x="10281800" y="305000"/>
            <a:ext cx="3817200" cy="7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Instrucțiuni Speciale</a:t>
            </a:r>
            <a:endParaRPr lang="en-GB"/>
          </a:p>
        </p:txBody>
      </p:sp>
      <p:sp>
        <p:nvSpPr>
          <p:cNvPr id="907" name="Google Shape;907;p101"/>
          <p:cNvSpPr txBox="1">
            <a:spLocks noGrp="1"/>
          </p:cNvSpPr>
          <p:nvPr>
            <p:ph type="subTitle" idx="1"/>
          </p:nvPr>
        </p:nvSpPr>
        <p:spPr>
          <a:xfrm>
            <a:off x="510675" y="1532125"/>
            <a:ext cx="6914400" cy="29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 b="1"/>
              <a:t>Procesorul îndeplinește toate obiectivele propuse:</a:t>
            </a:r>
            <a:endParaRPr sz="17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Arhitectură funcțională von Neumann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Set complet de instrucțiuni RISC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ALU cu operații aritmetice, logice și de comparație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Algoritmi hardware avansați (Booth pentru MUL, SRT-4 pentru DIV)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Sistem de memorie și stivă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Unitate de control FSM robustă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Mining core hardware cu interfață integrată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-  Testare comprehensivă și validare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 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  <p:sp>
        <p:nvSpPr>
          <p:cNvPr id="908" name="Google Shape;908;p101"/>
          <p:cNvSpPr txBox="1">
            <a:spLocks noGrp="1"/>
          </p:cNvSpPr>
          <p:nvPr>
            <p:ph type="subTitle" idx="2"/>
          </p:nvPr>
        </p:nvSpPr>
        <p:spPr>
          <a:xfrm>
            <a:off x="-4028875" y="3333857"/>
            <a:ext cx="3424500" cy="3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9" name="Google Shape;909;p101"/>
          <p:cNvSpPr txBox="1">
            <a:spLocks noGrp="1"/>
          </p:cNvSpPr>
          <p:nvPr>
            <p:ph type="subTitle" idx="3"/>
          </p:nvPr>
        </p:nvSpPr>
        <p:spPr>
          <a:xfrm>
            <a:off x="-2236350" y="1112211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02"/>
          <p:cNvSpPr txBox="1">
            <a:spLocks noGrp="1"/>
          </p:cNvSpPr>
          <p:nvPr>
            <p:ph type="title"/>
          </p:nvPr>
        </p:nvSpPr>
        <p:spPr>
          <a:xfrm>
            <a:off x="720000" y="5551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Concluzii Finale</a:t>
            </a:r>
            <a:endParaRPr lang="en-GB"/>
          </a:p>
        </p:txBody>
      </p:sp>
      <p:sp>
        <p:nvSpPr>
          <p:cNvPr id="915" name="Google Shape;915;p102"/>
          <p:cNvSpPr txBox="1">
            <a:spLocks noGrp="1"/>
          </p:cNvSpPr>
          <p:nvPr>
            <p:ph type="subTitle" idx="2"/>
          </p:nvPr>
        </p:nvSpPr>
        <p:spPr>
          <a:xfrm>
            <a:off x="9427975" y="396575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/>
          </a:p>
        </p:txBody>
      </p:sp>
      <p:sp>
        <p:nvSpPr>
          <p:cNvPr id="916" name="Google Shape;916;p102"/>
          <p:cNvSpPr txBox="1"/>
          <p:nvPr/>
        </p:nvSpPr>
        <p:spPr>
          <a:xfrm>
            <a:off x="458100" y="897745"/>
            <a:ext cx="8227800" cy="23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Proiectul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demonstrează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cu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succes</a:t>
            </a:r>
            <a:r>
              <a:rPr lang="en-GB" sz="1600" b="1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:</a:t>
            </a:r>
            <a:endParaRPr sz="16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Fezabilitatea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unui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design modular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extensibil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procesoare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educaționale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Integrarea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acceleratoarelor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task-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uri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specializate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Importanța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algoritmilor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avansați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(Booth, SRT-4)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performanță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Valoarea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testării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comprehensive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dezvoltarea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hardware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5. </a:t>
            </a:r>
            <a:r>
              <a:rPr lang="en-GB" sz="1600" b="1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Potențialul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extinderi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optimizări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viitoare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Experiența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acumulată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acest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oferă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bază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solidă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pentru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înțelegerea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arhitecturilor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moderne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procesoare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și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 </a:t>
            </a:r>
            <a:r>
              <a:rPr lang="en-GB" sz="1600" dirty="0" err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tehnicilor</a:t>
            </a: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 design hardware.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600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600" b="1" dirty="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03"/>
          <p:cNvPicPr preferRelativeResize="0"/>
          <p:nvPr/>
        </p:nvPicPr>
        <p:blipFill rotWithShape="1">
          <a:blip r:embed="rId1"/>
          <a:srcRect t="129" b="129"/>
          <a:stretch>
            <a:fillRect/>
          </a:stretch>
        </p:blipFill>
        <p:spPr>
          <a:xfrm rot="10800000">
            <a:off x="371365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103"/>
          <p:cNvSpPr txBox="1">
            <a:spLocks noGrp="1"/>
          </p:cNvSpPr>
          <p:nvPr>
            <p:ph type="title"/>
          </p:nvPr>
        </p:nvSpPr>
        <p:spPr>
          <a:xfrm>
            <a:off x="10252000" y="3371675"/>
            <a:ext cx="3557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3" name="Google Shape;923;p103"/>
          <p:cNvSpPr txBox="1">
            <a:spLocks noGrp="1"/>
          </p:cNvSpPr>
          <p:nvPr>
            <p:ph type="title" idx="2"/>
          </p:nvPr>
        </p:nvSpPr>
        <p:spPr>
          <a:xfrm>
            <a:off x="2142300" y="1828575"/>
            <a:ext cx="48594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Bibliografie</a:t>
            </a:r>
            <a:endParaRPr lang="en-GB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04"/>
          <p:cNvSpPr txBox="1">
            <a:spLocks noGrp="1"/>
          </p:cNvSpPr>
          <p:nvPr>
            <p:ph type="title"/>
          </p:nvPr>
        </p:nvSpPr>
        <p:spPr>
          <a:xfrm>
            <a:off x="720000" y="586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Bibliografie</a:t>
            </a:r>
            <a:endParaRPr lang="en-GB"/>
          </a:p>
        </p:txBody>
      </p:sp>
      <p:sp>
        <p:nvSpPr>
          <p:cNvPr id="929" name="Google Shape;929;p104"/>
          <p:cNvSpPr txBox="1">
            <a:spLocks noGrp="1"/>
          </p:cNvSpPr>
          <p:nvPr>
            <p:ph type="subTitle" idx="2"/>
          </p:nvPr>
        </p:nvSpPr>
        <p:spPr>
          <a:xfrm>
            <a:off x="9427975" y="3965750"/>
            <a:ext cx="8227800" cy="15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endParaRPr sz="2000"/>
          </a:p>
        </p:txBody>
      </p:sp>
      <p:sp>
        <p:nvSpPr>
          <p:cNvPr id="930" name="Google Shape;930;p104"/>
          <p:cNvSpPr txBox="1"/>
          <p:nvPr/>
        </p:nvSpPr>
        <p:spPr>
          <a:xfrm>
            <a:off x="720000" y="1659050"/>
            <a:ext cx="8227800" cy="23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Hennessy &amp; Patterson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"Computer Architecture: A Quantitative Approach"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Harris &amp; Harris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"Digital Design and Computer Architecture"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Booth Algorithm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A.D. Booth, "A Signed Binary Multiplication Technique" (1951)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SRT Division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D. E. Atkins, "Higher-Radix Division Using Estimates of the Divisor and Partial Remainders" (1968)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5. </a:t>
            </a:r>
            <a:r>
              <a:rPr lang="en-GB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SHA-256 Specification</a:t>
            </a:r>
            <a:r>
              <a:rPr lang="en-GB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- FIPS PUB 180-4</a:t>
            </a:r>
            <a:endParaRPr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14512</Words>
  <Application>WPS Presentation</Application>
  <PresentationFormat>On-screen Show (16:9)</PresentationFormat>
  <Paragraphs>653</Paragraphs>
  <Slides>73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5" baseType="lpstr">
      <vt:lpstr>Arial</vt:lpstr>
      <vt:lpstr>SimSun</vt:lpstr>
      <vt:lpstr>Wingdings</vt:lpstr>
      <vt:lpstr>Arial</vt:lpstr>
      <vt:lpstr>Poppins</vt:lpstr>
      <vt:lpstr>Nunito Light</vt:lpstr>
      <vt:lpstr>PT Sans</vt:lpstr>
      <vt:lpstr>Anaheim</vt:lpstr>
      <vt:lpstr>Microsoft YaHei</vt:lpstr>
      <vt:lpstr>Arial Unicode MS</vt:lpstr>
      <vt:lpstr>ADELIA</vt:lpstr>
      <vt:lpstr>Industrial Preliminary Project by Slidesgo</vt:lpstr>
      <vt:lpstr>16-BIT CPU WITH SUPORT MINING</vt:lpstr>
      <vt:lpstr>08</vt:lpstr>
      <vt:lpstr>01</vt:lpstr>
      <vt:lpstr>Introducere</vt:lpstr>
      <vt:lpstr>Introducere</vt:lpstr>
      <vt:lpstr>Obiectivul proiectului</vt:lpstr>
      <vt:lpstr>02</vt:lpstr>
      <vt:lpstr>2.1. Diagrama bloc</vt:lpstr>
      <vt:lpstr>2.2. Principii de funcționare</vt:lpstr>
      <vt:lpstr>2.2. Principii de funcționare</vt:lpstr>
      <vt:lpstr>03</vt:lpstr>
      <vt:lpstr>3.1. Control Unit (CU)</vt:lpstr>
      <vt:lpstr>Stări principale</vt:lpstr>
      <vt:lpstr>Semnale de control generate</vt:lpstr>
      <vt:lpstr>3.2. Program Counter (PC)</vt:lpstr>
      <vt:lpstr>Multiplexare</vt:lpstr>
      <vt:lpstr>3.3. Address Register (AR)</vt:lpstr>
      <vt:lpstr>3.4. Data Register (DR)</vt:lpstr>
      <vt:lpstr>3.5. Instruction Register (IR)</vt:lpstr>
      <vt:lpstr>3.6. Registre generale (X, Y, A)</vt:lpstr>
      <vt:lpstr>3.6. Registre generale (X, Y, A)</vt:lpstr>
      <vt:lpstr>3.7. Stack Pointer (SP)</vt:lpstr>
      <vt:lpstr>3.8. Flags Register </vt:lpstr>
      <vt:lpstr>3.9. Memoria RAM</vt:lpstr>
      <vt:lpstr>3.10. ALU (Unitatea Aritmetico-Logică)</vt:lpstr>
      <vt:lpstr>3.11. Mining Core</vt:lpstr>
      <vt:lpstr>Funcționare</vt:lpstr>
      <vt:lpstr>Intrări/ Ieșiri</vt:lpstr>
      <vt:lpstr>04</vt:lpstr>
      <vt:lpstr>Instrucțiuni de Control</vt:lpstr>
      <vt:lpstr>Instrucțiuni de Transfer Date</vt:lpstr>
      <vt:lpstr>Instrucțiuni Aritmetice (cu registru)</vt:lpstr>
      <vt:lpstr>(cu valoare imediată)</vt:lpstr>
      <vt:lpstr>Instrucțiuni Logice (cu registru)</vt:lpstr>
      <vt:lpstr>(cu valoare imediată)</vt:lpstr>
      <vt:lpstr>(cu registru)</vt:lpstr>
      <vt:lpstr>(cu valoare imediată)</vt:lpstr>
      <vt:lpstr>Instrucțiuni pentru Registre</vt:lpstr>
      <vt:lpstr>Instrucțiuni Speciale</vt:lpstr>
      <vt:lpstr>între Registre</vt:lpstr>
      <vt:lpstr>Condiționate Avansate</vt:lpstr>
      <vt:lpstr>05</vt:lpstr>
      <vt:lpstr>5.1. Arhitectura ALU</vt:lpstr>
      <vt:lpstr>5.2. Componente auxiliare</vt:lpstr>
      <vt:lpstr>5.3. Calculul Flag-urilor</vt:lpstr>
      <vt:lpstr>5.4. OpCode Translator</vt:lpstr>
      <vt:lpstr>5.5. Reprezentarea în Complement de 2</vt:lpstr>
      <vt:lpstr>5.6. Operații de Adunare și Scădere</vt:lpstr>
      <vt:lpstr>5.7. Înmulțire cu Semn</vt:lpstr>
      <vt:lpstr> </vt:lpstr>
      <vt:lpstr>5.9. Flag Updates Summary</vt:lpstr>
      <vt:lpstr>06</vt:lpstr>
      <vt:lpstr>6.1. Descriere generală</vt:lpstr>
      <vt:lpstr>6.2. Rolul modulului</vt:lpstr>
      <vt:lpstr>6.3. Interfața modulului</vt:lpstr>
      <vt:lpstr>6.4. Diagrama Hardware</vt:lpstr>
      <vt:lpstr>6.5. Procesul de Hashing</vt:lpstr>
      <vt:lpstr>PowerPoint 演示文稿</vt:lpstr>
      <vt:lpstr>PowerPoint 演示文稿</vt:lpstr>
      <vt:lpstr>PowerPoint 演示文稿</vt:lpstr>
      <vt:lpstr>07</vt:lpstr>
      <vt:lpstr>7.1. Organizare Directoare</vt:lpstr>
      <vt:lpstr>7.2. Fișiere Verilog Principale</vt:lpstr>
      <vt:lpstr>7.3. Toolchain Files</vt:lpstr>
      <vt:lpstr>7.4. Build și Test Files</vt:lpstr>
      <vt:lpstr>7.5. Test Files</vt:lpstr>
      <vt:lpstr>7.6. Documentation Files</vt:lpstr>
      <vt:lpstr>08</vt:lpstr>
      <vt:lpstr>Concluzii</vt:lpstr>
      <vt:lpstr>Instrucțiuni Speciale</vt:lpstr>
      <vt:lpstr>Concluzii Finale</vt:lpstr>
      <vt:lpstr>Bibliografie</vt:lpstr>
      <vt:lpstr>Bibliografie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16-BIT CPU WITH SUPORT MINING</dc:title>
  <dc:creator/>
  <cp:lastModifiedBy>soros</cp:lastModifiedBy>
  <cp:revision>19</cp:revision>
  <dcterms:created xsi:type="dcterms:W3CDTF">2026-01-17T19:44:00Z</dcterms:created>
  <dcterms:modified xsi:type="dcterms:W3CDTF">2026-01-20T17:18:49Z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2127BA37D2D441ED929EFB452AF282BC_13</vt:lpwstr>
  </property>
  <property fmtid="{D5CDD505-2E9C-101B-9397-08002B2CF9AE}" pid="3" name="KSOProductBuildVer">
    <vt:lpwstr>1033-12.2.0.23155</vt:lpwstr>
  </property>
</Properties>
</file>